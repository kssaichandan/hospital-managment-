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6" r:id="rId17"/>
    <p:sldId id="262" r:id="rId8"/>
    <p:sldId id="265" r:id="rId16"/>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873fe79-eb67-8d6c-1d52-b433f9c1adc1}">
          <p14:sldIdLst>
            <p14:sldId id="256"/>
            <p14:sldId id="257"/>
          </p14:sldIdLst>
        </p14:section>
        <p14:section name="The System" id="{a54bd806-5240-b05f-88c3-a7c654323e0b}">
          <p14:sldIdLst>
            <p14:sldId id="258"/>
            <p14:sldId id="259"/>
          </p14:sldIdLst>
        </p14:section>
        <p14:section name="Testing" id="{37679590-d564-b5af-e3fb-5948fc2f5a0c}">
          <p14:sldIdLst>
            <p14:sldId id="260"/>
            <p14:sldId id="261"/>
            <p14:sldId id="262"/>
          </p14:sldIdLst>
        </p14:section>
        <p14:section name="Results" id="{3982fc1d-658e-be13-96f8-88fa5011c114}">
          <p14:sldIdLst>
            <p14:sldId id="263"/>
          </p14:sldIdLst>
        </p14:section>
        <p14:section name="Conclusion" id="{1fed0cc7-ad87-ee72-5a18-139830b31cb3}">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8.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9.xml"/><Relationship Id="rId17"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solidFill>
                  <a:schemeClr val="tx2"/>
                </a:solidFill>
              </a:rPr>
              <a:t>122 automated tests by testing level</a:t>
            </a:r>
          </a:p>
        </c:rich>
      </c:tx>
      <c:layout/>
      <c:overlay val="0"/>
    </c:title>
    <c:autoTitleDeleted val="0"/>
    <c:plotArea>
      <c:barChart>
        <c:barDir val="bar"/>
        <c:grouping val="clustered"/>
        <c:varyColors val="0"/>
        <c:ser>
          <c:idx val="0"/>
          <c:order val="0"/>
          <c:tx>
            <c:strRef>
              <c:f>Sheet1!$B$1</c:f>
              <c:strCache>
                <c:ptCount val="1"/>
                <c:pt idx="0">
                  <c:v>Tests</c:v>
                </c:pt>
              </c:strCache>
            </c:strRef>
          </c:tx>
          <c:spPr>
            <a:solidFill>
              <a:schemeClr val="accent6"/>
            </a:solidFill>
          </c:spPr>
          <c:dPt>
            <c:idx val="3"/>
            <c:spPr>
              <a:solidFill>
                <a:schemeClr val="accent1"/>
              </a:solidFill>
            </c:spPr>
          </c:dPt>
          <c:cat>
            <c:strRef>
              <c:f>Sheet1!$A$2:$A$5</c:f>
              <c:strCache>
                <c:ptCount val="4"/>
                <c:pt idx="0">
                  <c:v>Unit tests  (validators.py)</c:v>
                </c:pt>
                <c:pt idx="1">
                  <c:v>Integration  (database.py)</c:v>
                </c:pt>
                <c:pt idx="2">
                  <c:v>Functional  (app pages, no browser)</c:v>
                </c:pt>
                <c:pt idx="3">
                  <c:v>Selenium UI tests  (Chrome)</c:v>
                </c:pt>
              </c:strCache>
            </c:strRef>
          </c:cat>
          <c:val>
            <c:numRef>
              <c:f>Sheet1!$B$2:$B$5</c:f>
              <c:numCache>
                <c:formatCode>General</c:formatCode>
                <c:ptCount val="4"/>
                <c:pt idx="0">
                  <c:v>39</c:v>
                </c:pt>
                <c:pt idx="1">
                  <c:v>28</c:v>
                </c:pt>
                <c:pt idx="2">
                  <c:v>18</c:v>
                </c:pt>
                <c:pt idx="3">
                  <c:v>37</c:v>
                </c:pt>
              </c:numCache>
            </c:numRef>
          </c:val>
        </c:ser>
        <c:dLbls>
          <c:txPr>
            <a:bodyPr/>
            <a:lstStyle/>
            <a:p>
              <a:pPr>
                <a:defRPr sz="1600" b="1">
                  <a:solidFill>
                    <a:schemeClr val="tx2"/>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noFill/>
          </a:ln>
        </c:spPr>
        <c:txPr>
          <a:bodyPr/>
          <a:lstStyle/>
          <a:p>
            <a:pPr>
              <a:defRPr sz="1300">
                <a:solidFill>
                  <a:schemeClr val="tx1"/>
                </a:solidFill>
              </a:defRPr>
            </a:pPr>
          </a:p>
        </c:txPr>
        <c:crossAx val="-2113994440"/>
        <c:crosses val="autoZero"/>
        <c:auto val="1"/>
        <c:lblAlgn val="ctr"/>
        <c:lblOffset val="100"/>
        <c:noMultiLvlLbl val="0"/>
      </c:catAx>
      <c:valAx>
        <c:axId val="-2113994440"/>
        <c:scaling>
          <c:max val="45.0"/>
        </c:scaling>
        <c:delete/>
        <c:axPos val="b"/>
        <c:majorTickMark val="out"/>
        <c:minorTickMark val="none"/>
        <c:tickLblPos val="nextTo"/>
        <c:crossAx val="-2068027336"/>
        <c:crosses val="autoZero"/>
      </c:valAx>
    </c:plotArea>
    <c:dispBlanksAs val="gap"/>
  </c:chart>
  <c:txPr>
    <a:bodyPr/>
    <a:lstStyle/>
    <a:p>
      <a:pPr>
        <a:defRPr sz="13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Arun and Sai Chandan. Our project is a Hospital Management System, and the main focus is SOFTWARE TESTING: we built a working web application and then tested it automatically using Selenium WebDriver. In the next slides we will show the system, its modules, the Selenium tool, our test cases, and the test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hospitals records are still kept manually, which leads to duplicate data, mistakes and delays. Our solution is a single web application for patients, doctors, appointments, medical records and billing. Because this is a Software Testing project, the most important part is testing: we use Selenium WebDriver to automatically open the browser, type data, click buttons and check that the system gives the expected result. These are our objectives, taken from our project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system has the six modules described in the document. Login protects every page. Patient Management supports add, view, update, delete and search by patient ID. Doctor Management supports add, update, search and availability. Appointments lets staff book and cancel, and the system blocks booking the same doctor twice at the same time. Medical Records stores diagnosis, treatment and prescription with history. Billing adds consultation and treatment charges and calculates the total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structure of our project. The user (or Selenium) works in the Chrome browser. The browser talks to our Flask web app in app.py. Before anything is saved, validators.py checks the input, for example the phone must be 10 digits and age between 0 and 120. database.py saves the data into an SQLite database. At the top, Selenium WebDriver controls Chrome automatically, just like a real user. We used Python, Flask, SQLite, Selenium 4 and PyTest. pytest-html produces the test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Selenium is an open-source tool for automating web browsers. It has three main parts. Selenium WebDriver, which we used, controls the browser from code. Selenium IDE records and replays actions, and Selenium Grid runs tests on many browsers at once. Every one of our tests follows these 7 steps: launch the browser, open the HMS, locate elements by their ID, perform actions like typing and clicking, submit, verify the result with an assert, and record the result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nine test cases from our project document, TC01 to TC09. Each covers a valid or an invalid input. For example TC02 enters a wrong password and checks that the error message appears; TC04 submits an empty form and checks that a validation message appears. All nine passed. We also wrote four extra tests for the other modules: doctor availability, double booking prevention, medical records, and checking that the bill total is calculated correctly. On the next slide are 24 more test cases that try to break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real test case from our project, TC02, a negative test: a wrong password must be refused. The login helper does four things, numbered on the slide. One: driver.get opens our Hospital Management System. Two: find_element finds the username and password boxes by their id, and send_keys types into them. Three: click_and_wait clicks Login and waits until the next page has loaded. Four: the assert lines are the actual test. If the red message 'Invalid username or password' is shown and we are not on the dashboard, the test passes; otherwise it fails. On the right you see the screen Selenium saw at the end, and PyTest reporting PASSED. All 37 of our Selenium tests are written in exactly this way.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our results. We have 122 automated tests at four testing levels. 39 unit tests check each input rule on its own, 28 integration tests check the rules together with the database, 18 functional tests open every page through HTTP without a browser, and 37 Selenium tests test the full system in a real Chrome browser. All 122 pass. Our testing also found 9 real defects; for example, typing 'nan' as a doctor's fee crashed the server. We fixed all of them and added a test for each one. To prove the tests really catch bugs we used mutation testing: we planted 6 bugs on purpose and all 6 were caught. One command, python report.py, runs everything and opens the HTML report.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conclude. We built a working Hospital Management System with six modules. We tested it with 122 automated tests: 37 Selenium tests in a real browser, covering positive, negative, boundary and security cases, and 85 PyTest tests at the unit, integration and functional level. All of them pass. Our testing found 9 real defects, which we fixed, each with a regression test so it cannot come back. And we learned that automated testing makes regression testing fast and repeatable, and that correct waits are essential to avoid flaky tests. Thank you. Any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live demo. In the first terminal we start our Hospital Management System with python app.py. In the second terminal we run python run.py, and Selenium tests the app in front of you. One: Selenium opens Chrome and fills in the forms by itself; the orange box shows which element it found by its id, and the caption at the bottom says what it is doing. Two: after every action Selenium reads the page and checks the expected result; a green caption means the check passed. Three: at the end Chrome shows a results page with every test case: 37 passed and 0 failed.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Testing only valid input is not enough: real users make mistakes and attackers try to break in. So besides our 10 positive test cases we wrote 17 negative, 7 boundary or edge, and 3 security test cases, 37 in total. Negative tests give wrong or missing input, like a 5-digit phone number or a date in the past. Boundary value analysis tests exactly at the limits and just past them: age 0 and 120 must be accepted, 121 must be rejected. Security tests try a SQL injection attack in the login, type a script into a form, and open pages without logging in. For every negative test we check two things: the error message is shown, and nothing was saved. To prove the tests really catch bugs we used mutation testing: we put 6 bugs into a copy of the app on purpose, and every one made its test fail.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400" b="1" dirty="0">
                <a:solidFill>
                  <a:schemeClr val="tx2"/>
                </a:solidFill>
              </a:defRPr>
            </a:lvl1pPr>
          </a:lstStyle>
          <a:p>
            <a:pPr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Hospital Management System  |  Software Testing using Selenium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slideLayout" Target="../slideLayouts/slideLayout2.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7" Type="http://schemas.openxmlformats.org/officeDocument/2006/relationships/slideLayout" Target="../slideLayouts/slideLayout2.xml"/><Relationship Id="rId8" Type="http://schemas.openxmlformats.org/officeDocument/2006/relationships/notesSlide" Target="../notesSlides/notesSlide4.xml"/><Relationship Id="rId9"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1.png"/><Relationship Id="rId3" Type="http://schemas.openxmlformats.org/officeDocument/2006/relationships/notesSlide" Target="../notesSlides/notesSlide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10.x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chart" Target="../charts/chart1.xml"/><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 Id="rId6"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 Id="rId9" Type="http://schemas.openxmlformats.org/officeDocument/2006/relationships/image" Target="../media/image-1-2.png"/><Relationship Id="rId10" Type="http://schemas.openxmlformats.org/officeDocument/2006/relationships/image" Target="../media/image8.png"/><Relationship Id="rId11" Type="http://schemas.openxmlformats.org/officeDocument/2006/relationships/image" Target="../media/image-6-1.png"/><Relationship Id="rId12"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VIT logo" descr="logo-000.png">    </p:cNvPr>
          <p:cNvPicPr>
            <a:picLocks noChangeAspect="1"/>
          </p:cNvPicPr>
          <p:nvPr/>
        </p:nvPicPr>
        <p:blipFill>
          <a:blip r:embed="rId1"/>
          <a:stretch>
            <a:fillRect/>
          </a:stretch>
        </p:blipFill>
        <p:spPr>
          <a:xfrm>
            <a:off x="640080" y="502920"/>
            <a:ext cx="3566160" cy="2002536"/>
          </a:xfrm>
          <a:prstGeom prst="rect">
            <a:avLst/>
          </a:prstGeom>
        </p:spPr>
      </p:pic>
      <p:sp>
        <p:nvSpPr>
          <p:cNvPr id="3" name="Title"/>
          <p:cNvSpPr txBox="1"/>
          <p:nvPr/>
        </p:nvSpPr>
        <p:spPr>
          <a:xfrm>
            <a:off x="640080" y="2697480"/>
            <a:ext cx="6858000" cy="1325880"/>
          </a:xfrm>
          <a:prstGeom prst="rect">
            <a:avLst/>
          </a:prstGeom>
          <a:noFill/>
          <a:ln/>
        </p:spPr>
        <p:txBody>
          <a:bodyPr wrap="square" lIns="0" tIns="0" rIns="0" bIns="0" rtlCol="0" anchor="b"/>
          <a:lstStyle/>
          <a:p>
            <a:pPr indent="0" marL="0">
              <a:buNone/>
            </a:pPr>
            <a:r>
              <a:rPr lang="en-US" sz="4000" b="1" dirty="0">
                <a:solidFill>
                  <a:schemeClr val="tx2"/>
                </a:solidFill>
                <a:latin typeface="Cambria" pitchFamily="34" charset="0"/>
                <a:ea typeface="Cambria" pitchFamily="34" charset="-122"/>
                <a:cs typeface="Cambria" pitchFamily="34" charset="-120"/>
              </a:rPr>
              <a:t>Hospital Management System</a:t>
            </a:r>
            <a:endParaRPr lang="en-US" sz="4000" dirty="0"/>
          </a:p>
        </p:txBody>
      </p:sp>
      <p:sp>
        <p:nvSpPr>
          <p:cNvPr id="4" name="Subtitle"/>
          <p:cNvSpPr txBox="1"/>
          <p:nvPr/>
        </p:nvSpPr>
        <p:spPr>
          <a:xfrm>
            <a:off x="640080" y="4160520"/>
            <a:ext cx="6858000" cy="548640"/>
          </a:xfrm>
          <a:prstGeom prst="rect">
            <a:avLst/>
          </a:prstGeom>
          <a:noFill/>
          <a:ln/>
        </p:spPr>
        <p:txBody>
          <a:bodyPr wrap="square" lIns="0" tIns="0" rIns="0" bIns="0" rtlCol="0" anchor="ctr"/>
          <a:lstStyle/>
          <a:p>
            <a:pPr indent="0" marL="0">
              <a:buNone/>
            </a:pPr>
            <a:r>
              <a:rPr lang="en-US" sz="2400" dirty="0">
                <a:solidFill>
                  <a:schemeClr val="accent1"/>
                </a:solidFill>
              </a:rPr>
              <a:t>Software Testing using Selenium WebDriver</a:t>
            </a:r>
            <a:endParaRPr lang="en-US" sz="2400" dirty="0"/>
          </a:p>
        </p:txBody>
      </p:sp>
      <p:sp>
        <p:nvSpPr>
          <p:cNvPr id="5" name="Department and course"/>
          <p:cNvSpPr txBox="1"/>
          <p:nvPr/>
        </p:nvSpPr>
        <p:spPr>
          <a:xfrm>
            <a:off x="640080" y="4983480"/>
            <a:ext cx="6858000" cy="731520"/>
          </a:xfrm>
          <a:prstGeom prst="rect">
            <a:avLst/>
          </a:prstGeom>
          <a:noFill/>
          <a:ln/>
        </p:spPr>
        <p:txBody>
          <a:bodyPr wrap="square" lIns="0" tIns="0" rIns="0" bIns="0" rtlCol="0" anchor="ctr"/>
          <a:lstStyle/>
          <a:p>
            <a:pPr indent="0" marL="0">
              <a:spcAft>
                <a:spcPts val="400"/>
              </a:spcAft>
              <a:buNone/>
            </a:pPr>
            <a:r>
              <a:rPr lang="en-US" sz="1600" b="1" dirty="0">
                <a:solidFill>
                  <a:schemeClr val="tx1"/>
                </a:solidFill>
              </a:rPr>
              <a:t>Department: </a:t>
            </a:r>
            <a:pPr indent="0" marL="0">
              <a:spcAft>
                <a:spcPts val="400"/>
              </a:spcAft>
              <a:buNone/>
            </a:pPr>
            <a:r>
              <a:rPr lang="en-US" sz="1600" dirty="0">
                <a:solidFill>
                  <a:schemeClr val="tx1"/>
                </a:solidFill>
              </a:rPr>
              <a:t>M.Tech Software Engineering, SCORE</a:t>
            </a:r>
            <a:endParaRPr lang="en-US" sz="1600" dirty="0"/>
          </a:p>
          <a:p>
            <a:pPr indent="0" marL="0">
              <a:spcAft>
                <a:spcPts val="400"/>
              </a:spcAft>
              <a:buNone/>
            </a:pPr>
            <a:r>
              <a:rPr lang="en-US" sz="1600" b="1" dirty="0">
                <a:solidFill>
                  <a:schemeClr val="tx1"/>
                </a:solidFill>
              </a:rPr>
              <a:t>Course: </a:t>
            </a:r>
            <a:pPr indent="0" marL="0">
              <a:spcAft>
                <a:spcPts val="400"/>
              </a:spcAft>
              <a:buNone/>
            </a:pPr>
            <a:r>
              <a:rPr lang="en-US" sz="1600" dirty="0">
                <a:solidFill>
                  <a:schemeClr val="tx1"/>
                </a:solidFill>
              </a:rPr>
              <a:t>Software Testing</a:t>
            </a:r>
            <a:endParaRPr lang="en-US" sz="1600" dirty="0"/>
          </a:p>
        </p:txBody>
      </p:sp>
      <p:sp>
        <p:nvSpPr>
          <p:cNvPr id="6" name="Team panel"/>
          <p:cNvSpPr/>
          <p:nvPr/>
        </p:nvSpPr>
        <p:spPr>
          <a:xfrm>
            <a:off x="7863840" y="0"/>
            <a:ext cx="4325112" cy="6858000"/>
          </a:xfrm>
          <a:prstGeom prst="rect">
            <a:avLst/>
          </a:prstGeom>
          <a:solidFill>
            <a:schemeClr val="tx2"/>
          </a:solidFill>
          <a:ln/>
        </p:spPr>
      </p:sp>
      <p:sp>
        <p:nvSpPr>
          <p:cNvPr id="7" name="Hospital icon circle"/>
          <p:cNvSpPr/>
          <p:nvPr/>
        </p:nvSpPr>
        <p:spPr>
          <a:xfrm>
            <a:off x="9326880" y="914400"/>
            <a:ext cx="1371600" cy="1371600"/>
          </a:xfrm>
          <a:prstGeom prst="ellipse">
            <a:avLst/>
          </a:prstGeom>
          <a:solidFill>
            <a:schemeClr val="accent1"/>
          </a:solidFill>
          <a:ln/>
        </p:spPr>
      </p:sp>
      <p:pic>
        <p:nvPicPr>
          <p:cNvPr id="8" name="Hospital icon" descr="preencoded.png">    </p:cNvPr>
          <p:cNvPicPr>
            <a:picLocks noChangeAspect="1"/>
          </p:cNvPicPr>
          <p:nvPr/>
        </p:nvPicPr>
        <p:blipFill>
          <a:blip r:embed="rId2"/>
          <a:stretch>
            <a:fillRect/>
          </a:stretch>
        </p:blipFill>
        <p:spPr>
          <a:xfrm>
            <a:off x="9669780" y="1257300"/>
            <a:ext cx="685800" cy="685800"/>
          </a:xfrm>
          <a:prstGeom prst="rect">
            <a:avLst/>
          </a:prstGeom>
        </p:spPr>
      </p:pic>
      <p:sp>
        <p:nvSpPr>
          <p:cNvPr id="9" name="Presented by"/>
          <p:cNvSpPr txBox="1"/>
          <p:nvPr/>
        </p:nvSpPr>
        <p:spPr>
          <a:xfrm>
            <a:off x="8229600" y="2743200"/>
            <a:ext cx="3566160" cy="457200"/>
          </a:xfrm>
          <a:prstGeom prst="rect">
            <a:avLst/>
          </a:prstGeom>
          <a:noFill/>
          <a:ln/>
        </p:spPr>
        <p:txBody>
          <a:bodyPr wrap="square" lIns="0" tIns="0" rIns="0" bIns="0" rtlCol="0" anchor="ctr"/>
          <a:lstStyle/>
          <a:p>
            <a:pPr algn="ctr" indent="0" marL="0">
              <a:buNone/>
            </a:pPr>
            <a:r>
              <a:rPr lang="en-US" sz="1600" dirty="0">
                <a:solidFill>
                  <a:schemeClr val="accent2"/>
                </a:solidFill>
              </a:rPr>
              <a:t>Presented by</a:t>
            </a:r>
            <a:endParaRPr lang="en-US" sz="1600" dirty="0"/>
          </a:p>
        </p:txBody>
      </p:sp>
      <p:sp>
        <p:nvSpPr>
          <p:cNvPr id="10" name="Member card 1"/>
          <p:cNvSpPr/>
          <p:nvPr/>
        </p:nvSpPr>
        <p:spPr>
          <a:xfrm>
            <a:off x="8321040" y="3383280"/>
            <a:ext cx="3383280" cy="914400"/>
          </a:xfrm>
          <a:prstGeom prst="roundRect">
            <a:avLst>
              <a:gd name="adj" fmla="val 10000"/>
            </a:avLst>
          </a:prstGeom>
          <a:solidFill>
            <a:schemeClr val="accent1"/>
          </a:solidFill>
          <a:ln/>
        </p:spPr>
      </p:sp>
      <p:sp>
        <p:nvSpPr>
          <p:cNvPr id="11" name="Member 1"/>
          <p:cNvSpPr txBox="1"/>
          <p:nvPr/>
        </p:nvSpPr>
        <p:spPr>
          <a:xfrm>
            <a:off x="8321040" y="3383280"/>
            <a:ext cx="3383280" cy="914400"/>
          </a:xfrm>
          <a:prstGeom prst="rect">
            <a:avLst/>
          </a:prstGeom>
          <a:noFill/>
          <a:ln/>
        </p:spPr>
        <p:txBody>
          <a:bodyPr wrap="square" lIns="0" tIns="0" rIns="0" bIns="0" rtlCol="0" anchor="ctr"/>
          <a:lstStyle/>
          <a:p>
            <a:pPr algn="ctr" indent="0" marL="0">
              <a:buNone/>
            </a:pPr>
            <a:r>
              <a:rPr lang="en-US" sz="1800" b="1" dirty="0">
                <a:solidFill>
                  <a:schemeClr val="bg1"/>
                </a:solidFill>
              </a:rPr>
              <a:t>ARUN C</a:t>
            </a:r>
            <a:endParaRPr lang="en-US" sz="1800" dirty="0"/>
          </a:p>
          <a:p>
            <a:pPr algn="ctr" indent="0" marL="0">
              <a:buNone/>
            </a:pPr>
            <a:r>
              <a:rPr lang="en-US" sz="1400" dirty="0">
                <a:solidFill>
                  <a:schemeClr val="bg1"/>
                </a:solidFill>
              </a:rPr>
              <a:t>23MIS0445</a:t>
            </a:r>
            <a:endParaRPr lang="en-US" sz="1800" dirty="0"/>
          </a:p>
        </p:txBody>
      </p:sp>
      <p:sp>
        <p:nvSpPr>
          <p:cNvPr id="12" name="Member card 2"/>
          <p:cNvSpPr/>
          <p:nvPr/>
        </p:nvSpPr>
        <p:spPr>
          <a:xfrm>
            <a:off x="8321040" y="4526280"/>
            <a:ext cx="3383280" cy="914400"/>
          </a:xfrm>
          <a:prstGeom prst="roundRect">
            <a:avLst>
              <a:gd name="adj" fmla="val 10000"/>
            </a:avLst>
          </a:prstGeom>
          <a:solidFill>
            <a:schemeClr val="accent1"/>
          </a:solidFill>
          <a:ln/>
        </p:spPr>
      </p:sp>
      <p:sp>
        <p:nvSpPr>
          <p:cNvPr id="13" name="Member 2"/>
          <p:cNvSpPr txBox="1"/>
          <p:nvPr/>
        </p:nvSpPr>
        <p:spPr>
          <a:xfrm>
            <a:off x="8321040" y="4526280"/>
            <a:ext cx="3383280" cy="914400"/>
          </a:xfrm>
          <a:prstGeom prst="rect">
            <a:avLst/>
          </a:prstGeom>
          <a:noFill/>
          <a:ln/>
        </p:spPr>
        <p:txBody>
          <a:bodyPr wrap="square" lIns="0" tIns="0" rIns="0" bIns="0" rtlCol="0" anchor="ctr"/>
          <a:lstStyle/>
          <a:p>
            <a:pPr algn="ctr" indent="0" marL="0">
              <a:buNone/>
            </a:pPr>
            <a:r>
              <a:rPr lang="en-US" sz="1800" b="1" dirty="0">
                <a:solidFill>
                  <a:schemeClr val="bg1"/>
                </a:solidFill>
              </a:rPr>
              <a:t>SAI CHANDAN K S</a:t>
            </a:r>
            <a:endParaRPr lang="en-US" sz="1800" dirty="0"/>
          </a:p>
          <a:p>
            <a:pPr algn="ctr" indent="0" marL="0">
              <a:buNone/>
            </a:pPr>
            <a:r>
              <a:rPr lang="en-US" sz="1400" dirty="0">
                <a:solidFill>
                  <a:schemeClr val="bg1"/>
                </a:solidFill>
              </a:rPr>
              <a:t>23MIS0115</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Abstract and Objectives</a:t>
            </a:r>
            <a:endParaRPr lang="en-US" sz="3400" dirty="0"/>
          </a:p>
        </p:txBody>
      </p:sp>
      <p:sp>
        <p:nvSpPr>
          <p:cNvPr id="3" name="The Problem card"/>
          <p:cNvSpPr/>
          <p:nvPr/>
        </p:nvSpPr>
        <p:spPr>
          <a:xfrm>
            <a:off x="548640" y="1371600"/>
            <a:ext cx="5486400" cy="1371600"/>
          </a:xfrm>
          <a:prstGeom prst="roundRect">
            <a:avLst>
              <a:gd name="adj" fmla="val 5333"/>
            </a:avLst>
          </a:prstGeom>
          <a:solidFill>
            <a:schemeClr val="bg2"/>
          </a:solidFill>
          <a:ln/>
        </p:spPr>
      </p:sp>
      <p:sp>
        <p:nvSpPr>
          <p:cNvPr id="4" name="The Problem icon circle"/>
          <p:cNvSpPr/>
          <p:nvPr/>
        </p:nvSpPr>
        <p:spPr>
          <a:xfrm>
            <a:off x="777240" y="1691640"/>
            <a:ext cx="731520" cy="731520"/>
          </a:xfrm>
          <a:prstGeom prst="ellipse">
            <a:avLst/>
          </a:prstGeom>
          <a:solidFill>
            <a:schemeClr val="accent3"/>
          </a:solidFill>
          <a:ln/>
        </p:spPr>
      </p:sp>
      <p:pic>
        <p:nvPicPr>
          <p:cNvPr id="5" name="The Problem icon" descr="preencoded.png">    </p:cNvPr>
          <p:cNvPicPr>
            <a:picLocks noChangeAspect="1"/>
          </p:cNvPicPr>
          <p:nvPr/>
        </p:nvPicPr>
        <p:blipFill>
          <a:blip r:embed="rId1"/>
          <a:stretch>
            <a:fillRect/>
          </a:stretch>
        </p:blipFill>
        <p:spPr>
          <a:xfrm>
            <a:off x="960120" y="1874520"/>
            <a:ext cx="365760" cy="365760"/>
          </a:xfrm>
          <a:prstGeom prst="rect">
            <a:avLst/>
          </a:prstGeom>
        </p:spPr>
      </p:pic>
      <p:sp>
        <p:nvSpPr>
          <p:cNvPr id="6" name="The Problem text"/>
          <p:cNvSpPr txBox="1"/>
          <p:nvPr/>
        </p:nvSpPr>
        <p:spPr>
          <a:xfrm>
            <a:off x="1691640" y="1463040"/>
            <a:ext cx="4206240" cy="1188720"/>
          </a:xfrm>
          <a:prstGeom prst="rect">
            <a:avLst/>
          </a:prstGeom>
          <a:noFill/>
          <a:ln/>
        </p:spPr>
        <p:txBody>
          <a:bodyPr wrap="square" lIns="0" tIns="0" rIns="0" bIns="0" rtlCol="0" anchor="ctr"/>
          <a:lstStyle/>
          <a:p>
            <a:pPr indent="0" marL="0">
              <a:buNone/>
            </a:pPr>
            <a:r>
              <a:rPr lang="en-US" sz="1800" b="1" dirty="0">
                <a:solidFill>
                  <a:schemeClr val="tx2"/>
                </a:solidFill>
              </a:rPr>
              <a:t>The Problem</a:t>
            </a:r>
            <a:endParaRPr lang="en-US" sz="1800" dirty="0"/>
          </a:p>
          <a:p>
            <a:pPr indent="0" marL="0">
              <a:buNone/>
            </a:pPr>
            <a:r>
              <a:rPr lang="en-US" sz="1400" dirty="0">
                <a:solidFill>
                  <a:schemeClr val="tx1"/>
                </a:solidFill>
              </a:rPr>
              <a:t>Manual hospital records cause data duplication, errors, slow information retrieval and delays in service.</a:t>
            </a:r>
            <a:endParaRPr lang="en-US" sz="1800" dirty="0"/>
          </a:p>
        </p:txBody>
      </p:sp>
      <p:sp>
        <p:nvSpPr>
          <p:cNvPr id="7" name="Our Solution card"/>
          <p:cNvSpPr/>
          <p:nvPr/>
        </p:nvSpPr>
        <p:spPr>
          <a:xfrm>
            <a:off x="548640" y="2971800"/>
            <a:ext cx="5486400" cy="1371600"/>
          </a:xfrm>
          <a:prstGeom prst="roundRect">
            <a:avLst>
              <a:gd name="adj" fmla="val 5333"/>
            </a:avLst>
          </a:prstGeom>
          <a:solidFill>
            <a:schemeClr val="bg2"/>
          </a:solidFill>
          <a:ln/>
        </p:spPr>
      </p:sp>
      <p:sp>
        <p:nvSpPr>
          <p:cNvPr id="8" name="Our Solution icon circle"/>
          <p:cNvSpPr/>
          <p:nvPr/>
        </p:nvSpPr>
        <p:spPr>
          <a:xfrm>
            <a:off x="777240" y="3291840"/>
            <a:ext cx="731520" cy="731520"/>
          </a:xfrm>
          <a:prstGeom prst="ellipse">
            <a:avLst/>
          </a:prstGeom>
          <a:solidFill>
            <a:schemeClr val="accent1"/>
          </a:solidFill>
          <a:ln/>
        </p:spPr>
      </p:sp>
      <p:pic>
        <p:nvPicPr>
          <p:cNvPr id="9" name="Our Solution icon" descr="preencoded.png">    </p:cNvPr>
          <p:cNvPicPr>
            <a:picLocks noChangeAspect="1"/>
          </p:cNvPicPr>
          <p:nvPr/>
        </p:nvPicPr>
        <p:blipFill>
          <a:blip r:embed="rId2"/>
          <a:stretch>
            <a:fillRect/>
          </a:stretch>
        </p:blipFill>
        <p:spPr>
          <a:xfrm>
            <a:off x="960120" y="3474720"/>
            <a:ext cx="365760" cy="365760"/>
          </a:xfrm>
          <a:prstGeom prst="rect">
            <a:avLst/>
          </a:prstGeom>
        </p:spPr>
      </p:pic>
      <p:sp>
        <p:nvSpPr>
          <p:cNvPr id="10" name="Our Solution text"/>
          <p:cNvSpPr txBox="1"/>
          <p:nvPr/>
        </p:nvSpPr>
        <p:spPr>
          <a:xfrm>
            <a:off x="1691640" y="3063240"/>
            <a:ext cx="4206240" cy="1188720"/>
          </a:xfrm>
          <a:prstGeom prst="rect">
            <a:avLst/>
          </a:prstGeom>
          <a:noFill/>
          <a:ln/>
        </p:spPr>
        <p:txBody>
          <a:bodyPr wrap="square" lIns="0" tIns="0" rIns="0" bIns="0" rtlCol="0" anchor="ctr"/>
          <a:lstStyle/>
          <a:p>
            <a:pPr indent="0" marL="0">
              <a:buNone/>
            </a:pPr>
            <a:r>
              <a:rPr lang="en-US" sz="1800" b="1" dirty="0">
                <a:solidFill>
                  <a:schemeClr val="tx2"/>
                </a:solidFill>
              </a:rPr>
              <a:t>Our Solution</a:t>
            </a:r>
            <a:endParaRPr lang="en-US" sz="1800" dirty="0"/>
          </a:p>
          <a:p>
            <a:pPr indent="0" marL="0">
              <a:buNone/>
            </a:pPr>
            <a:r>
              <a:rPr lang="en-US" sz="1400" dirty="0">
                <a:solidFill>
                  <a:schemeClr val="tx1"/>
                </a:solidFill>
              </a:rPr>
              <a:t>A web-based HMS that manages patients, doctors, appointments, medical records and billing in one place.</a:t>
            </a:r>
            <a:endParaRPr lang="en-US" sz="1800" dirty="0"/>
          </a:p>
        </p:txBody>
      </p:sp>
      <p:sp>
        <p:nvSpPr>
          <p:cNvPr id="11" name="Testing Focus card"/>
          <p:cNvSpPr/>
          <p:nvPr/>
        </p:nvSpPr>
        <p:spPr>
          <a:xfrm>
            <a:off x="548640" y="4572000"/>
            <a:ext cx="5486400" cy="1371600"/>
          </a:xfrm>
          <a:prstGeom prst="roundRect">
            <a:avLst>
              <a:gd name="adj" fmla="val 5333"/>
            </a:avLst>
          </a:prstGeom>
          <a:solidFill>
            <a:schemeClr val="bg2"/>
          </a:solidFill>
          <a:ln/>
        </p:spPr>
      </p:sp>
      <p:sp>
        <p:nvSpPr>
          <p:cNvPr id="12" name="Testing Focus icon circle"/>
          <p:cNvSpPr/>
          <p:nvPr/>
        </p:nvSpPr>
        <p:spPr>
          <a:xfrm>
            <a:off x="777240" y="4892040"/>
            <a:ext cx="731520" cy="731520"/>
          </a:xfrm>
          <a:prstGeom prst="ellipse">
            <a:avLst/>
          </a:prstGeom>
          <a:solidFill>
            <a:schemeClr val="accent4"/>
          </a:solidFill>
          <a:ln/>
        </p:spPr>
      </p:sp>
      <p:pic>
        <p:nvPicPr>
          <p:cNvPr id="13" name="Testing Focus icon" descr="preencoded.png">    </p:cNvPr>
          <p:cNvPicPr>
            <a:picLocks noChangeAspect="1"/>
          </p:cNvPicPr>
          <p:nvPr/>
        </p:nvPicPr>
        <p:blipFill>
          <a:blip r:embed="rId3"/>
          <a:stretch>
            <a:fillRect/>
          </a:stretch>
        </p:blipFill>
        <p:spPr>
          <a:xfrm>
            <a:off x="960120" y="5074920"/>
            <a:ext cx="365760" cy="365760"/>
          </a:xfrm>
          <a:prstGeom prst="rect">
            <a:avLst/>
          </a:prstGeom>
        </p:spPr>
      </p:pic>
      <p:sp>
        <p:nvSpPr>
          <p:cNvPr id="14" name="Testing Focus text"/>
          <p:cNvSpPr txBox="1"/>
          <p:nvPr/>
        </p:nvSpPr>
        <p:spPr>
          <a:xfrm>
            <a:off x="1691640" y="4663440"/>
            <a:ext cx="4206240" cy="1188720"/>
          </a:xfrm>
          <a:prstGeom prst="rect">
            <a:avLst/>
          </a:prstGeom>
          <a:noFill/>
          <a:ln/>
        </p:spPr>
        <p:txBody>
          <a:bodyPr wrap="square" lIns="0" tIns="0" rIns="0" bIns="0" rtlCol="0" anchor="ctr"/>
          <a:lstStyle/>
          <a:p>
            <a:pPr indent="0" marL="0">
              <a:buNone/>
            </a:pPr>
            <a:r>
              <a:rPr lang="en-US" sz="1800" b="1" dirty="0">
                <a:solidFill>
                  <a:schemeClr val="tx2"/>
                </a:solidFill>
              </a:rPr>
              <a:t>Testing Focus</a:t>
            </a:r>
            <a:endParaRPr lang="en-US" sz="1800" dirty="0"/>
          </a:p>
          <a:p>
            <a:pPr indent="0" marL="0">
              <a:buNone/>
            </a:pPr>
            <a:r>
              <a:rPr lang="en-US" sz="1400" dirty="0">
                <a:solidFill>
                  <a:schemeClr val="tx1"/>
                </a:solidFill>
              </a:rPr>
              <a:t>Selenium WebDriver automates real user actions in Chrome and verifies results for valid and invalid inputs.</a:t>
            </a:r>
            <a:endParaRPr lang="en-US" sz="1800" dirty="0"/>
          </a:p>
        </p:txBody>
      </p:sp>
      <p:sp>
        <p:nvSpPr>
          <p:cNvPr id="15" name="Objectives heading"/>
          <p:cNvSpPr txBox="1"/>
          <p:nvPr/>
        </p:nvSpPr>
        <p:spPr>
          <a:xfrm>
            <a:off x="6583680" y="1371600"/>
            <a:ext cx="502920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Objectives</a:t>
            </a:r>
            <a:endParaRPr lang="en-US" sz="2200" dirty="0"/>
          </a:p>
        </p:txBody>
      </p:sp>
      <p:pic>
        <p:nvPicPr>
          <p:cNvPr id="16" name="Objective tick 1" descr="preencoded.png">    </p:cNvPr>
          <p:cNvPicPr>
            <a:picLocks noChangeAspect="1"/>
          </p:cNvPicPr>
          <p:nvPr/>
        </p:nvPicPr>
        <p:blipFill>
          <a:blip r:embed="rId4"/>
          <a:stretch>
            <a:fillRect/>
          </a:stretch>
        </p:blipFill>
        <p:spPr>
          <a:xfrm>
            <a:off x="6583680" y="2039112"/>
            <a:ext cx="329184" cy="329184"/>
          </a:xfrm>
          <a:prstGeom prst="rect">
            <a:avLst/>
          </a:prstGeom>
        </p:spPr>
      </p:pic>
      <p:sp>
        <p:nvSpPr>
          <p:cNvPr id="17" name="Objective 1"/>
          <p:cNvSpPr txBox="1"/>
          <p:nvPr/>
        </p:nvSpPr>
        <p:spPr>
          <a:xfrm>
            <a:off x="7086600" y="1965960"/>
            <a:ext cx="4572000" cy="502920"/>
          </a:xfrm>
          <a:prstGeom prst="rect">
            <a:avLst/>
          </a:prstGeom>
          <a:noFill/>
          <a:ln/>
        </p:spPr>
        <p:txBody>
          <a:bodyPr wrap="square" lIns="0" tIns="0" rIns="0" bIns="0" rtlCol="0" anchor="ctr"/>
          <a:lstStyle/>
          <a:p>
            <a:pPr indent="0" marL="0">
              <a:buNone/>
            </a:pPr>
            <a:r>
              <a:rPr lang="en-US" sz="1500" dirty="0">
                <a:solidFill>
                  <a:schemeClr val="tx1"/>
                </a:solidFill>
              </a:rPr>
              <a:t>Develop and test a Hospital Management System</a:t>
            </a:r>
            <a:endParaRPr lang="en-US" sz="1500" dirty="0"/>
          </a:p>
        </p:txBody>
      </p:sp>
      <p:pic>
        <p:nvPicPr>
          <p:cNvPr id="18" name="Objective tick 2" descr="preencoded.png">    </p:cNvPr>
          <p:cNvPicPr>
            <a:picLocks noChangeAspect="1"/>
          </p:cNvPicPr>
          <p:nvPr/>
        </p:nvPicPr>
        <p:blipFill>
          <a:blip r:embed="rId5"/>
          <a:stretch>
            <a:fillRect/>
          </a:stretch>
        </p:blipFill>
        <p:spPr>
          <a:xfrm>
            <a:off x="6583680" y="2724912"/>
            <a:ext cx="329184" cy="329184"/>
          </a:xfrm>
          <a:prstGeom prst="rect">
            <a:avLst/>
          </a:prstGeom>
        </p:spPr>
      </p:pic>
      <p:sp>
        <p:nvSpPr>
          <p:cNvPr id="19" name="Objective 2"/>
          <p:cNvSpPr txBox="1"/>
          <p:nvPr/>
        </p:nvSpPr>
        <p:spPr>
          <a:xfrm>
            <a:off x="7086600" y="2651760"/>
            <a:ext cx="4572000" cy="502920"/>
          </a:xfrm>
          <a:prstGeom prst="rect">
            <a:avLst/>
          </a:prstGeom>
          <a:noFill/>
          <a:ln/>
        </p:spPr>
        <p:txBody>
          <a:bodyPr wrap="square" lIns="0" tIns="0" rIns="0" bIns="0" rtlCol="0" anchor="ctr"/>
          <a:lstStyle/>
          <a:p>
            <a:pPr indent="0" marL="0">
              <a:buNone/>
            </a:pPr>
            <a:r>
              <a:rPr lang="en-US" sz="1500" dirty="0">
                <a:solidFill>
                  <a:schemeClr val="tx1"/>
                </a:solidFill>
              </a:rPr>
              <a:t>Automate important hospital operations</a:t>
            </a:r>
            <a:endParaRPr lang="en-US" sz="1500" dirty="0"/>
          </a:p>
        </p:txBody>
      </p:sp>
      <p:pic>
        <p:nvPicPr>
          <p:cNvPr id="20" name="Objective tick 3" descr="preencoded.png">    </p:cNvPr>
          <p:cNvPicPr>
            <a:picLocks noChangeAspect="1"/>
          </p:cNvPicPr>
          <p:nvPr/>
        </p:nvPicPr>
        <p:blipFill>
          <a:blip r:embed="rId6"/>
          <a:stretch>
            <a:fillRect/>
          </a:stretch>
        </p:blipFill>
        <p:spPr>
          <a:xfrm>
            <a:off x="6583680" y="3410712"/>
            <a:ext cx="329184" cy="329184"/>
          </a:xfrm>
          <a:prstGeom prst="rect">
            <a:avLst/>
          </a:prstGeom>
        </p:spPr>
      </p:pic>
      <p:sp>
        <p:nvSpPr>
          <p:cNvPr id="21" name="Objective 3"/>
          <p:cNvSpPr txBox="1"/>
          <p:nvPr/>
        </p:nvSpPr>
        <p:spPr>
          <a:xfrm>
            <a:off x="7086600" y="3337560"/>
            <a:ext cx="4572000" cy="502920"/>
          </a:xfrm>
          <a:prstGeom prst="rect">
            <a:avLst/>
          </a:prstGeom>
          <a:noFill/>
          <a:ln/>
        </p:spPr>
        <p:txBody>
          <a:bodyPr wrap="square" lIns="0" tIns="0" rIns="0" bIns="0" rtlCol="0" anchor="ctr"/>
          <a:lstStyle/>
          <a:p>
            <a:pPr indent="0" marL="0">
              <a:buNone/>
            </a:pPr>
            <a:r>
              <a:rPr lang="en-US" sz="1500" dirty="0">
                <a:solidFill>
                  <a:schemeClr val="tx1"/>
                </a:solidFill>
              </a:rPr>
              <a:t>Verify the correctness of every module</a:t>
            </a:r>
            <a:endParaRPr lang="en-US" sz="1500" dirty="0"/>
          </a:p>
        </p:txBody>
      </p:sp>
      <p:pic>
        <p:nvPicPr>
          <p:cNvPr id="22" name="Objective tick 4" descr="preencoded.png">    </p:cNvPr>
          <p:cNvPicPr>
            <a:picLocks noChangeAspect="1"/>
          </p:cNvPicPr>
          <p:nvPr/>
        </p:nvPicPr>
        <p:blipFill>
          <a:blip r:embed="rId7"/>
          <a:stretch>
            <a:fillRect/>
          </a:stretch>
        </p:blipFill>
        <p:spPr>
          <a:xfrm>
            <a:off x="6583680" y="4096512"/>
            <a:ext cx="329184" cy="329184"/>
          </a:xfrm>
          <a:prstGeom prst="rect">
            <a:avLst/>
          </a:prstGeom>
        </p:spPr>
      </p:pic>
      <p:sp>
        <p:nvSpPr>
          <p:cNvPr id="23" name="Objective 4"/>
          <p:cNvSpPr txBox="1"/>
          <p:nvPr/>
        </p:nvSpPr>
        <p:spPr>
          <a:xfrm>
            <a:off x="7086600" y="4023360"/>
            <a:ext cx="4572000" cy="502920"/>
          </a:xfrm>
          <a:prstGeom prst="rect">
            <a:avLst/>
          </a:prstGeom>
          <a:noFill/>
          <a:ln/>
        </p:spPr>
        <p:txBody>
          <a:bodyPr wrap="square" lIns="0" tIns="0" rIns="0" bIns="0" rtlCol="0" anchor="ctr"/>
          <a:lstStyle/>
          <a:p>
            <a:pPr indent="0" marL="0">
              <a:buNone/>
            </a:pPr>
            <a:r>
              <a:rPr lang="en-US" sz="1500" dirty="0">
                <a:solidFill>
                  <a:schemeClr val="tx1"/>
                </a:solidFill>
              </a:rPr>
              <a:t>Identify functional errors and unexpected behaviour</a:t>
            </a:r>
            <a:endParaRPr lang="en-US" sz="1500" dirty="0"/>
          </a:p>
        </p:txBody>
      </p:sp>
      <p:pic>
        <p:nvPicPr>
          <p:cNvPr id="24" name="Objective tick 5" descr="preencoded.png">    </p:cNvPr>
          <p:cNvPicPr>
            <a:picLocks noChangeAspect="1"/>
          </p:cNvPicPr>
          <p:nvPr/>
        </p:nvPicPr>
        <p:blipFill>
          <a:blip r:embed="rId8"/>
          <a:stretch>
            <a:fillRect/>
          </a:stretch>
        </p:blipFill>
        <p:spPr>
          <a:xfrm>
            <a:off x="6583680" y="4782312"/>
            <a:ext cx="329184" cy="329184"/>
          </a:xfrm>
          <a:prstGeom prst="rect">
            <a:avLst/>
          </a:prstGeom>
        </p:spPr>
      </p:pic>
      <p:sp>
        <p:nvSpPr>
          <p:cNvPr id="25" name="Objective 5"/>
          <p:cNvSpPr txBox="1"/>
          <p:nvPr/>
        </p:nvSpPr>
        <p:spPr>
          <a:xfrm>
            <a:off x="7086600" y="4709160"/>
            <a:ext cx="4572000" cy="502920"/>
          </a:xfrm>
          <a:prstGeom prst="rect">
            <a:avLst/>
          </a:prstGeom>
          <a:noFill/>
          <a:ln/>
        </p:spPr>
        <p:txBody>
          <a:bodyPr wrap="square" lIns="0" tIns="0" rIns="0" bIns="0" rtlCol="0" anchor="ctr"/>
          <a:lstStyle/>
          <a:p>
            <a:pPr indent="0" marL="0">
              <a:buNone/>
            </a:pPr>
            <a:r>
              <a:rPr lang="en-US" sz="1500" dirty="0">
                <a:solidFill>
                  <a:schemeClr val="tx1"/>
                </a:solidFill>
              </a:rPr>
              <a:t>Automate web testing with Selenium and reduce manual effort</a:t>
            </a:r>
            <a:endParaRPr lang="en-US" sz="1500" dirty="0"/>
          </a:p>
        </p:txBody>
      </p:sp>
      <p:pic>
        <p:nvPicPr>
          <p:cNvPr id="26" name="Objective tick 6" descr="preencoded.png">    </p:cNvPr>
          <p:cNvPicPr>
            <a:picLocks noChangeAspect="1"/>
          </p:cNvPicPr>
          <p:nvPr/>
        </p:nvPicPr>
        <p:blipFill>
          <a:blip r:embed="rId9"/>
          <a:stretch>
            <a:fillRect/>
          </a:stretch>
        </p:blipFill>
        <p:spPr>
          <a:xfrm>
            <a:off x="6583680" y="5468112"/>
            <a:ext cx="329184" cy="329184"/>
          </a:xfrm>
          <a:prstGeom prst="rect">
            <a:avLst/>
          </a:prstGeom>
        </p:spPr>
      </p:pic>
      <p:sp>
        <p:nvSpPr>
          <p:cNvPr id="27" name="Objective 6"/>
          <p:cNvSpPr txBox="1"/>
          <p:nvPr/>
        </p:nvSpPr>
        <p:spPr>
          <a:xfrm>
            <a:off x="7086600" y="5394960"/>
            <a:ext cx="4572000" cy="502920"/>
          </a:xfrm>
          <a:prstGeom prst="rect">
            <a:avLst/>
          </a:prstGeom>
          <a:noFill/>
          <a:ln/>
        </p:spPr>
        <p:txBody>
          <a:bodyPr wrap="square" lIns="0" tIns="0" rIns="0" bIns="0" rtlCol="0" anchor="ctr"/>
          <a:lstStyle/>
          <a:p>
            <a:pPr indent="0" marL="0">
              <a:buNone/>
            </a:pPr>
            <a:r>
              <a:rPr lang="en-US" sz="1500" dirty="0">
                <a:solidFill>
                  <a:schemeClr val="tx1"/>
                </a:solidFill>
              </a:rPr>
              <a:t>Check correct behaviour for valid and invalid inputs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HMS Modules</a:t>
            </a:r>
            <a:endParaRPr lang="en-US" sz="3400" dirty="0"/>
          </a:p>
        </p:txBody>
      </p:sp>
      <p:sp>
        <p:nvSpPr>
          <p:cNvPr id="3" name="Login card"/>
          <p:cNvSpPr/>
          <p:nvPr/>
        </p:nvSpPr>
        <p:spPr>
          <a:xfrm>
            <a:off x="548640" y="137160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4" name="Login icon circle"/>
          <p:cNvSpPr/>
          <p:nvPr/>
        </p:nvSpPr>
        <p:spPr>
          <a:xfrm>
            <a:off x="822960" y="1645920"/>
            <a:ext cx="777240" cy="777240"/>
          </a:xfrm>
          <a:prstGeom prst="ellipse">
            <a:avLst/>
          </a:prstGeom>
          <a:solidFill>
            <a:schemeClr val="accent1"/>
          </a:solidFill>
          <a:ln/>
        </p:spPr>
      </p:sp>
      <p:pic>
        <p:nvPicPr>
          <p:cNvPr id="5" name="Login icon" descr="preencoded.png">    </p:cNvPr>
          <p:cNvPicPr>
            <a:picLocks noChangeAspect="1"/>
          </p:cNvPicPr>
          <p:nvPr/>
        </p:nvPicPr>
        <p:blipFill>
          <a:blip r:embed="rId1"/>
          <a:stretch>
            <a:fillRect/>
          </a:stretch>
        </p:blipFill>
        <p:spPr>
          <a:xfrm>
            <a:off x="1017270" y="1840230"/>
            <a:ext cx="388620" cy="388620"/>
          </a:xfrm>
          <a:prstGeom prst="rect">
            <a:avLst/>
          </a:prstGeom>
        </p:spPr>
      </p:pic>
      <p:sp>
        <p:nvSpPr>
          <p:cNvPr id="6" name="Login title"/>
          <p:cNvSpPr txBox="1"/>
          <p:nvPr/>
        </p:nvSpPr>
        <p:spPr>
          <a:xfrm>
            <a:off x="1737360" y="164592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Login</a:t>
            </a:r>
            <a:endParaRPr lang="en-US" sz="1800" dirty="0"/>
          </a:p>
        </p:txBody>
      </p:sp>
      <p:sp>
        <p:nvSpPr>
          <p:cNvPr id="7" name="Login description"/>
          <p:cNvSpPr txBox="1"/>
          <p:nvPr/>
        </p:nvSpPr>
        <p:spPr>
          <a:xfrm>
            <a:off x="82296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Username / password check, invalid login message, logout, protected pages</a:t>
            </a:r>
            <a:endParaRPr lang="en-US" sz="1400" dirty="0"/>
          </a:p>
        </p:txBody>
      </p:sp>
      <p:sp>
        <p:nvSpPr>
          <p:cNvPr id="8" name="Patient Management card"/>
          <p:cNvSpPr/>
          <p:nvPr/>
        </p:nvSpPr>
        <p:spPr>
          <a:xfrm>
            <a:off x="4297680" y="137160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9" name="Patient Management icon circle"/>
          <p:cNvSpPr/>
          <p:nvPr/>
        </p:nvSpPr>
        <p:spPr>
          <a:xfrm>
            <a:off x="4572000" y="1645920"/>
            <a:ext cx="777240" cy="777240"/>
          </a:xfrm>
          <a:prstGeom prst="ellipse">
            <a:avLst/>
          </a:prstGeom>
          <a:solidFill>
            <a:schemeClr val="accent1"/>
          </a:solidFill>
          <a:ln/>
        </p:spPr>
      </p:sp>
      <p:pic>
        <p:nvPicPr>
          <p:cNvPr id="10" name="Patient Management icon" descr="preencoded.png">    </p:cNvPr>
          <p:cNvPicPr>
            <a:picLocks noChangeAspect="1"/>
          </p:cNvPicPr>
          <p:nvPr/>
        </p:nvPicPr>
        <p:blipFill>
          <a:blip r:embed="rId2"/>
          <a:stretch>
            <a:fillRect/>
          </a:stretch>
        </p:blipFill>
        <p:spPr>
          <a:xfrm>
            <a:off x="4766310" y="1840230"/>
            <a:ext cx="388620" cy="388620"/>
          </a:xfrm>
          <a:prstGeom prst="rect">
            <a:avLst/>
          </a:prstGeom>
        </p:spPr>
      </p:pic>
      <p:sp>
        <p:nvSpPr>
          <p:cNvPr id="11" name="Patient Management title"/>
          <p:cNvSpPr txBox="1"/>
          <p:nvPr/>
        </p:nvSpPr>
        <p:spPr>
          <a:xfrm>
            <a:off x="5486400" y="164592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Patient Management</a:t>
            </a:r>
            <a:endParaRPr lang="en-US" sz="1800" dirty="0"/>
          </a:p>
        </p:txBody>
      </p:sp>
      <p:sp>
        <p:nvSpPr>
          <p:cNvPr id="12" name="Patient Management description"/>
          <p:cNvSpPr txBox="1"/>
          <p:nvPr/>
        </p:nvSpPr>
        <p:spPr>
          <a:xfrm>
            <a:off x="457200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Add, view, update, delete patients and search by Patient ID or name</a:t>
            </a:r>
            <a:endParaRPr lang="en-US" sz="1400" dirty="0"/>
          </a:p>
        </p:txBody>
      </p:sp>
      <p:sp>
        <p:nvSpPr>
          <p:cNvPr id="13" name="Doctor Management card"/>
          <p:cNvSpPr/>
          <p:nvPr/>
        </p:nvSpPr>
        <p:spPr>
          <a:xfrm>
            <a:off x="8046720" y="137160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14" name="Doctor Management icon circle"/>
          <p:cNvSpPr/>
          <p:nvPr/>
        </p:nvSpPr>
        <p:spPr>
          <a:xfrm>
            <a:off x="8321040" y="1645920"/>
            <a:ext cx="777240" cy="777240"/>
          </a:xfrm>
          <a:prstGeom prst="ellipse">
            <a:avLst/>
          </a:prstGeom>
          <a:solidFill>
            <a:schemeClr val="accent1"/>
          </a:solidFill>
          <a:ln/>
        </p:spPr>
      </p:sp>
      <p:pic>
        <p:nvPicPr>
          <p:cNvPr id="15" name="Doctor Management icon" descr="preencoded.png">    </p:cNvPr>
          <p:cNvPicPr>
            <a:picLocks noChangeAspect="1"/>
          </p:cNvPicPr>
          <p:nvPr/>
        </p:nvPicPr>
        <p:blipFill>
          <a:blip r:embed="rId3"/>
          <a:stretch>
            <a:fillRect/>
          </a:stretch>
        </p:blipFill>
        <p:spPr>
          <a:xfrm>
            <a:off x="8515350" y="1840230"/>
            <a:ext cx="388620" cy="388620"/>
          </a:xfrm>
          <a:prstGeom prst="rect">
            <a:avLst/>
          </a:prstGeom>
        </p:spPr>
      </p:pic>
      <p:sp>
        <p:nvSpPr>
          <p:cNvPr id="16" name="Doctor Management title"/>
          <p:cNvSpPr txBox="1"/>
          <p:nvPr/>
        </p:nvSpPr>
        <p:spPr>
          <a:xfrm>
            <a:off x="9235440" y="164592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Doctor Management</a:t>
            </a:r>
            <a:endParaRPr lang="en-US" sz="1800" dirty="0"/>
          </a:p>
        </p:txBody>
      </p:sp>
      <p:sp>
        <p:nvSpPr>
          <p:cNvPr id="17" name="Doctor Management description"/>
          <p:cNvSpPr txBox="1"/>
          <p:nvPr/>
        </p:nvSpPr>
        <p:spPr>
          <a:xfrm>
            <a:off x="832104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Add, update, search doctors and mark them Available / Not Available</a:t>
            </a:r>
            <a:endParaRPr lang="en-US" sz="1400" dirty="0"/>
          </a:p>
        </p:txBody>
      </p:sp>
      <p:sp>
        <p:nvSpPr>
          <p:cNvPr id="18" name="Appointments card"/>
          <p:cNvSpPr/>
          <p:nvPr/>
        </p:nvSpPr>
        <p:spPr>
          <a:xfrm>
            <a:off x="548640" y="384048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19" name="Appointments icon circle"/>
          <p:cNvSpPr/>
          <p:nvPr/>
        </p:nvSpPr>
        <p:spPr>
          <a:xfrm>
            <a:off x="822960" y="4114800"/>
            <a:ext cx="777240" cy="777240"/>
          </a:xfrm>
          <a:prstGeom prst="ellipse">
            <a:avLst/>
          </a:prstGeom>
          <a:solidFill>
            <a:schemeClr val="accent1"/>
          </a:solidFill>
          <a:ln/>
        </p:spPr>
      </p:sp>
      <p:pic>
        <p:nvPicPr>
          <p:cNvPr id="20" name="Appointments icon" descr="preencoded.png">    </p:cNvPr>
          <p:cNvPicPr>
            <a:picLocks noChangeAspect="1"/>
          </p:cNvPicPr>
          <p:nvPr/>
        </p:nvPicPr>
        <p:blipFill>
          <a:blip r:embed="rId4"/>
          <a:stretch>
            <a:fillRect/>
          </a:stretch>
        </p:blipFill>
        <p:spPr>
          <a:xfrm>
            <a:off x="1017270" y="4309110"/>
            <a:ext cx="388620" cy="388620"/>
          </a:xfrm>
          <a:prstGeom prst="rect">
            <a:avLst/>
          </a:prstGeom>
        </p:spPr>
      </p:pic>
      <p:sp>
        <p:nvSpPr>
          <p:cNvPr id="21" name="Appointments title"/>
          <p:cNvSpPr txBox="1"/>
          <p:nvPr/>
        </p:nvSpPr>
        <p:spPr>
          <a:xfrm>
            <a:off x="1737360" y="411480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Appointments</a:t>
            </a:r>
            <a:endParaRPr lang="en-US" sz="1800" dirty="0"/>
          </a:p>
        </p:txBody>
      </p:sp>
      <p:sp>
        <p:nvSpPr>
          <p:cNvPr id="22" name="Appointments description"/>
          <p:cNvSpPr txBox="1"/>
          <p:nvPr/>
        </p:nvSpPr>
        <p:spPr>
          <a:xfrm>
            <a:off x="822960" y="5029200"/>
            <a:ext cx="3017520" cy="914400"/>
          </a:xfrm>
          <a:prstGeom prst="rect">
            <a:avLst/>
          </a:prstGeom>
          <a:noFill/>
          <a:ln/>
        </p:spPr>
        <p:txBody>
          <a:bodyPr wrap="square" lIns="0" tIns="0" rIns="0" bIns="0" rtlCol="0" anchor="t"/>
          <a:lstStyle/>
          <a:p>
            <a:pPr indent="0" marL="0">
              <a:buNone/>
            </a:pPr>
            <a:r>
              <a:rPr lang="en-US" sz="1400" dirty="0">
                <a:solidFill>
                  <a:schemeClr val="tx1"/>
                </a:solidFill>
              </a:rPr>
              <a:t>Select patient, doctor, date and time; book or cancel. No double booking</a:t>
            </a:r>
            <a:endParaRPr lang="en-US" sz="1400" dirty="0"/>
          </a:p>
        </p:txBody>
      </p:sp>
      <p:sp>
        <p:nvSpPr>
          <p:cNvPr id="23" name="Medical Records card"/>
          <p:cNvSpPr/>
          <p:nvPr/>
        </p:nvSpPr>
        <p:spPr>
          <a:xfrm>
            <a:off x="4297680" y="384048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24" name="Medical Records icon circle"/>
          <p:cNvSpPr/>
          <p:nvPr/>
        </p:nvSpPr>
        <p:spPr>
          <a:xfrm>
            <a:off x="4572000" y="4114800"/>
            <a:ext cx="777240" cy="777240"/>
          </a:xfrm>
          <a:prstGeom prst="ellipse">
            <a:avLst/>
          </a:prstGeom>
          <a:solidFill>
            <a:schemeClr val="accent1"/>
          </a:solidFill>
          <a:ln/>
        </p:spPr>
      </p:sp>
      <p:pic>
        <p:nvPicPr>
          <p:cNvPr id="25" name="Medical Records icon" descr="preencoded.png">    </p:cNvPr>
          <p:cNvPicPr>
            <a:picLocks noChangeAspect="1"/>
          </p:cNvPicPr>
          <p:nvPr/>
        </p:nvPicPr>
        <p:blipFill>
          <a:blip r:embed="rId5"/>
          <a:stretch>
            <a:fillRect/>
          </a:stretch>
        </p:blipFill>
        <p:spPr>
          <a:xfrm>
            <a:off x="4766310" y="4309110"/>
            <a:ext cx="388620" cy="388620"/>
          </a:xfrm>
          <a:prstGeom prst="rect">
            <a:avLst/>
          </a:prstGeom>
        </p:spPr>
      </p:pic>
      <p:sp>
        <p:nvSpPr>
          <p:cNvPr id="26" name="Medical Records title"/>
          <p:cNvSpPr txBox="1"/>
          <p:nvPr/>
        </p:nvSpPr>
        <p:spPr>
          <a:xfrm>
            <a:off x="5486400" y="411480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Medical Records</a:t>
            </a:r>
            <a:endParaRPr lang="en-US" sz="1800" dirty="0"/>
          </a:p>
        </p:txBody>
      </p:sp>
      <p:sp>
        <p:nvSpPr>
          <p:cNvPr id="27" name="Medical Records description"/>
          <p:cNvSpPr txBox="1"/>
          <p:nvPr/>
        </p:nvSpPr>
        <p:spPr>
          <a:xfrm>
            <a:off x="4572000" y="5029200"/>
            <a:ext cx="3017520" cy="914400"/>
          </a:xfrm>
          <a:prstGeom prst="rect">
            <a:avLst/>
          </a:prstGeom>
          <a:noFill/>
          <a:ln/>
        </p:spPr>
        <p:txBody>
          <a:bodyPr wrap="square" lIns="0" tIns="0" rIns="0" bIns="0" rtlCol="0" anchor="t"/>
          <a:lstStyle/>
          <a:p>
            <a:pPr indent="0" marL="0">
              <a:buNone/>
            </a:pPr>
            <a:r>
              <a:rPr lang="en-US" sz="1400" dirty="0">
                <a:solidFill>
                  <a:schemeClr val="tx1"/>
                </a:solidFill>
              </a:rPr>
              <a:t>Diagnosis, treatment and prescription; full history of each patient</a:t>
            </a:r>
            <a:endParaRPr lang="en-US" sz="1400" dirty="0"/>
          </a:p>
        </p:txBody>
      </p:sp>
      <p:sp>
        <p:nvSpPr>
          <p:cNvPr id="28" name="Billing card"/>
          <p:cNvSpPr/>
          <p:nvPr/>
        </p:nvSpPr>
        <p:spPr>
          <a:xfrm>
            <a:off x="8046720" y="384048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29" name="Billing icon circle"/>
          <p:cNvSpPr/>
          <p:nvPr/>
        </p:nvSpPr>
        <p:spPr>
          <a:xfrm>
            <a:off x="8321040" y="4114800"/>
            <a:ext cx="777240" cy="777240"/>
          </a:xfrm>
          <a:prstGeom prst="ellipse">
            <a:avLst/>
          </a:prstGeom>
          <a:solidFill>
            <a:schemeClr val="accent1"/>
          </a:solidFill>
          <a:ln/>
        </p:spPr>
      </p:sp>
      <p:pic>
        <p:nvPicPr>
          <p:cNvPr id="30" name="Billing icon" descr="preencoded.png">    </p:cNvPr>
          <p:cNvPicPr>
            <a:picLocks noChangeAspect="1"/>
          </p:cNvPicPr>
          <p:nvPr/>
        </p:nvPicPr>
        <p:blipFill>
          <a:blip r:embed="rId6"/>
          <a:stretch>
            <a:fillRect/>
          </a:stretch>
        </p:blipFill>
        <p:spPr>
          <a:xfrm>
            <a:off x="8515350" y="4309110"/>
            <a:ext cx="388620" cy="388620"/>
          </a:xfrm>
          <a:prstGeom prst="rect">
            <a:avLst/>
          </a:prstGeom>
        </p:spPr>
      </p:pic>
      <p:sp>
        <p:nvSpPr>
          <p:cNvPr id="31" name="Billing title"/>
          <p:cNvSpPr txBox="1"/>
          <p:nvPr/>
        </p:nvSpPr>
        <p:spPr>
          <a:xfrm>
            <a:off x="9235440" y="411480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Billing</a:t>
            </a:r>
            <a:endParaRPr lang="en-US" sz="1800" dirty="0"/>
          </a:p>
        </p:txBody>
      </p:sp>
      <p:sp>
        <p:nvSpPr>
          <p:cNvPr id="32" name="Billing description"/>
          <p:cNvSpPr txBox="1"/>
          <p:nvPr/>
        </p:nvSpPr>
        <p:spPr>
          <a:xfrm>
            <a:off x="8321040" y="5029200"/>
            <a:ext cx="3017520" cy="914400"/>
          </a:xfrm>
          <a:prstGeom prst="rect">
            <a:avLst/>
          </a:prstGeom>
          <a:noFill/>
          <a:ln/>
        </p:spPr>
        <p:txBody>
          <a:bodyPr wrap="square" lIns="0" tIns="0" rIns="0" bIns="0" rtlCol="0" anchor="t"/>
          <a:lstStyle/>
          <a:p>
            <a:pPr indent="0" marL="0">
              <a:buNone/>
            </a:pPr>
            <a:r>
              <a:rPr lang="en-US" sz="1400" dirty="0">
                <a:solidFill>
                  <a:schemeClr val="tx1"/>
                </a:solidFill>
              </a:rPr>
              <a:t>Consultation + treatment charges, automatic total, Paid / Unpaid status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How the System Works</a:t>
            </a:r>
            <a:endParaRPr lang="en-US" sz="3400" dirty="0"/>
          </a:p>
        </p:txBody>
      </p:sp>
      <p:sp>
        <p:nvSpPr>
          <p:cNvPr id="3" name="Selenium WebDriver box"/>
          <p:cNvSpPr/>
          <p:nvPr/>
        </p:nvSpPr>
        <p:spPr>
          <a:xfrm>
            <a:off x="548640" y="1325880"/>
            <a:ext cx="4846320" cy="749808"/>
          </a:xfrm>
          <a:prstGeom prst="roundRect">
            <a:avLst>
              <a:gd name="adj" fmla="val 9756"/>
            </a:avLst>
          </a:prstGeom>
          <a:solidFill>
            <a:schemeClr val="bg2"/>
          </a:solidFill>
          <a:ln/>
        </p:spPr>
      </p:sp>
      <p:sp>
        <p:nvSpPr>
          <p:cNvPr id="4" name="Selenium WebDriver icon circle"/>
          <p:cNvSpPr/>
          <p:nvPr/>
        </p:nvSpPr>
        <p:spPr>
          <a:xfrm>
            <a:off x="685800" y="1426464"/>
            <a:ext cx="548640" cy="548640"/>
          </a:xfrm>
          <a:prstGeom prst="ellipse">
            <a:avLst/>
          </a:prstGeom>
          <a:solidFill>
            <a:schemeClr val="accent3"/>
          </a:solidFill>
          <a:ln/>
        </p:spPr>
      </p:sp>
      <p:pic>
        <p:nvPicPr>
          <p:cNvPr id="5" name="Selenium WebDriver icon" descr="preencoded.png">    </p:cNvPr>
          <p:cNvPicPr>
            <a:picLocks noChangeAspect="1"/>
          </p:cNvPicPr>
          <p:nvPr/>
        </p:nvPicPr>
        <p:blipFill>
          <a:blip r:embed="rId1"/>
          <a:stretch>
            <a:fillRect/>
          </a:stretch>
        </p:blipFill>
        <p:spPr>
          <a:xfrm>
            <a:off x="822960" y="1563624"/>
            <a:ext cx="274320" cy="274320"/>
          </a:xfrm>
          <a:prstGeom prst="rect">
            <a:avLst/>
          </a:prstGeom>
        </p:spPr>
      </p:pic>
      <p:sp>
        <p:nvSpPr>
          <p:cNvPr id="6" name="Selenium WebDriver text"/>
          <p:cNvSpPr txBox="1"/>
          <p:nvPr/>
        </p:nvSpPr>
        <p:spPr>
          <a:xfrm>
            <a:off x="1417320" y="1325880"/>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Selenium WebDriver</a:t>
            </a:r>
            <a:endParaRPr lang="en-US" sz="1600" dirty="0"/>
          </a:p>
          <a:p>
            <a:pPr indent="0" marL="0">
              <a:buNone/>
            </a:pPr>
            <a:r>
              <a:rPr lang="en-US" sz="1300" dirty="0">
                <a:solidFill>
                  <a:schemeClr val="accent6"/>
                </a:solidFill>
              </a:rPr>
              <a:t>test_selenium_hms.py</a:t>
            </a:r>
            <a:endParaRPr lang="en-US" sz="1600" dirty="0"/>
          </a:p>
        </p:txBody>
      </p:sp>
      <p:sp>
        <p:nvSpPr>
          <p:cNvPr id="7" name="Arrow 1"/>
          <p:cNvSpPr/>
          <p:nvPr/>
        </p:nvSpPr>
        <p:spPr>
          <a:xfrm>
            <a:off x="2834640" y="2093976"/>
            <a:ext cx="274320" cy="182880"/>
          </a:xfrm>
          <a:prstGeom prst="downArrow">
            <a:avLst/>
          </a:prstGeom>
          <a:solidFill>
            <a:schemeClr val="accent6"/>
          </a:solidFill>
          <a:ln/>
        </p:spPr>
      </p:sp>
      <p:sp>
        <p:nvSpPr>
          <p:cNvPr id="8" name="Chrome Browser box"/>
          <p:cNvSpPr/>
          <p:nvPr/>
        </p:nvSpPr>
        <p:spPr>
          <a:xfrm>
            <a:off x="548640" y="2304288"/>
            <a:ext cx="4846320" cy="749808"/>
          </a:xfrm>
          <a:prstGeom prst="roundRect">
            <a:avLst>
              <a:gd name="adj" fmla="val 9756"/>
            </a:avLst>
          </a:prstGeom>
          <a:solidFill>
            <a:schemeClr val="bg2"/>
          </a:solidFill>
          <a:ln/>
        </p:spPr>
      </p:sp>
      <p:sp>
        <p:nvSpPr>
          <p:cNvPr id="9" name="Chrome Browser icon circle"/>
          <p:cNvSpPr/>
          <p:nvPr/>
        </p:nvSpPr>
        <p:spPr>
          <a:xfrm>
            <a:off x="685800" y="2404872"/>
            <a:ext cx="548640" cy="548640"/>
          </a:xfrm>
          <a:prstGeom prst="ellipse">
            <a:avLst/>
          </a:prstGeom>
          <a:solidFill>
            <a:schemeClr val="accent1"/>
          </a:solidFill>
          <a:ln/>
        </p:spPr>
      </p:sp>
      <p:pic>
        <p:nvPicPr>
          <p:cNvPr id="10" name="Chrome Browser icon" descr="preencoded.png">    </p:cNvPr>
          <p:cNvPicPr>
            <a:picLocks noChangeAspect="1"/>
          </p:cNvPicPr>
          <p:nvPr/>
        </p:nvPicPr>
        <p:blipFill>
          <a:blip r:embed="rId2"/>
          <a:stretch>
            <a:fillRect/>
          </a:stretch>
        </p:blipFill>
        <p:spPr>
          <a:xfrm>
            <a:off x="822960" y="2542032"/>
            <a:ext cx="274320" cy="274320"/>
          </a:xfrm>
          <a:prstGeom prst="rect">
            <a:avLst/>
          </a:prstGeom>
        </p:spPr>
      </p:pic>
      <p:sp>
        <p:nvSpPr>
          <p:cNvPr id="11" name="Chrome Browser text"/>
          <p:cNvSpPr txBox="1"/>
          <p:nvPr/>
        </p:nvSpPr>
        <p:spPr>
          <a:xfrm>
            <a:off x="1417320" y="2304288"/>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Chrome Browser</a:t>
            </a:r>
            <a:endParaRPr lang="en-US" sz="1600" dirty="0"/>
          </a:p>
          <a:p>
            <a:pPr indent="0" marL="0">
              <a:buNone/>
            </a:pPr>
            <a:r>
              <a:rPr lang="en-US" sz="1300" dirty="0">
                <a:solidFill>
                  <a:schemeClr val="accent6"/>
                </a:solidFill>
              </a:rPr>
              <a:t>HTML pages (templates/)</a:t>
            </a:r>
            <a:endParaRPr lang="en-US" sz="1600" dirty="0"/>
          </a:p>
        </p:txBody>
      </p:sp>
      <p:sp>
        <p:nvSpPr>
          <p:cNvPr id="12" name="Arrow 2"/>
          <p:cNvSpPr/>
          <p:nvPr/>
        </p:nvSpPr>
        <p:spPr>
          <a:xfrm>
            <a:off x="2834640" y="3072384"/>
            <a:ext cx="274320" cy="182880"/>
          </a:xfrm>
          <a:prstGeom prst="downArrow">
            <a:avLst/>
          </a:prstGeom>
          <a:solidFill>
            <a:schemeClr val="accent6"/>
          </a:solidFill>
          <a:ln/>
        </p:spPr>
      </p:sp>
      <p:sp>
        <p:nvSpPr>
          <p:cNvPr id="13" name="Flask Web App box"/>
          <p:cNvSpPr/>
          <p:nvPr/>
        </p:nvSpPr>
        <p:spPr>
          <a:xfrm>
            <a:off x="548640" y="3282696"/>
            <a:ext cx="4846320" cy="749808"/>
          </a:xfrm>
          <a:prstGeom prst="roundRect">
            <a:avLst>
              <a:gd name="adj" fmla="val 9756"/>
            </a:avLst>
          </a:prstGeom>
          <a:solidFill>
            <a:schemeClr val="bg2"/>
          </a:solidFill>
          <a:ln/>
        </p:spPr>
      </p:sp>
      <p:sp>
        <p:nvSpPr>
          <p:cNvPr id="14" name="Flask Web App icon circle"/>
          <p:cNvSpPr/>
          <p:nvPr/>
        </p:nvSpPr>
        <p:spPr>
          <a:xfrm>
            <a:off x="685800" y="3383280"/>
            <a:ext cx="548640" cy="548640"/>
          </a:xfrm>
          <a:prstGeom prst="ellipse">
            <a:avLst/>
          </a:prstGeom>
          <a:solidFill>
            <a:schemeClr val="accent1"/>
          </a:solidFill>
          <a:ln/>
        </p:spPr>
      </p:sp>
      <p:pic>
        <p:nvPicPr>
          <p:cNvPr id="15" name="Flask Web App icon" descr="preencoded.png">    </p:cNvPr>
          <p:cNvPicPr>
            <a:picLocks noChangeAspect="1"/>
          </p:cNvPicPr>
          <p:nvPr/>
        </p:nvPicPr>
        <p:blipFill>
          <a:blip r:embed="rId3"/>
          <a:stretch>
            <a:fillRect/>
          </a:stretch>
        </p:blipFill>
        <p:spPr>
          <a:xfrm>
            <a:off x="822960" y="3520440"/>
            <a:ext cx="274320" cy="274320"/>
          </a:xfrm>
          <a:prstGeom prst="rect">
            <a:avLst/>
          </a:prstGeom>
        </p:spPr>
      </p:pic>
      <p:sp>
        <p:nvSpPr>
          <p:cNvPr id="16" name="Flask Web App text"/>
          <p:cNvSpPr txBox="1"/>
          <p:nvPr/>
        </p:nvSpPr>
        <p:spPr>
          <a:xfrm>
            <a:off x="1417320" y="3282696"/>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Flask Web App</a:t>
            </a:r>
            <a:endParaRPr lang="en-US" sz="1600" dirty="0"/>
          </a:p>
          <a:p>
            <a:pPr indent="0" marL="0">
              <a:buNone/>
            </a:pPr>
            <a:r>
              <a:rPr lang="en-US" sz="1300" dirty="0">
                <a:solidFill>
                  <a:schemeClr val="accent6"/>
                </a:solidFill>
              </a:rPr>
              <a:t>app.py - pages and routes</a:t>
            </a:r>
            <a:endParaRPr lang="en-US" sz="1600" dirty="0"/>
          </a:p>
        </p:txBody>
      </p:sp>
      <p:sp>
        <p:nvSpPr>
          <p:cNvPr id="17" name="Arrow 3"/>
          <p:cNvSpPr/>
          <p:nvPr/>
        </p:nvSpPr>
        <p:spPr>
          <a:xfrm>
            <a:off x="2834640" y="4050792"/>
            <a:ext cx="274320" cy="182880"/>
          </a:xfrm>
          <a:prstGeom prst="downArrow">
            <a:avLst/>
          </a:prstGeom>
          <a:solidFill>
            <a:schemeClr val="accent6"/>
          </a:solidFill>
          <a:ln/>
        </p:spPr>
      </p:sp>
      <p:sp>
        <p:nvSpPr>
          <p:cNvPr id="18" name="Validation Rules box"/>
          <p:cNvSpPr/>
          <p:nvPr/>
        </p:nvSpPr>
        <p:spPr>
          <a:xfrm>
            <a:off x="548640" y="4261104"/>
            <a:ext cx="4846320" cy="749808"/>
          </a:xfrm>
          <a:prstGeom prst="roundRect">
            <a:avLst>
              <a:gd name="adj" fmla="val 9756"/>
            </a:avLst>
          </a:prstGeom>
          <a:solidFill>
            <a:schemeClr val="bg2"/>
          </a:solidFill>
          <a:ln/>
        </p:spPr>
      </p:sp>
      <p:sp>
        <p:nvSpPr>
          <p:cNvPr id="19" name="Validation Rules icon circle"/>
          <p:cNvSpPr/>
          <p:nvPr/>
        </p:nvSpPr>
        <p:spPr>
          <a:xfrm>
            <a:off x="685800" y="4361688"/>
            <a:ext cx="548640" cy="548640"/>
          </a:xfrm>
          <a:prstGeom prst="ellipse">
            <a:avLst/>
          </a:prstGeom>
          <a:solidFill>
            <a:schemeClr val="accent1"/>
          </a:solidFill>
          <a:ln/>
        </p:spPr>
      </p:sp>
      <p:pic>
        <p:nvPicPr>
          <p:cNvPr id="20" name="Validation Rules icon" descr="preencoded.png">    </p:cNvPr>
          <p:cNvPicPr>
            <a:picLocks noChangeAspect="1"/>
          </p:cNvPicPr>
          <p:nvPr/>
        </p:nvPicPr>
        <p:blipFill>
          <a:blip r:embed="rId4"/>
          <a:stretch>
            <a:fillRect/>
          </a:stretch>
        </p:blipFill>
        <p:spPr>
          <a:xfrm>
            <a:off x="822960" y="4498848"/>
            <a:ext cx="274320" cy="274320"/>
          </a:xfrm>
          <a:prstGeom prst="rect">
            <a:avLst/>
          </a:prstGeom>
        </p:spPr>
      </p:pic>
      <p:sp>
        <p:nvSpPr>
          <p:cNvPr id="21" name="Validation Rules text"/>
          <p:cNvSpPr txBox="1"/>
          <p:nvPr/>
        </p:nvSpPr>
        <p:spPr>
          <a:xfrm>
            <a:off x="1417320" y="4261104"/>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Validation Rules</a:t>
            </a:r>
            <a:endParaRPr lang="en-US" sz="1600" dirty="0"/>
          </a:p>
          <a:p>
            <a:pPr indent="0" marL="0">
              <a:buNone/>
            </a:pPr>
            <a:r>
              <a:rPr lang="en-US" sz="1300" dirty="0">
                <a:solidFill>
                  <a:schemeClr val="accent6"/>
                </a:solidFill>
              </a:rPr>
              <a:t>validators.py - checks input</a:t>
            </a:r>
            <a:endParaRPr lang="en-US" sz="1600" dirty="0"/>
          </a:p>
        </p:txBody>
      </p:sp>
      <p:sp>
        <p:nvSpPr>
          <p:cNvPr id="22" name="Arrow 4"/>
          <p:cNvSpPr/>
          <p:nvPr/>
        </p:nvSpPr>
        <p:spPr>
          <a:xfrm>
            <a:off x="2834640" y="5029200"/>
            <a:ext cx="274320" cy="182880"/>
          </a:xfrm>
          <a:prstGeom prst="downArrow">
            <a:avLst/>
          </a:prstGeom>
          <a:solidFill>
            <a:schemeClr val="accent6"/>
          </a:solidFill>
          <a:ln/>
        </p:spPr>
      </p:sp>
      <p:sp>
        <p:nvSpPr>
          <p:cNvPr id="23" name="Database Layer box"/>
          <p:cNvSpPr/>
          <p:nvPr/>
        </p:nvSpPr>
        <p:spPr>
          <a:xfrm>
            <a:off x="548640" y="5239512"/>
            <a:ext cx="4846320" cy="749808"/>
          </a:xfrm>
          <a:prstGeom prst="roundRect">
            <a:avLst>
              <a:gd name="adj" fmla="val 9756"/>
            </a:avLst>
          </a:prstGeom>
          <a:solidFill>
            <a:schemeClr val="bg2"/>
          </a:solidFill>
          <a:ln/>
        </p:spPr>
      </p:sp>
      <p:sp>
        <p:nvSpPr>
          <p:cNvPr id="24" name="Database Layer icon circle"/>
          <p:cNvSpPr/>
          <p:nvPr/>
        </p:nvSpPr>
        <p:spPr>
          <a:xfrm>
            <a:off x="685800" y="5340096"/>
            <a:ext cx="548640" cy="548640"/>
          </a:xfrm>
          <a:prstGeom prst="ellipse">
            <a:avLst/>
          </a:prstGeom>
          <a:solidFill>
            <a:schemeClr val="accent1"/>
          </a:solidFill>
          <a:ln/>
        </p:spPr>
      </p:sp>
      <p:pic>
        <p:nvPicPr>
          <p:cNvPr id="25" name="Database Layer icon" descr="preencoded.png">    </p:cNvPr>
          <p:cNvPicPr>
            <a:picLocks noChangeAspect="1"/>
          </p:cNvPicPr>
          <p:nvPr/>
        </p:nvPicPr>
        <p:blipFill>
          <a:blip r:embed="rId5"/>
          <a:stretch>
            <a:fillRect/>
          </a:stretch>
        </p:blipFill>
        <p:spPr>
          <a:xfrm>
            <a:off x="822960" y="5477256"/>
            <a:ext cx="274320" cy="274320"/>
          </a:xfrm>
          <a:prstGeom prst="rect">
            <a:avLst/>
          </a:prstGeom>
        </p:spPr>
      </p:pic>
      <p:sp>
        <p:nvSpPr>
          <p:cNvPr id="26" name="Database Layer text"/>
          <p:cNvSpPr txBox="1"/>
          <p:nvPr/>
        </p:nvSpPr>
        <p:spPr>
          <a:xfrm>
            <a:off x="1417320" y="5239512"/>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Database Layer</a:t>
            </a:r>
            <a:endParaRPr lang="en-US" sz="1600" dirty="0"/>
          </a:p>
          <a:p>
            <a:pPr indent="0" marL="0">
              <a:buNone/>
            </a:pPr>
            <a:r>
              <a:rPr lang="en-US" sz="1300" dirty="0">
                <a:solidFill>
                  <a:schemeClr val="accent6"/>
                </a:solidFill>
              </a:rPr>
              <a:t>database.py + SQLite</a:t>
            </a:r>
            <a:endParaRPr lang="en-US" sz="1600" dirty="0"/>
          </a:p>
        </p:txBody>
      </p:sp>
      <p:pic>
        <p:nvPicPr>
          <p:cNvPr id="27" name="Appointments screenshot" descr="appt_crop.png">    </p:cNvPr>
          <p:cNvPicPr>
            <a:picLocks noChangeAspect="1"/>
          </p:cNvPicPr>
          <p:nvPr/>
        </p:nvPicPr>
        <p:blipFill>
          <a:blip r:embed="rId9"/>
          <a:stretch>
            <a:fillRect/>
          </a:stretch>
        </p:blipFill>
        <p:spPr>
          <a:xfrm>
            <a:off x="5852160" y="1325880"/>
            <a:ext cx="5760720" cy="2112264"/>
          </a:xfrm>
          <a:prstGeom prst="rect">
            <a:avLst/>
          </a:prstGeom>
        </p:spPr>
      </p:pic>
      <p:sp>
        <p:nvSpPr>
          <p:cNvPr id="28" name="Screenshot frame"/>
          <p:cNvSpPr/>
          <p:nvPr/>
        </p:nvSpPr>
        <p:spPr>
          <a:xfrm>
            <a:off x="5852160" y="1325880"/>
            <a:ext cx="5760720" cy="2112264"/>
          </a:xfrm>
          <a:prstGeom prst="rect">
            <a:avLst/>
          </a:prstGeom>
          <a:ln w="12700">
            <a:solidFill>
              <a:srgbClr val="C9D7DB"/>
            </a:solidFill>
            <a:prstDash val="solid"/>
          </a:ln>
        </p:spPr>
      </p:sp>
      <p:sp>
        <p:nvSpPr>
          <p:cNvPr id="29" name="Screenshot caption"/>
          <p:cNvSpPr txBox="1"/>
          <p:nvPr/>
        </p:nvSpPr>
        <p:spPr>
          <a:xfrm>
            <a:off x="5852160" y="3520440"/>
            <a:ext cx="5760720" cy="274320"/>
          </a:xfrm>
          <a:prstGeom prst="rect">
            <a:avLst/>
          </a:prstGeom>
          <a:noFill/>
          <a:ln/>
        </p:spPr>
        <p:txBody>
          <a:bodyPr wrap="square" lIns="0" tIns="0" rIns="0" bIns="0" rtlCol="0" anchor="ctr"/>
          <a:lstStyle/>
          <a:p>
            <a:pPr indent="0" marL="0">
              <a:buNone/>
            </a:pPr>
            <a:r>
              <a:rPr lang="en-US" sz="1100" i="1" dirty="0">
                <a:solidFill>
                  <a:schemeClr val="accent6"/>
                </a:solidFill>
              </a:rPr>
              <a:t>Our running app: booking the same doctor twice is blocked</a:t>
            </a:r>
            <a:endParaRPr lang="en-US" sz="1100" dirty="0"/>
          </a:p>
        </p:txBody>
      </p:sp>
      <p:sp>
        <p:nvSpPr>
          <p:cNvPr id="30" name="Tech heading"/>
          <p:cNvSpPr txBox="1"/>
          <p:nvPr/>
        </p:nvSpPr>
        <p:spPr>
          <a:xfrm>
            <a:off x="5852160" y="4069080"/>
            <a:ext cx="5760720" cy="36576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Technology Used</a:t>
            </a:r>
            <a:endParaRPr lang="en-US" sz="1800" dirty="0"/>
          </a:p>
        </p:txBody>
      </p:sp>
      <p:sp>
        <p:nvSpPr>
          <p:cNvPr id="31" name="Python 3 chip"/>
          <p:cNvSpPr/>
          <p:nvPr/>
        </p:nvSpPr>
        <p:spPr>
          <a:xfrm>
            <a:off x="5852160" y="4572000"/>
            <a:ext cx="1088136" cy="384048"/>
          </a:xfrm>
          <a:prstGeom prst="roundRect">
            <a:avLst>
              <a:gd name="adj" fmla="val 47619"/>
            </a:avLst>
          </a:prstGeom>
          <a:solidFill>
            <a:schemeClr val="accent1"/>
          </a:solidFill>
          <a:ln/>
        </p:spPr>
      </p:sp>
      <p:sp>
        <p:nvSpPr>
          <p:cNvPr id="32" name="Python 3 label"/>
          <p:cNvSpPr txBox="1"/>
          <p:nvPr/>
        </p:nvSpPr>
        <p:spPr>
          <a:xfrm>
            <a:off x="5852160" y="4572000"/>
            <a:ext cx="1088136" cy="384048"/>
          </a:xfrm>
          <a:prstGeom prst="rect">
            <a:avLst/>
          </a:prstGeom>
          <a:noFill/>
          <a:ln/>
        </p:spPr>
        <p:txBody>
          <a:bodyPr wrap="square" lIns="0" tIns="0" rIns="0" bIns="0" rtlCol="0" anchor="ctr"/>
          <a:lstStyle/>
          <a:p>
            <a:pPr algn="ctr" indent="0" marL="0">
              <a:buNone/>
            </a:pPr>
            <a:r>
              <a:rPr lang="en-US" sz="1300" b="1" dirty="0">
                <a:solidFill>
                  <a:schemeClr val="bg1"/>
                </a:solidFill>
              </a:rPr>
              <a:t>Python 3</a:t>
            </a:r>
            <a:endParaRPr lang="en-US" sz="1300" dirty="0"/>
          </a:p>
        </p:txBody>
      </p:sp>
      <p:sp>
        <p:nvSpPr>
          <p:cNvPr id="33" name="Flask chip"/>
          <p:cNvSpPr/>
          <p:nvPr/>
        </p:nvSpPr>
        <p:spPr>
          <a:xfrm>
            <a:off x="7077456" y="4572000"/>
            <a:ext cx="800100" cy="384048"/>
          </a:xfrm>
          <a:prstGeom prst="roundRect">
            <a:avLst>
              <a:gd name="adj" fmla="val 47619"/>
            </a:avLst>
          </a:prstGeom>
          <a:solidFill>
            <a:schemeClr val="accent1"/>
          </a:solidFill>
          <a:ln/>
        </p:spPr>
      </p:sp>
      <p:sp>
        <p:nvSpPr>
          <p:cNvPr id="34" name="Flask label"/>
          <p:cNvSpPr txBox="1"/>
          <p:nvPr/>
        </p:nvSpPr>
        <p:spPr>
          <a:xfrm>
            <a:off x="7077456" y="4572000"/>
            <a:ext cx="800100" cy="384048"/>
          </a:xfrm>
          <a:prstGeom prst="rect">
            <a:avLst/>
          </a:prstGeom>
          <a:noFill/>
          <a:ln/>
        </p:spPr>
        <p:txBody>
          <a:bodyPr wrap="square" lIns="0" tIns="0" rIns="0" bIns="0" rtlCol="0" anchor="ctr"/>
          <a:lstStyle/>
          <a:p>
            <a:pPr algn="ctr" indent="0" marL="0">
              <a:buNone/>
            </a:pPr>
            <a:r>
              <a:rPr lang="en-US" sz="1300" b="1" dirty="0">
                <a:solidFill>
                  <a:schemeClr val="bg1"/>
                </a:solidFill>
              </a:rPr>
              <a:t>Flask</a:t>
            </a:r>
            <a:endParaRPr lang="en-US" sz="1300" dirty="0"/>
          </a:p>
        </p:txBody>
      </p:sp>
      <p:sp>
        <p:nvSpPr>
          <p:cNvPr id="35" name="SQLite chip"/>
          <p:cNvSpPr/>
          <p:nvPr/>
        </p:nvSpPr>
        <p:spPr>
          <a:xfrm>
            <a:off x="8014716" y="4572000"/>
            <a:ext cx="896112" cy="384048"/>
          </a:xfrm>
          <a:prstGeom prst="roundRect">
            <a:avLst>
              <a:gd name="adj" fmla="val 47619"/>
            </a:avLst>
          </a:prstGeom>
          <a:solidFill>
            <a:schemeClr val="accent1"/>
          </a:solidFill>
          <a:ln/>
        </p:spPr>
      </p:sp>
      <p:sp>
        <p:nvSpPr>
          <p:cNvPr id="36" name="SQLite label"/>
          <p:cNvSpPr txBox="1"/>
          <p:nvPr/>
        </p:nvSpPr>
        <p:spPr>
          <a:xfrm>
            <a:off x="8014716" y="4572000"/>
            <a:ext cx="896112" cy="384048"/>
          </a:xfrm>
          <a:prstGeom prst="rect">
            <a:avLst/>
          </a:prstGeom>
          <a:noFill/>
          <a:ln/>
        </p:spPr>
        <p:txBody>
          <a:bodyPr wrap="square" lIns="0" tIns="0" rIns="0" bIns="0" rtlCol="0" anchor="ctr"/>
          <a:lstStyle/>
          <a:p>
            <a:pPr algn="ctr" indent="0" marL="0">
              <a:buNone/>
            </a:pPr>
            <a:r>
              <a:rPr lang="en-US" sz="1300" b="1" dirty="0">
                <a:solidFill>
                  <a:schemeClr val="bg1"/>
                </a:solidFill>
              </a:rPr>
              <a:t>SQLite</a:t>
            </a:r>
            <a:endParaRPr lang="en-US" sz="1300" dirty="0"/>
          </a:p>
        </p:txBody>
      </p:sp>
      <p:sp>
        <p:nvSpPr>
          <p:cNvPr id="37" name="HTML / CSS chip"/>
          <p:cNvSpPr/>
          <p:nvPr/>
        </p:nvSpPr>
        <p:spPr>
          <a:xfrm>
            <a:off x="9047988" y="4572000"/>
            <a:ext cx="1280160" cy="384048"/>
          </a:xfrm>
          <a:prstGeom prst="roundRect">
            <a:avLst>
              <a:gd name="adj" fmla="val 47619"/>
            </a:avLst>
          </a:prstGeom>
          <a:solidFill>
            <a:schemeClr val="accent1"/>
          </a:solidFill>
          <a:ln/>
        </p:spPr>
      </p:sp>
      <p:sp>
        <p:nvSpPr>
          <p:cNvPr id="38" name="HTML / CSS label"/>
          <p:cNvSpPr txBox="1"/>
          <p:nvPr/>
        </p:nvSpPr>
        <p:spPr>
          <a:xfrm>
            <a:off x="9047988" y="4572000"/>
            <a:ext cx="1280160" cy="384048"/>
          </a:xfrm>
          <a:prstGeom prst="rect">
            <a:avLst/>
          </a:prstGeom>
          <a:noFill/>
          <a:ln/>
        </p:spPr>
        <p:txBody>
          <a:bodyPr wrap="square" lIns="0" tIns="0" rIns="0" bIns="0" rtlCol="0" anchor="ctr"/>
          <a:lstStyle/>
          <a:p>
            <a:pPr algn="ctr" indent="0" marL="0">
              <a:buNone/>
            </a:pPr>
            <a:r>
              <a:rPr lang="en-US" sz="1300" b="1" dirty="0">
                <a:solidFill>
                  <a:schemeClr val="bg1"/>
                </a:solidFill>
              </a:rPr>
              <a:t>HTML / CSS</a:t>
            </a:r>
            <a:endParaRPr lang="en-US" sz="1300" dirty="0"/>
          </a:p>
        </p:txBody>
      </p:sp>
      <p:sp>
        <p:nvSpPr>
          <p:cNvPr id="39" name="Selenium 4 chip"/>
          <p:cNvSpPr/>
          <p:nvPr/>
        </p:nvSpPr>
        <p:spPr>
          <a:xfrm>
            <a:off x="5852160" y="5074920"/>
            <a:ext cx="1280160" cy="384048"/>
          </a:xfrm>
          <a:prstGeom prst="roundRect">
            <a:avLst>
              <a:gd name="adj" fmla="val 47619"/>
            </a:avLst>
          </a:prstGeom>
          <a:solidFill>
            <a:schemeClr val="accent1"/>
          </a:solidFill>
          <a:ln/>
        </p:spPr>
      </p:sp>
      <p:sp>
        <p:nvSpPr>
          <p:cNvPr id="40" name="Selenium 4 label"/>
          <p:cNvSpPr txBox="1"/>
          <p:nvPr/>
        </p:nvSpPr>
        <p:spPr>
          <a:xfrm>
            <a:off x="5852160" y="5074920"/>
            <a:ext cx="1280160" cy="384048"/>
          </a:xfrm>
          <a:prstGeom prst="rect">
            <a:avLst/>
          </a:prstGeom>
          <a:noFill/>
          <a:ln/>
        </p:spPr>
        <p:txBody>
          <a:bodyPr wrap="square" lIns="0" tIns="0" rIns="0" bIns="0" rtlCol="0" anchor="ctr"/>
          <a:lstStyle/>
          <a:p>
            <a:pPr algn="ctr" indent="0" marL="0">
              <a:buNone/>
            </a:pPr>
            <a:r>
              <a:rPr lang="en-US" sz="1300" b="1" dirty="0">
                <a:solidFill>
                  <a:schemeClr val="bg1"/>
                </a:solidFill>
              </a:rPr>
              <a:t>Selenium 4</a:t>
            </a:r>
            <a:endParaRPr lang="en-US" sz="1300" dirty="0"/>
          </a:p>
        </p:txBody>
      </p:sp>
      <p:sp>
        <p:nvSpPr>
          <p:cNvPr id="41" name="PyTest chip"/>
          <p:cNvSpPr/>
          <p:nvPr/>
        </p:nvSpPr>
        <p:spPr>
          <a:xfrm>
            <a:off x="7269480" y="5074920"/>
            <a:ext cx="896112" cy="384048"/>
          </a:xfrm>
          <a:prstGeom prst="roundRect">
            <a:avLst>
              <a:gd name="adj" fmla="val 47619"/>
            </a:avLst>
          </a:prstGeom>
          <a:solidFill>
            <a:schemeClr val="accent1"/>
          </a:solidFill>
          <a:ln/>
        </p:spPr>
      </p:sp>
      <p:sp>
        <p:nvSpPr>
          <p:cNvPr id="42" name="PyTest label"/>
          <p:cNvSpPr txBox="1"/>
          <p:nvPr/>
        </p:nvSpPr>
        <p:spPr>
          <a:xfrm>
            <a:off x="7269480" y="5074920"/>
            <a:ext cx="896112" cy="384048"/>
          </a:xfrm>
          <a:prstGeom prst="rect">
            <a:avLst/>
          </a:prstGeom>
          <a:noFill/>
          <a:ln/>
        </p:spPr>
        <p:txBody>
          <a:bodyPr wrap="square" lIns="0" tIns="0" rIns="0" bIns="0" rtlCol="0" anchor="ctr"/>
          <a:lstStyle/>
          <a:p>
            <a:pPr algn="ctr" indent="0" marL="0">
              <a:buNone/>
            </a:pPr>
            <a:r>
              <a:rPr lang="en-US" sz="1300" b="1" dirty="0">
                <a:solidFill>
                  <a:schemeClr val="bg1"/>
                </a:solidFill>
              </a:rPr>
              <a:t>PyTest</a:t>
            </a:r>
            <a:endParaRPr lang="en-US" sz="1300" dirty="0"/>
          </a:p>
        </p:txBody>
      </p:sp>
      <p:sp>
        <p:nvSpPr>
          <p:cNvPr id="43" name="pytest-html chip"/>
          <p:cNvSpPr/>
          <p:nvPr/>
        </p:nvSpPr>
        <p:spPr>
          <a:xfrm>
            <a:off x="8302752" y="5074920"/>
            <a:ext cx="1376172" cy="384048"/>
          </a:xfrm>
          <a:prstGeom prst="roundRect">
            <a:avLst>
              <a:gd name="adj" fmla="val 47619"/>
            </a:avLst>
          </a:prstGeom>
          <a:solidFill>
            <a:schemeClr val="accent1"/>
          </a:solidFill>
          <a:ln/>
        </p:spPr>
      </p:sp>
      <p:sp>
        <p:nvSpPr>
          <p:cNvPr id="44" name="pytest-html label"/>
          <p:cNvSpPr txBox="1"/>
          <p:nvPr/>
        </p:nvSpPr>
        <p:spPr>
          <a:xfrm>
            <a:off x="8302752" y="5074920"/>
            <a:ext cx="1376172" cy="384048"/>
          </a:xfrm>
          <a:prstGeom prst="rect">
            <a:avLst/>
          </a:prstGeom>
          <a:noFill/>
          <a:ln/>
        </p:spPr>
        <p:txBody>
          <a:bodyPr wrap="square" lIns="0" tIns="0" rIns="0" bIns="0" rtlCol="0" anchor="ctr"/>
          <a:lstStyle/>
          <a:p>
            <a:pPr algn="ctr" indent="0" marL="0">
              <a:buNone/>
            </a:pPr>
            <a:r>
              <a:rPr lang="en-US" sz="1300" b="1" dirty="0">
                <a:solidFill>
                  <a:schemeClr val="bg1"/>
                </a:solidFill>
              </a:rPr>
              <a:t>pytest-html</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Selenium: The Testing Tool</a:t>
            </a:r>
            <a:endParaRPr lang="en-US" sz="3400" dirty="0"/>
          </a:p>
        </p:txBody>
      </p:sp>
      <p:sp>
        <p:nvSpPr>
          <p:cNvPr id="3" name="Selenium intro"/>
          <p:cNvSpPr txBox="1"/>
          <p:nvPr/>
        </p:nvSpPr>
        <p:spPr>
          <a:xfrm>
            <a:off x="548640" y="1188720"/>
            <a:ext cx="11064240" cy="457200"/>
          </a:xfrm>
          <a:prstGeom prst="rect">
            <a:avLst/>
          </a:prstGeom>
          <a:noFill/>
          <a:ln/>
        </p:spPr>
        <p:txBody>
          <a:bodyPr wrap="square" lIns="0" tIns="0" rIns="0" bIns="0" rtlCol="0" anchor="ctr"/>
          <a:lstStyle/>
          <a:p>
            <a:pPr indent="0" marL="0">
              <a:buNone/>
            </a:pPr>
            <a:r>
              <a:rPr lang="en-US" sz="1600" dirty="0">
                <a:solidFill>
                  <a:schemeClr val="tx1"/>
                </a:solidFill>
              </a:rPr>
              <a:t>Open-source tool that automates web browsers (Chrome, Firefox, Edge, Safari) to test web applications.</a:t>
            </a:r>
            <a:endParaRPr lang="en-US" sz="1600" dirty="0"/>
          </a:p>
        </p:txBody>
      </p:sp>
      <p:sp>
        <p:nvSpPr>
          <p:cNvPr id="4" name="Selenium WebDriver card"/>
          <p:cNvSpPr/>
          <p:nvPr/>
        </p:nvSpPr>
        <p:spPr>
          <a:xfrm>
            <a:off x="548640" y="1828800"/>
            <a:ext cx="3520440" cy="2103120"/>
          </a:xfrm>
          <a:prstGeom prst="roundRect">
            <a:avLst>
              <a:gd name="adj" fmla="val 4348"/>
            </a:avLst>
          </a:prstGeom>
          <a:solidFill>
            <a:schemeClr val="accent1"/>
          </a:solidFill>
          <a:ln/>
        </p:spPr>
      </p:sp>
      <p:sp>
        <p:nvSpPr>
          <p:cNvPr id="5" name="Selenium WebDriver icon circle"/>
          <p:cNvSpPr/>
          <p:nvPr/>
        </p:nvSpPr>
        <p:spPr>
          <a:xfrm>
            <a:off x="777240" y="2057400"/>
            <a:ext cx="685800" cy="685800"/>
          </a:xfrm>
          <a:prstGeom prst="ellipse">
            <a:avLst/>
          </a:prstGeom>
          <a:solidFill>
            <a:schemeClr val="tx2"/>
          </a:solidFill>
          <a:ln/>
        </p:spPr>
      </p:sp>
      <p:pic>
        <p:nvPicPr>
          <p:cNvPr id="6" name="Selenium WebDriver icon" descr="preencoded.png">    </p:cNvPr>
          <p:cNvPicPr>
            <a:picLocks noChangeAspect="1"/>
          </p:cNvPicPr>
          <p:nvPr/>
        </p:nvPicPr>
        <p:blipFill>
          <a:blip r:embed="rId1"/>
          <a:stretch>
            <a:fillRect/>
          </a:stretch>
        </p:blipFill>
        <p:spPr>
          <a:xfrm>
            <a:off x="948690" y="2228850"/>
            <a:ext cx="342900" cy="342900"/>
          </a:xfrm>
          <a:prstGeom prst="rect">
            <a:avLst/>
          </a:prstGeom>
        </p:spPr>
      </p:pic>
      <p:sp>
        <p:nvSpPr>
          <p:cNvPr id="7" name="Selenium WebDriver title"/>
          <p:cNvSpPr txBox="1"/>
          <p:nvPr/>
        </p:nvSpPr>
        <p:spPr>
          <a:xfrm>
            <a:off x="1600200" y="2057400"/>
            <a:ext cx="2377440" cy="685800"/>
          </a:xfrm>
          <a:prstGeom prst="rect">
            <a:avLst/>
          </a:prstGeom>
          <a:noFill/>
          <a:ln/>
        </p:spPr>
        <p:txBody>
          <a:bodyPr wrap="square" lIns="0" tIns="0" rIns="0" bIns="0" rtlCol="0" anchor="ctr"/>
          <a:lstStyle/>
          <a:p>
            <a:pPr indent="0" marL="0">
              <a:buNone/>
            </a:pPr>
            <a:r>
              <a:rPr lang="en-US" sz="1800" b="1" dirty="0">
                <a:solidFill>
                  <a:schemeClr val="bg1"/>
                </a:solidFill>
              </a:rPr>
              <a:t>Selenium WebDriver</a:t>
            </a:r>
            <a:endParaRPr lang="en-US" sz="1800" dirty="0"/>
          </a:p>
        </p:txBody>
      </p:sp>
      <p:sp>
        <p:nvSpPr>
          <p:cNvPr id="8" name="Selenium WebDriver description"/>
          <p:cNvSpPr txBox="1"/>
          <p:nvPr/>
        </p:nvSpPr>
        <p:spPr>
          <a:xfrm>
            <a:off x="777240" y="2834640"/>
            <a:ext cx="3108960" cy="960120"/>
          </a:xfrm>
          <a:prstGeom prst="rect">
            <a:avLst/>
          </a:prstGeom>
          <a:noFill/>
          <a:ln/>
        </p:spPr>
        <p:txBody>
          <a:bodyPr wrap="square" lIns="0" tIns="0" rIns="0" bIns="0" rtlCol="0" anchor="t"/>
          <a:lstStyle/>
          <a:p>
            <a:pPr indent="0" marL="0">
              <a:buNone/>
            </a:pPr>
            <a:r>
              <a:rPr lang="en-US" sz="1400" dirty="0">
                <a:solidFill>
                  <a:schemeClr val="bg1"/>
                </a:solidFill>
              </a:rPr>
              <a:t>Controls the browser from code: open pages, find elements, type text, click buttons, read results.</a:t>
            </a:r>
            <a:endParaRPr lang="en-US" sz="1400" dirty="0"/>
          </a:p>
        </p:txBody>
      </p:sp>
      <p:sp>
        <p:nvSpPr>
          <p:cNvPr id="9" name="Selenium IDE card"/>
          <p:cNvSpPr/>
          <p:nvPr/>
        </p:nvSpPr>
        <p:spPr>
          <a:xfrm>
            <a:off x="4297680" y="1828800"/>
            <a:ext cx="3520440" cy="2103120"/>
          </a:xfrm>
          <a:prstGeom prst="roundRect">
            <a:avLst>
              <a:gd name="adj" fmla="val 4348"/>
            </a:avLst>
          </a:prstGeom>
          <a:solidFill>
            <a:schemeClr val="bg2"/>
          </a:solidFill>
          <a:ln/>
        </p:spPr>
      </p:sp>
      <p:sp>
        <p:nvSpPr>
          <p:cNvPr id="10" name="Selenium IDE icon circle"/>
          <p:cNvSpPr/>
          <p:nvPr/>
        </p:nvSpPr>
        <p:spPr>
          <a:xfrm>
            <a:off x="4526280" y="2057400"/>
            <a:ext cx="685800" cy="685800"/>
          </a:xfrm>
          <a:prstGeom prst="ellipse">
            <a:avLst/>
          </a:prstGeom>
          <a:solidFill>
            <a:schemeClr val="accent1"/>
          </a:solidFill>
          <a:ln/>
        </p:spPr>
      </p:sp>
      <p:pic>
        <p:nvPicPr>
          <p:cNvPr id="11" name="Selenium IDE icon" descr="preencoded.png">    </p:cNvPr>
          <p:cNvPicPr>
            <a:picLocks noChangeAspect="1"/>
          </p:cNvPicPr>
          <p:nvPr/>
        </p:nvPicPr>
        <p:blipFill>
          <a:blip r:embed="rId2"/>
          <a:stretch>
            <a:fillRect/>
          </a:stretch>
        </p:blipFill>
        <p:spPr>
          <a:xfrm>
            <a:off x="4697730" y="2228850"/>
            <a:ext cx="342900" cy="342900"/>
          </a:xfrm>
          <a:prstGeom prst="rect">
            <a:avLst/>
          </a:prstGeom>
        </p:spPr>
      </p:pic>
      <p:sp>
        <p:nvSpPr>
          <p:cNvPr id="12" name="Selenium IDE title"/>
          <p:cNvSpPr txBox="1"/>
          <p:nvPr/>
        </p:nvSpPr>
        <p:spPr>
          <a:xfrm>
            <a:off x="5349240" y="2057400"/>
            <a:ext cx="2377440" cy="685800"/>
          </a:xfrm>
          <a:prstGeom prst="rect">
            <a:avLst/>
          </a:prstGeom>
          <a:noFill/>
          <a:ln/>
        </p:spPr>
        <p:txBody>
          <a:bodyPr wrap="square" lIns="0" tIns="0" rIns="0" bIns="0" rtlCol="0" anchor="ctr"/>
          <a:lstStyle/>
          <a:p>
            <a:pPr indent="0" marL="0">
              <a:buNone/>
            </a:pPr>
            <a:r>
              <a:rPr lang="en-US" sz="1800" b="1" dirty="0">
                <a:solidFill>
                  <a:schemeClr val="tx2"/>
                </a:solidFill>
              </a:rPr>
              <a:t>Selenium IDE</a:t>
            </a:r>
            <a:endParaRPr lang="en-US" sz="1800" dirty="0"/>
          </a:p>
        </p:txBody>
      </p:sp>
      <p:sp>
        <p:nvSpPr>
          <p:cNvPr id="13" name="Selenium IDE description"/>
          <p:cNvSpPr txBox="1"/>
          <p:nvPr/>
        </p:nvSpPr>
        <p:spPr>
          <a:xfrm>
            <a:off x="4526280" y="2834640"/>
            <a:ext cx="3108960" cy="960120"/>
          </a:xfrm>
          <a:prstGeom prst="rect">
            <a:avLst/>
          </a:prstGeom>
          <a:noFill/>
          <a:ln/>
        </p:spPr>
        <p:txBody>
          <a:bodyPr wrap="square" lIns="0" tIns="0" rIns="0" bIns="0" rtlCol="0" anchor="t"/>
          <a:lstStyle/>
          <a:p>
            <a:pPr indent="0" marL="0">
              <a:buNone/>
            </a:pPr>
            <a:r>
              <a:rPr lang="en-US" sz="1400" dirty="0">
                <a:solidFill>
                  <a:schemeClr val="tx1"/>
                </a:solidFill>
              </a:rPr>
              <a:t>Browser extension that records and replays user actions. Simple tests without much code.</a:t>
            </a:r>
            <a:endParaRPr lang="en-US" sz="1400" dirty="0"/>
          </a:p>
        </p:txBody>
      </p:sp>
      <p:sp>
        <p:nvSpPr>
          <p:cNvPr id="14" name="Selenium Grid card"/>
          <p:cNvSpPr/>
          <p:nvPr/>
        </p:nvSpPr>
        <p:spPr>
          <a:xfrm>
            <a:off x="8046720" y="1828800"/>
            <a:ext cx="3520440" cy="2103120"/>
          </a:xfrm>
          <a:prstGeom prst="roundRect">
            <a:avLst>
              <a:gd name="adj" fmla="val 4348"/>
            </a:avLst>
          </a:prstGeom>
          <a:solidFill>
            <a:schemeClr val="bg2"/>
          </a:solidFill>
          <a:ln/>
        </p:spPr>
      </p:sp>
      <p:sp>
        <p:nvSpPr>
          <p:cNvPr id="15" name="Selenium Grid icon circle"/>
          <p:cNvSpPr/>
          <p:nvPr/>
        </p:nvSpPr>
        <p:spPr>
          <a:xfrm>
            <a:off x="8275320" y="2057400"/>
            <a:ext cx="685800" cy="685800"/>
          </a:xfrm>
          <a:prstGeom prst="ellipse">
            <a:avLst/>
          </a:prstGeom>
          <a:solidFill>
            <a:schemeClr val="accent1"/>
          </a:solidFill>
          <a:ln/>
        </p:spPr>
      </p:sp>
      <p:pic>
        <p:nvPicPr>
          <p:cNvPr id="16" name="Selenium Grid icon" descr="preencoded.png">    </p:cNvPr>
          <p:cNvPicPr>
            <a:picLocks noChangeAspect="1"/>
          </p:cNvPicPr>
          <p:nvPr/>
        </p:nvPicPr>
        <p:blipFill>
          <a:blip r:embed="rId3"/>
          <a:stretch>
            <a:fillRect/>
          </a:stretch>
        </p:blipFill>
        <p:spPr>
          <a:xfrm>
            <a:off x="8446770" y="2228850"/>
            <a:ext cx="342900" cy="342900"/>
          </a:xfrm>
          <a:prstGeom prst="rect">
            <a:avLst/>
          </a:prstGeom>
        </p:spPr>
      </p:pic>
      <p:sp>
        <p:nvSpPr>
          <p:cNvPr id="17" name="Selenium Grid title"/>
          <p:cNvSpPr txBox="1"/>
          <p:nvPr/>
        </p:nvSpPr>
        <p:spPr>
          <a:xfrm>
            <a:off x="9098280" y="2057400"/>
            <a:ext cx="2377440" cy="685800"/>
          </a:xfrm>
          <a:prstGeom prst="rect">
            <a:avLst/>
          </a:prstGeom>
          <a:noFill/>
          <a:ln/>
        </p:spPr>
        <p:txBody>
          <a:bodyPr wrap="square" lIns="0" tIns="0" rIns="0" bIns="0" rtlCol="0" anchor="ctr"/>
          <a:lstStyle/>
          <a:p>
            <a:pPr indent="0" marL="0">
              <a:buNone/>
            </a:pPr>
            <a:r>
              <a:rPr lang="en-US" sz="1800" b="1" dirty="0">
                <a:solidFill>
                  <a:schemeClr val="tx2"/>
                </a:solidFill>
              </a:rPr>
              <a:t>Selenium Grid</a:t>
            </a:r>
            <a:endParaRPr lang="en-US" sz="1800" dirty="0"/>
          </a:p>
        </p:txBody>
      </p:sp>
      <p:sp>
        <p:nvSpPr>
          <p:cNvPr id="18" name="Selenium Grid description"/>
          <p:cNvSpPr txBox="1"/>
          <p:nvPr/>
        </p:nvSpPr>
        <p:spPr>
          <a:xfrm>
            <a:off x="8275320" y="2834640"/>
            <a:ext cx="3108960" cy="960120"/>
          </a:xfrm>
          <a:prstGeom prst="rect">
            <a:avLst/>
          </a:prstGeom>
          <a:noFill/>
          <a:ln/>
        </p:spPr>
        <p:txBody>
          <a:bodyPr wrap="square" lIns="0" tIns="0" rIns="0" bIns="0" rtlCol="0" anchor="t"/>
          <a:lstStyle/>
          <a:p>
            <a:pPr indent="0" marL="0">
              <a:buNone/>
            </a:pPr>
            <a:r>
              <a:rPr lang="en-US" sz="1400" dirty="0">
                <a:solidFill>
                  <a:schemeClr val="tx1"/>
                </a:solidFill>
              </a:rPr>
              <a:t>Runs the same tests on many browsers and machines in parallel.</a:t>
            </a:r>
            <a:endParaRPr lang="en-US" sz="1400" dirty="0"/>
          </a:p>
        </p:txBody>
      </p:sp>
      <p:sp>
        <p:nvSpPr>
          <p:cNvPr id="19" name="Used badge"/>
          <p:cNvSpPr txBox="1"/>
          <p:nvPr/>
        </p:nvSpPr>
        <p:spPr>
          <a:xfrm>
            <a:off x="777240" y="4005072"/>
            <a:ext cx="3108960" cy="274320"/>
          </a:xfrm>
          <a:prstGeom prst="rect">
            <a:avLst/>
          </a:prstGeom>
          <a:noFill/>
          <a:ln/>
        </p:spPr>
        <p:txBody>
          <a:bodyPr wrap="square" lIns="0" tIns="0" rIns="0" bIns="0" rtlCol="0" anchor="ctr"/>
          <a:lstStyle/>
          <a:p>
            <a:pPr indent="0" marL="0">
              <a:buNone/>
            </a:pPr>
            <a:r>
              <a:rPr lang="en-US" sz="1200" b="1" i="1" dirty="0">
                <a:solidFill>
                  <a:schemeClr val="accent1"/>
                </a:solidFill>
              </a:rPr>
              <a:t>Used in our project</a:t>
            </a:r>
            <a:endParaRPr lang="en-US" sz="1200" dirty="0"/>
          </a:p>
        </p:txBody>
      </p:sp>
      <p:sp>
        <p:nvSpPr>
          <p:cNvPr id="20" name="Workflow heading"/>
          <p:cNvSpPr txBox="1"/>
          <p:nvPr/>
        </p:nvSpPr>
        <p:spPr>
          <a:xfrm>
            <a:off x="548640" y="4389120"/>
            <a:ext cx="11064240" cy="36576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Selenium workflow in our project</a:t>
            </a:r>
            <a:endParaRPr lang="en-US" sz="1800" dirty="0"/>
          </a:p>
        </p:txBody>
      </p:sp>
      <p:sp>
        <p:nvSpPr>
          <p:cNvPr id="21" name="Step 1"/>
          <p:cNvSpPr/>
          <p:nvPr/>
        </p:nvSpPr>
        <p:spPr>
          <a:xfrm>
            <a:off x="548640" y="4846320"/>
            <a:ext cx="1554480" cy="685800"/>
          </a:xfrm>
          <a:prstGeom prst="chevron">
            <a:avLst/>
          </a:prstGeom>
          <a:solidFill>
            <a:schemeClr val="accent1"/>
          </a:solidFill>
          <a:ln/>
        </p:spPr>
      </p:sp>
      <p:sp>
        <p:nvSpPr>
          <p:cNvPr id="22" name="Step 1 number"/>
          <p:cNvSpPr txBox="1"/>
          <p:nvPr/>
        </p:nvSpPr>
        <p:spPr>
          <a:xfrm>
            <a:off x="8686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23" name="Step 1 label"/>
          <p:cNvSpPr txBox="1"/>
          <p:nvPr/>
        </p:nvSpPr>
        <p:spPr>
          <a:xfrm>
            <a:off x="5943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Launch Browser</a:t>
            </a:r>
            <a:endParaRPr lang="en-US" sz="1300" dirty="0"/>
          </a:p>
        </p:txBody>
      </p:sp>
      <p:sp>
        <p:nvSpPr>
          <p:cNvPr id="24" name="Step 2"/>
          <p:cNvSpPr/>
          <p:nvPr/>
        </p:nvSpPr>
        <p:spPr>
          <a:xfrm>
            <a:off x="2148840" y="4846320"/>
            <a:ext cx="1554480" cy="685800"/>
          </a:xfrm>
          <a:prstGeom prst="chevron">
            <a:avLst/>
          </a:prstGeom>
          <a:solidFill>
            <a:schemeClr val="accent1"/>
          </a:solidFill>
          <a:ln/>
        </p:spPr>
      </p:sp>
      <p:sp>
        <p:nvSpPr>
          <p:cNvPr id="25" name="Step 2 number"/>
          <p:cNvSpPr txBox="1"/>
          <p:nvPr/>
        </p:nvSpPr>
        <p:spPr>
          <a:xfrm>
            <a:off x="24688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26" name="Step 2 label"/>
          <p:cNvSpPr txBox="1"/>
          <p:nvPr/>
        </p:nvSpPr>
        <p:spPr>
          <a:xfrm>
            <a:off x="21945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Open HMS</a:t>
            </a:r>
            <a:endParaRPr lang="en-US" sz="1300" dirty="0"/>
          </a:p>
        </p:txBody>
      </p:sp>
      <p:sp>
        <p:nvSpPr>
          <p:cNvPr id="27" name="Step 3"/>
          <p:cNvSpPr/>
          <p:nvPr/>
        </p:nvSpPr>
        <p:spPr>
          <a:xfrm>
            <a:off x="3749040" y="4846320"/>
            <a:ext cx="1554480" cy="685800"/>
          </a:xfrm>
          <a:prstGeom prst="chevron">
            <a:avLst/>
          </a:prstGeom>
          <a:solidFill>
            <a:schemeClr val="accent1"/>
          </a:solidFill>
          <a:ln/>
        </p:spPr>
      </p:sp>
      <p:sp>
        <p:nvSpPr>
          <p:cNvPr id="28" name="Step 3 number"/>
          <p:cNvSpPr txBox="1"/>
          <p:nvPr/>
        </p:nvSpPr>
        <p:spPr>
          <a:xfrm>
            <a:off x="40690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9" name="Step 3 label"/>
          <p:cNvSpPr txBox="1"/>
          <p:nvPr/>
        </p:nvSpPr>
        <p:spPr>
          <a:xfrm>
            <a:off x="37947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Locate Elements</a:t>
            </a:r>
            <a:endParaRPr lang="en-US" sz="1300" dirty="0"/>
          </a:p>
        </p:txBody>
      </p:sp>
      <p:sp>
        <p:nvSpPr>
          <p:cNvPr id="30" name="Step 4"/>
          <p:cNvSpPr/>
          <p:nvPr/>
        </p:nvSpPr>
        <p:spPr>
          <a:xfrm>
            <a:off x="5349240" y="4846320"/>
            <a:ext cx="1554480" cy="685800"/>
          </a:xfrm>
          <a:prstGeom prst="chevron">
            <a:avLst/>
          </a:prstGeom>
          <a:solidFill>
            <a:schemeClr val="accent1"/>
          </a:solidFill>
          <a:ln/>
        </p:spPr>
      </p:sp>
      <p:sp>
        <p:nvSpPr>
          <p:cNvPr id="31" name="Step 4 number"/>
          <p:cNvSpPr txBox="1"/>
          <p:nvPr/>
        </p:nvSpPr>
        <p:spPr>
          <a:xfrm>
            <a:off x="56692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32" name="Step 4 label"/>
          <p:cNvSpPr txBox="1"/>
          <p:nvPr/>
        </p:nvSpPr>
        <p:spPr>
          <a:xfrm>
            <a:off x="53949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Perform Actions</a:t>
            </a:r>
            <a:endParaRPr lang="en-US" sz="1300" dirty="0"/>
          </a:p>
        </p:txBody>
      </p:sp>
      <p:sp>
        <p:nvSpPr>
          <p:cNvPr id="33" name="Step 5"/>
          <p:cNvSpPr/>
          <p:nvPr/>
        </p:nvSpPr>
        <p:spPr>
          <a:xfrm>
            <a:off x="6949440" y="4846320"/>
            <a:ext cx="1554480" cy="685800"/>
          </a:xfrm>
          <a:prstGeom prst="chevron">
            <a:avLst/>
          </a:prstGeom>
          <a:solidFill>
            <a:schemeClr val="accent1"/>
          </a:solidFill>
          <a:ln/>
        </p:spPr>
      </p:sp>
      <p:sp>
        <p:nvSpPr>
          <p:cNvPr id="34" name="Step 5 number"/>
          <p:cNvSpPr txBox="1"/>
          <p:nvPr/>
        </p:nvSpPr>
        <p:spPr>
          <a:xfrm>
            <a:off x="72694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35" name="Step 5 label"/>
          <p:cNvSpPr txBox="1"/>
          <p:nvPr/>
        </p:nvSpPr>
        <p:spPr>
          <a:xfrm>
            <a:off x="69951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Submit Data</a:t>
            </a:r>
            <a:endParaRPr lang="en-US" sz="1300" dirty="0"/>
          </a:p>
        </p:txBody>
      </p:sp>
      <p:sp>
        <p:nvSpPr>
          <p:cNvPr id="36" name="Step 6"/>
          <p:cNvSpPr/>
          <p:nvPr/>
        </p:nvSpPr>
        <p:spPr>
          <a:xfrm>
            <a:off x="8549640" y="4846320"/>
            <a:ext cx="1554480" cy="685800"/>
          </a:xfrm>
          <a:prstGeom prst="chevron">
            <a:avLst/>
          </a:prstGeom>
          <a:solidFill>
            <a:schemeClr val="accent4"/>
          </a:solidFill>
          <a:ln/>
        </p:spPr>
      </p:sp>
      <p:sp>
        <p:nvSpPr>
          <p:cNvPr id="37" name="Step 6 number"/>
          <p:cNvSpPr txBox="1"/>
          <p:nvPr/>
        </p:nvSpPr>
        <p:spPr>
          <a:xfrm>
            <a:off x="88696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38" name="Step 6 label"/>
          <p:cNvSpPr txBox="1"/>
          <p:nvPr/>
        </p:nvSpPr>
        <p:spPr>
          <a:xfrm>
            <a:off x="85953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Verify Result</a:t>
            </a:r>
            <a:endParaRPr lang="en-US" sz="1300" dirty="0"/>
          </a:p>
        </p:txBody>
      </p:sp>
      <p:sp>
        <p:nvSpPr>
          <p:cNvPr id="39" name="Step 7"/>
          <p:cNvSpPr/>
          <p:nvPr/>
        </p:nvSpPr>
        <p:spPr>
          <a:xfrm>
            <a:off x="10149840" y="4846320"/>
            <a:ext cx="1554480" cy="685800"/>
          </a:xfrm>
          <a:prstGeom prst="chevron">
            <a:avLst/>
          </a:prstGeom>
          <a:solidFill>
            <a:schemeClr val="accent1"/>
          </a:solidFill>
          <a:ln/>
        </p:spPr>
      </p:sp>
      <p:sp>
        <p:nvSpPr>
          <p:cNvPr id="40" name="Step 7 number"/>
          <p:cNvSpPr txBox="1"/>
          <p:nvPr/>
        </p:nvSpPr>
        <p:spPr>
          <a:xfrm>
            <a:off x="104698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7</a:t>
            </a:r>
            <a:endParaRPr lang="en-US" sz="2000" dirty="0"/>
          </a:p>
        </p:txBody>
      </p:sp>
      <p:sp>
        <p:nvSpPr>
          <p:cNvPr id="41" name="Step 7 label"/>
          <p:cNvSpPr txBox="1"/>
          <p:nvPr/>
        </p:nvSpPr>
        <p:spPr>
          <a:xfrm>
            <a:off x="101955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Record Result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Selenium Test Cases</a:t>
            </a:r>
            <a:endParaRPr lang="en-US" sz="3400" dirty="0"/>
          </a:p>
        </p:txBody>
      </p:sp>
      <p:graphicFrame>
        <p:nvGraphicFramePr>
          <p:cNvPr id="7" name="Test case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914400"/>
                <a:gridCol w="3108960"/>
                <a:gridCol w="3108960"/>
                <a:gridCol w="2926080"/>
                <a:gridCol w="1005840"/>
              </a:tblGrid>
              <a:tr h="402336">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Test Case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Expected Result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Actual</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TC01</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Login with valid details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Correct username / password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Login successful</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TC02</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Login with invalid details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Wrong password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Error message displayed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TC03</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Add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Valid patient details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Patient added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TC04</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Empty patient form</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Empty fields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Validation message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TC05</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Book appointment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Valid doctor / date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Appointment booked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TC06</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Search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Patient ID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Patient details displayed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TC07</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Update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Modified details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Details updated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TC08</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Delete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Existing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Patient removed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TC09</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Logout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Click Logout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User returned to login page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bl>
          </a:graphicData>
        </a:graphic>
      </p:graphicFrame>
      <p:sp>
        <p:nvSpPr>
          <p:cNvPr id="4" name="Extra tests box"/>
          <p:cNvSpPr/>
          <p:nvPr/>
        </p:nvSpPr>
        <p:spPr>
          <a:xfrm>
            <a:off x="548640" y="5440680"/>
            <a:ext cx="11064240" cy="685800"/>
          </a:xfrm>
          <a:prstGeom prst="roundRect">
            <a:avLst>
              <a:gd name="adj" fmla="val 10667"/>
            </a:avLst>
          </a:prstGeom>
          <a:solidFill>
            <a:schemeClr val="bg2"/>
          </a:solidFill>
          <a:ln/>
        </p:spPr>
      </p:sp>
      <p:sp>
        <p:nvSpPr>
          <p:cNvPr id="5" name="Extra tests icon circle"/>
          <p:cNvSpPr/>
          <p:nvPr/>
        </p:nvSpPr>
        <p:spPr>
          <a:xfrm>
            <a:off x="685800" y="5513832"/>
            <a:ext cx="548640" cy="548640"/>
          </a:xfrm>
          <a:prstGeom prst="ellipse">
            <a:avLst/>
          </a:prstGeom>
          <a:solidFill>
            <a:schemeClr val="accent3"/>
          </a:solidFill>
          <a:ln/>
        </p:spPr>
      </p:sp>
      <p:pic>
        <p:nvPicPr>
          <p:cNvPr id="6" name="Extra tests icon" descr="preencoded.png">    </p:cNvPr>
          <p:cNvPicPr>
            <a:picLocks noChangeAspect="1"/>
          </p:cNvPicPr>
          <p:nvPr/>
        </p:nvPicPr>
        <p:blipFill>
          <a:blip r:embed="rId1"/>
          <a:stretch>
            <a:fillRect/>
          </a:stretch>
        </p:blipFill>
        <p:spPr>
          <a:xfrm>
            <a:off x="822960" y="5650992"/>
            <a:ext cx="274320" cy="274320"/>
          </a:xfrm>
          <a:prstGeom prst="rect">
            <a:avLst/>
          </a:prstGeom>
        </p:spPr>
      </p:pic>
      <p:sp>
        <p:nvSpPr>
          <p:cNvPr id="7" name="Extra tests text"/>
          <p:cNvSpPr txBox="1"/>
          <p:nvPr/>
        </p:nvSpPr>
        <p:spPr>
          <a:xfrm>
            <a:off x="1417320" y="5440680"/>
            <a:ext cx="10058400" cy="685800"/>
          </a:xfrm>
          <a:prstGeom prst="rect">
            <a:avLst/>
          </a:prstGeom>
          <a:noFill/>
          <a:ln/>
        </p:spPr>
        <p:txBody>
          <a:bodyPr wrap="square" lIns="0" tIns="0" rIns="0" bIns="0" rtlCol="0" anchor="ctr"/>
          <a:lstStyle/>
          <a:p>
            <a:pPr indent="0" marL="0">
              <a:buNone/>
            </a:pPr>
            <a:r>
              <a:rPr lang="en-US" sz="1400" b="1" dirty="0">
                <a:solidFill>
                  <a:schemeClr val="tx2"/>
                </a:solidFill>
              </a:rPr>
              <a:t>+28 more: </a:t>
            </a:r>
            <a:pPr indent="0" marL="0">
              <a:buNone/>
            </a:pPr>
            <a:r>
              <a:rPr lang="en-US" sz="1400" dirty="0">
                <a:solidFill>
                  <a:schemeClr val="tx1"/>
                </a:solidFill>
              </a:rPr>
              <a:t>TC10–TC13 for the other modules, and TC14–TC37 negative, boundary and security tests (next slide)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Negative, Boundary and Security Tests</a:t>
            </a:r>
            <a:endParaRPr lang="en-US" sz="3400" dirty="0"/>
          </a:p>
        </p:txBody>
      </p:sp>
      <p:sp>
        <p:nvSpPr>
          <p:cNvPr id="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
        <p:nvSpPr>
          <p:cNvPr id="4" name="Positive card"/>
          <p:cNvSpPr/>
          <p:nvPr/>
        </p:nvSpPr>
        <p:spPr>
          <a:xfrm>
            <a:off x="548640" y="1188720"/>
            <a:ext cx="2615184" cy="822960"/>
          </a:xfrm>
          <a:prstGeom prst="roundRect">
            <a:avLst>
              <a:gd name="adj" fmla="val 10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ositive number"/>
          <p:cNvSpPr txBox="1"/>
          <p:nvPr/>
        </p:nvSpPr>
        <p:spPr>
          <a:xfrm>
            <a:off x="713232" y="1188720"/>
            <a:ext cx="731520" cy="822960"/>
          </a:xfrm>
          <a:prstGeom prst="rect">
            <a:avLst/>
          </a:prstGeom>
          <a:noFill/>
        </p:spPr>
        <p:txBody>
          <a:bodyPr wrap="square" lIns="0" rIns="0" tIns="0" bIns="0" anchor="ctr">
            <a:spAutoFit/>
          </a:bodyPr>
          <a:lstStyle/>
          <a:p>
            <a:r>
              <a:rPr sz="3600" b="1">
                <a:solidFill>
                  <a:schemeClr val="accent4"/>
                </a:solidFill>
              </a:rPr>
              <a:t>10</a:t>
            </a:r>
          </a:p>
        </p:txBody>
      </p:sp>
      <p:sp>
        <p:nvSpPr>
          <p:cNvPr id="6" name="Positive label"/>
          <p:cNvSpPr txBox="1"/>
          <p:nvPr/>
        </p:nvSpPr>
        <p:spPr>
          <a:xfrm>
            <a:off x="1444752" y="1261872"/>
            <a:ext cx="1627631" cy="676656"/>
          </a:xfrm>
          <a:prstGeom prst="rect">
            <a:avLst/>
          </a:prstGeom>
          <a:noFill/>
        </p:spPr>
        <p:txBody>
          <a:bodyPr wrap="square" lIns="0" rIns="0" tIns="0" bIns="0" anchor="ctr">
            <a:spAutoFit/>
          </a:bodyPr>
          <a:lstStyle/>
          <a:p>
            <a:r>
              <a:rPr sz="1400" b="1">
                <a:solidFill>
                  <a:schemeClr val="tx2"/>
                </a:solidFill>
              </a:rPr>
              <a:t>Positive</a:t>
            </a:r>
          </a:p>
          <a:p>
            <a:r>
              <a:rPr sz="1200" b="0">
                <a:solidFill>
                  <a:schemeClr val="tx1"/>
                </a:solidFill>
              </a:rPr>
              <a:t>valid input works</a:t>
            </a:r>
          </a:p>
        </p:txBody>
      </p:sp>
      <p:sp>
        <p:nvSpPr>
          <p:cNvPr id="7" name="Negative card"/>
          <p:cNvSpPr/>
          <p:nvPr/>
        </p:nvSpPr>
        <p:spPr>
          <a:xfrm>
            <a:off x="3364992" y="1188720"/>
            <a:ext cx="2615184" cy="822960"/>
          </a:xfrm>
          <a:prstGeom prst="roundRect">
            <a:avLst>
              <a:gd name="adj" fmla="val 10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egative number"/>
          <p:cNvSpPr txBox="1"/>
          <p:nvPr/>
        </p:nvSpPr>
        <p:spPr>
          <a:xfrm>
            <a:off x="3529584" y="1188720"/>
            <a:ext cx="731520" cy="822960"/>
          </a:xfrm>
          <a:prstGeom prst="rect">
            <a:avLst/>
          </a:prstGeom>
          <a:noFill/>
        </p:spPr>
        <p:txBody>
          <a:bodyPr wrap="square" lIns="0" rIns="0" tIns="0" bIns="0" anchor="ctr">
            <a:spAutoFit/>
          </a:bodyPr>
          <a:lstStyle/>
          <a:p>
            <a:r>
              <a:rPr sz="3600" b="1">
                <a:solidFill>
                  <a:schemeClr val="accent3"/>
                </a:solidFill>
              </a:rPr>
              <a:t>17</a:t>
            </a:r>
          </a:p>
        </p:txBody>
      </p:sp>
      <p:sp>
        <p:nvSpPr>
          <p:cNvPr id="9" name="Negative label"/>
          <p:cNvSpPr txBox="1"/>
          <p:nvPr/>
        </p:nvSpPr>
        <p:spPr>
          <a:xfrm>
            <a:off x="4261104" y="1261872"/>
            <a:ext cx="1627631" cy="676656"/>
          </a:xfrm>
          <a:prstGeom prst="rect">
            <a:avLst/>
          </a:prstGeom>
          <a:noFill/>
        </p:spPr>
        <p:txBody>
          <a:bodyPr wrap="square" lIns="0" rIns="0" tIns="0" bIns="0" anchor="ctr">
            <a:spAutoFit/>
          </a:bodyPr>
          <a:lstStyle/>
          <a:p>
            <a:r>
              <a:rPr sz="1400" b="1">
                <a:solidFill>
                  <a:schemeClr val="tx2"/>
                </a:solidFill>
              </a:rPr>
              <a:t>Negative</a:t>
            </a:r>
          </a:p>
          <a:p>
            <a:r>
              <a:rPr sz="1200" b="0">
                <a:solidFill>
                  <a:schemeClr val="tx1"/>
                </a:solidFill>
              </a:rPr>
              <a:t>error shown, nothing saved</a:t>
            </a:r>
          </a:p>
        </p:txBody>
      </p:sp>
      <p:sp>
        <p:nvSpPr>
          <p:cNvPr id="10" name="Boundary / Edge card"/>
          <p:cNvSpPr/>
          <p:nvPr/>
        </p:nvSpPr>
        <p:spPr>
          <a:xfrm>
            <a:off x="6181344" y="1188720"/>
            <a:ext cx="2615184" cy="822960"/>
          </a:xfrm>
          <a:prstGeom prst="roundRect">
            <a:avLst>
              <a:gd name="adj" fmla="val 10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oundary / Edge number"/>
          <p:cNvSpPr txBox="1"/>
          <p:nvPr/>
        </p:nvSpPr>
        <p:spPr>
          <a:xfrm>
            <a:off x="6345936" y="1188720"/>
            <a:ext cx="731520" cy="822960"/>
          </a:xfrm>
          <a:prstGeom prst="rect">
            <a:avLst/>
          </a:prstGeom>
          <a:noFill/>
        </p:spPr>
        <p:txBody>
          <a:bodyPr wrap="square" lIns="0" rIns="0" tIns="0" bIns="0" anchor="ctr">
            <a:spAutoFit/>
          </a:bodyPr>
          <a:lstStyle/>
          <a:p>
            <a:r>
              <a:rPr sz="3600" b="1">
                <a:solidFill>
                  <a:schemeClr val="accent1"/>
                </a:solidFill>
              </a:rPr>
              <a:t>7</a:t>
            </a:r>
          </a:p>
        </p:txBody>
      </p:sp>
      <p:sp>
        <p:nvSpPr>
          <p:cNvPr id="12" name="Boundary / Edge label"/>
          <p:cNvSpPr txBox="1"/>
          <p:nvPr/>
        </p:nvSpPr>
        <p:spPr>
          <a:xfrm>
            <a:off x="7077456" y="1261872"/>
            <a:ext cx="1627631" cy="676656"/>
          </a:xfrm>
          <a:prstGeom prst="rect">
            <a:avLst/>
          </a:prstGeom>
          <a:noFill/>
        </p:spPr>
        <p:txBody>
          <a:bodyPr wrap="square" lIns="0" rIns="0" tIns="0" bIns="0" anchor="ctr">
            <a:spAutoFit/>
          </a:bodyPr>
          <a:lstStyle/>
          <a:p>
            <a:r>
              <a:rPr sz="1400" b="1">
                <a:solidFill>
                  <a:schemeClr val="tx2"/>
                </a:solidFill>
              </a:rPr>
              <a:t>Boundary / Edge</a:t>
            </a:r>
          </a:p>
          <a:p>
            <a:r>
              <a:rPr sz="1200" b="0">
                <a:solidFill>
                  <a:schemeClr val="tx1"/>
                </a:solidFill>
              </a:rPr>
              <a:t>at and past the limits</a:t>
            </a:r>
          </a:p>
        </p:txBody>
      </p:sp>
      <p:sp>
        <p:nvSpPr>
          <p:cNvPr id="13" name="Security card"/>
          <p:cNvSpPr/>
          <p:nvPr/>
        </p:nvSpPr>
        <p:spPr>
          <a:xfrm>
            <a:off x="8997696" y="1188720"/>
            <a:ext cx="2615184" cy="822960"/>
          </a:xfrm>
          <a:prstGeom prst="roundRect">
            <a:avLst>
              <a:gd name="adj" fmla="val 10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ecurity number"/>
          <p:cNvSpPr txBox="1"/>
          <p:nvPr/>
        </p:nvSpPr>
        <p:spPr>
          <a:xfrm>
            <a:off x="9162288" y="1188720"/>
            <a:ext cx="731520" cy="822960"/>
          </a:xfrm>
          <a:prstGeom prst="rect">
            <a:avLst/>
          </a:prstGeom>
          <a:noFill/>
        </p:spPr>
        <p:txBody>
          <a:bodyPr wrap="square" lIns="0" rIns="0" tIns="0" bIns="0" anchor="ctr">
            <a:spAutoFit/>
          </a:bodyPr>
          <a:lstStyle/>
          <a:p>
            <a:r>
              <a:rPr sz="3600" b="1">
                <a:solidFill>
                  <a:schemeClr val="tx2"/>
                </a:solidFill>
              </a:rPr>
              <a:t>3</a:t>
            </a:r>
          </a:p>
        </p:txBody>
      </p:sp>
      <p:sp>
        <p:nvSpPr>
          <p:cNvPr id="15" name="Security label"/>
          <p:cNvSpPr txBox="1"/>
          <p:nvPr/>
        </p:nvSpPr>
        <p:spPr>
          <a:xfrm>
            <a:off x="9893808" y="1261872"/>
            <a:ext cx="1627631" cy="676656"/>
          </a:xfrm>
          <a:prstGeom prst="rect">
            <a:avLst/>
          </a:prstGeom>
          <a:noFill/>
        </p:spPr>
        <p:txBody>
          <a:bodyPr wrap="square" lIns="0" rIns="0" tIns="0" bIns="0" anchor="ctr">
            <a:spAutoFit/>
          </a:bodyPr>
          <a:lstStyle/>
          <a:p>
            <a:r>
              <a:rPr sz="1400" b="1">
                <a:solidFill>
                  <a:schemeClr val="tx2"/>
                </a:solidFill>
              </a:rPr>
              <a:t>Security</a:t>
            </a:r>
          </a:p>
          <a:p>
            <a:r>
              <a:rPr sz="1200" b="0">
                <a:solidFill>
                  <a:schemeClr val="tx1"/>
                </a:solidFill>
              </a:rPr>
              <a:t>SQL injection, XSS, login</a:t>
            </a:r>
          </a:p>
        </p:txBody>
      </p:sp>
      <p:graphicFrame>
        <p:nvGraphicFramePr>
          <p:cNvPr id="16" name="Negative tests table"/>
          <p:cNvGraphicFramePr>
            <a:graphicFrameLocks noGrp="1"/>
          </p:cNvGraphicFramePr>
          <p:nvPr>
            <p:extLst>
              <p:ext uri="{D42A27DB-BD31-4B8C-83A1-F6EECF244321}">
                <p14:modId xmlns:p14="http://schemas.microsoft.com/office/powerpoint/2010/main" val="1579011935"/>
              </p:ext>
            </p:extLst>
          </p:nvPr>
        </p:nvGraphicFramePr>
        <p:xfrm>
          <a:off x="548640" y="2194560"/>
          <a:ext cx="11064240" cy="3145536"/>
        </p:xfrm>
        <a:graphic>
          <a:graphicData uri="http://schemas.openxmlformats.org/drawingml/2006/table">
            <a:tbl>
              <a:tblPr/>
              <a:tblGrid>
                <a:gridCol w="1691640"/>
                <a:gridCol w="9372600"/>
              </a:tblGrid>
              <a:tr h="36576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Module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Negative, boundary / edge and security test cases (TC14–TC37)</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r>
              <a:tr h="384048">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Login</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300" dirty="0" b="1">
                          <a:solidFill>
                            <a:srgbClr val="1D2B33"/>
                          </a:solidFill>
                          <a:latin typeface="Calibri" pitchFamily="34" charset="0"/>
                          <a:ea typeface="Calibri" pitchFamily="34" charset="-122"/>
                          <a:cs typeface="Calibri" pitchFamily="34" charset="-120"/>
                        </a:rPr>
                        <a:t>TC14</a:t>
                      </a:r>
                      <a:r>
                        <a:rPr lang="en-US" sz="1300" dirty="0">
                          <a:solidFill>
                            <a:srgbClr val="1D2B33"/>
                          </a:solidFill>
                          <a:latin typeface="Calibri" pitchFamily="34" charset="0"/>
                          <a:ea typeface="Calibri" pitchFamily="34" charset="-122"/>
                          <a:cs typeface="Calibri" pitchFamily="34" charset="-120"/>
                        </a:rPr>
                        <a:t> wrong username  ·  </a:t>
                      </a:r>
                      <a:r>
                        <a:rPr lang="en-US" sz="1300" dirty="0" b="1">
                          <a:solidFill>
                            <a:srgbClr val="1D2B33"/>
                          </a:solidFill>
                          <a:latin typeface="Calibri" pitchFamily="34" charset="0"/>
                          <a:ea typeface="Calibri" pitchFamily="34" charset="-122"/>
                          <a:cs typeface="Calibri" pitchFamily="34" charset="-120"/>
                        </a:rPr>
                        <a:t>TC15</a:t>
                      </a:r>
                      <a:r>
                        <a:rPr lang="en-US" sz="1300" dirty="0">
                          <a:solidFill>
                            <a:srgbClr val="1D2B33"/>
                          </a:solidFill>
                          <a:latin typeface="Calibri" pitchFamily="34" charset="0"/>
                          <a:ea typeface="Calibri" pitchFamily="34" charset="-122"/>
                          <a:cs typeface="Calibri" pitchFamily="34" charset="-120"/>
                        </a:rPr>
                        <a:t> empty fields  ·  </a:t>
                      </a:r>
                      <a:r>
                        <a:rPr lang="en-US" sz="1300" dirty="0" b="1">
                          <a:solidFill>
                            <a:srgbClr val="1D2B33"/>
                          </a:solidFill>
                          <a:latin typeface="Calibri" pitchFamily="34" charset="0"/>
                          <a:ea typeface="Calibri" pitchFamily="34" charset="-122"/>
                          <a:cs typeface="Calibri" pitchFamily="34" charset="-120"/>
                        </a:rPr>
                        <a:t>TC16</a:t>
                      </a:r>
                      <a:r>
                        <a:rPr lang="en-US" sz="1300" dirty="0">
                          <a:solidFill>
                            <a:srgbClr val="1D2B33"/>
                          </a:solidFill>
                          <a:latin typeface="Calibri" pitchFamily="34" charset="0"/>
                          <a:ea typeface="Calibri" pitchFamily="34" charset="-122"/>
                          <a:cs typeface="Calibri" pitchFamily="34" charset="-120"/>
                        </a:rPr>
                        <a:t> SQL injection  ·  </a:t>
                      </a:r>
                      <a:r>
                        <a:rPr lang="en-US" sz="1300" dirty="0" b="1">
                          <a:solidFill>
                            <a:srgbClr val="1D2B33"/>
                          </a:solidFill>
                          <a:latin typeface="Calibri" pitchFamily="34" charset="0"/>
                          <a:ea typeface="Calibri" pitchFamily="34" charset="-122"/>
                          <a:cs typeface="Calibri" pitchFamily="34" charset="-120"/>
                        </a:rPr>
                        <a:t>TC17</a:t>
                      </a:r>
                      <a:r>
                        <a:rPr lang="en-US" sz="1300" dirty="0">
                          <a:solidFill>
                            <a:srgbClr val="1D2B33"/>
                          </a:solidFill>
                          <a:latin typeface="Calibri" pitchFamily="34" charset="0"/>
                          <a:ea typeface="Calibri" pitchFamily="34" charset="-122"/>
                          <a:cs typeface="Calibri" pitchFamily="34" charset="-120"/>
                        </a:rPr>
                        <a:t> page without login</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621792">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Patients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300" dirty="0" b="1">
                          <a:solidFill>
                            <a:srgbClr val="1D2B33"/>
                          </a:solidFill>
                          <a:latin typeface="Calibri" pitchFamily="34" charset="0"/>
                          <a:ea typeface="Calibri" pitchFamily="34" charset="-122"/>
                          <a:cs typeface="Calibri" pitchFamily="34" charset="-120"/>
                        </a:rPr>
                        <a:t>TC18</a:t>
                      </a:r>
                      <a:r>
                        <a:rPr lang="en-US" sz="1300" dirty="0">
                          <a:solidFill>
                            <a:srgbClr val="1D2B33"/>
                          </a:solidFill>
                          <a:latin typeface="Calibri" pitchFamily="34" charset="0"/>
                          <a:ea typeface="Calibri" pitchFamily="34" charset="-122"/>
                          <a:cs typeface="Calibri" pitchFamily="34" charset="-120"/>
                        </a:rPr>
                        <a:t> phone 12345  ·  </a:t>
                      </a:r>
                      <a:r>
                        <a:rPr lang="en-US" sz="1300" dirty="0" b="1">
                          <a:solidFill>
                            <a:srgbClr val="1D2B33"/>
                          </a:solidFill>
                          <a:latin typeface="Calibri" pitchFamily="34" charset="0"/>
                          <a:ea typeface="Calibri" pitchFamily="34" charset="-122"/>
                          <a:cs typeface="Calibri" pitchFamily="34" charset="-120"/>
                        </a:rPr>
                        <a:t>TC19</a:t>
                      </a:r>
                      <a:r>
                        <a:rPr lang="en-US" sz="1300" dirty="0">
                          <a:solidFill>
                            <a:srgbClr val="1D2B33"/>
                          </a:solidFill>
                          <a:latin typeface="Calibri" pitchFamily="34" charset="0"/>
                          <a:ea typeface="Calibri" pitchFamily="34" charset="-122"/>
                          <a:cs typeface="Calibri" pitchFamily="34" charset="-120"/>
                        </a:rPr>
                        <a:t> phone with 11 digits  ·  </a:t>
                      </a:r>
                      <a:r>
                        <a:rPr lang="en-US" sz="1300" dirty="0" b="1">
                          <a:solidFill>
                            <a:srgbClr val="1D2B33"/>
                          </a:solidFill>
                          <a:latin typeface="Calibri" pitchFamily="34" charset="0"/>
                          <a:ea typeface="Calibri" pitchFamily="34" charset="-122"/>
                          <a:cs typeface="Calibri" pitchFamily="34" charset="-120"/>
                        </a:rPr>
                        <a:t>TC20</a:t>
                      </a:r>
                      <a:r>
                        <a:rPr lang="en-US" sz="1300" dirty="0">
                          <a:solidFill>
                            <a:srgbClr val="1D2B33"/>
                          </a:solidFill>
                          <a:latin typeface="Calibri" pitchFamily="34" charset="0"/>
                          <a:ea typeface="Calibri" pitchFamily="34" charset="-122"/>
                          <a:cs typeface="Calibri" pitchFamily="34" charset="-120"/>
                        </a:rPr>
                        <a:t> name Ravi123  ·  </a:t>
                      </a:r>
                      <a:r>
                        <a:rPr lang="en-US" sz="1300" dirty="0" b="1">
                          <a:solidFill>
                            <a:srgbClr val="1D2B33"/>
                          </a:solidFill>
                          <a:latin typeface="Calibri" pitchFamily="34" charset="0"/>
                          <a:ea typeface="Calibri" pitchFamily="34" charset="-122"/>
                          <a:cs typeface="Calibri" pitchFamily="34" charset="-120"/>
                        </a:rPr>
                        <a:t>TC21</a:t>
                      </a:r>
                      <a:r>
                        <a:rPr lang="en-US" sz="1300" dirty="0">
                          <a:solidFill>
                            <a:srgbClr val="1D2B33"/>
                          </a:solidFill>
                          <a:latin typeface="Calibri" pitchFamily="34" charset="0"/>
                          <a:ea typeface="Calibri" pitchFamily="34" charset="-122"/>
                          <a:cs typeface="Calibri" pitchFamily="34" charset="-120"/>
                        </a:rPr>
                        <a:t> age 121  ·  </a:t>
                      </a:r>
                      <a:r>
                        <a:rPr lang="en-US" sz="1300" dirty="0" b="1">
                          <a:solidFill>
                            <a:srgbClr val="1D2B33"/>
                          </a:solidFill>
                          <a:latin typeface="Calibri" pitchFamily="34" charset="0"/>
                          <a:ea typeface="Calibri" pitchFamily="34" charset="-122"/>
                          <a:cs typeface="Calibri" pitchFamily="34" charset="-120"/>
                        </a:rPr>
                        <a:t>TC22</a:t>
                      </a:r>
                      <a:r>
                        <a:rPr lang="en-US" sz="1300" dirty="0">
                          <a:solidFill>
                            <a:srgbClr val="1D2B33"/>
                          </a:solidFill>
                          <a:latin typeface="Calibri" pitchFamily="34" charset="0"/>
                          <a:ea typeface="Calibri" pitchFamily="34" charset="-122"/>
                          <a:cs typeface="Calibri" pitchFamily="34" charset="-120"/>
                        </a:rPr>
                        <a:t> age 0 and 120 accepted  ·  </a:t>
                      </a:r>
                      <a:r>
                        <a:rPr lang="en-US" sz="1300" dirty="0" b="1">
                          <a:solidFill>
                            <a:srgbClr val="1D2B33"/>
                          </a:solidFill>
                          <a:latin typeface="Calibri" pitchFamily="34" charset="0"/>
                          <a:ea typeface="Calibri" pitchFamily="34" charset="-122"/>
                          <a:cs typeface="Calibri" pitchFamily="34" charset="-120"/>
                        </a:rPr>
                        <a:t>TC23</a:t>
                      </a:r>
                      <a:r>
                        <a:rPr lang="en-US" sz="1300" dirty="0">
                          <a:solidFill>
                            <a:srgbClr val="1D2B33"/>
                          </a:solidFill>
                          <a:latin typeface="Calibri" pitchFamily="34" charset="0"/>
                          <a:ea typeface="Calibri" pitchFamily="34" charset="-122"/>
                          <a:cs typeface="Calibri" pitchFamily="34" charset="-120"/>
                        </a:rPr>
                        <a:t> unknown patient ID  ·  </a:t>
                      </a:r>
                      <a:r>
                        <a:rPr lang="en-US" sz="1300" dirty="0" b="1">
                          <a:solidFill>
                            <a:srgbClr val="1D2B33"/>
                          </a:solidFill>
                          <a:latin typeface="Calibri" pitchFamily="34" charset="0"/>
                          <a:ea typeface="Calibri" pitchFamily="34" charset="-122"/>
                          <a:cs typeface="Calibri" pitchFamily="34" charset="-120"/>
                        </a:rPr>
                        <a:t>TC24</a:t>
                      </a:r>
                      <a:r>
                        <a:rPr lang="en-US" sz="1300" dirty="0">
                          <a:solidFill>
                            <a:srgbClr val="1D2B33"/>
                          </a:solidFill>
                          <a:latin typeface="Calibri" pitchFamily="34" charset="0"/>
                          <a:ea typeface="Calibri" pitchFamily="34" charset="-122"/>
                          <a:cs typeface="Calibri" pitchFamily="34" charset="-120"/>
                        </a:rPr>
                        <a:t> invalid update keeps old data  ·  </a:t>
                      </a:r>
                      <a:r>
                        <a:rPr lang="en-US" sz="1300" dirty="0" b="1">
                          <a:solidFill>
                            <a:srgbClr val="1D2B33"/>
                          </a:solidFill>
                          <a:latin typeface="Calibri" pitchFamily="34" charset="0"/>
                          <a:ea typeface="Calibri" pitchFamily="34" charset="-122"/>
                          <a:cs typeface="Calibri" pitchFamily="34" charset="-120"/>
                        </a:rPr>
                        <a:t>TC25</a:t>
                      </a:r>
                      <a:r>
                        <a:rPr lang="en-US" sz="1300" dirty="0">
                          <a:solidFill>
                            <a:srgbClr val="1D2B33"/>
                          </a:solidFill>
                          <a:latin typeface="Calibri" pitchFamily="34" charset="0"/>
                          <a:ea typeface="Calibri" pitchFamily="34" charset="-122"/>
                          <a:cs typeface="Calibri" pitchFamily="34" charset="-120"/>
                        </a:rPr>
                        <a:t> &lt;script&gt; in a form (XSS)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384048">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Doctors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300" dirty="0" b="1">
                          <a:solidFill>
                            <a:srgbClr val="1D2B33"/>
                          </a:solidFill>
                          <a:latin typeface="Calibri" pitchFamily="34" charset="0"/>
                          <a:ea typeface="Calibri" pitchFamily="34" charset="-122"/>
                          <a:cs typeface="Calibri" pitchFamily="34" charset="-120"/>
                        </a:rPr>
                        <a:t>TC26</a:t>
                      </a:r>
                      <a:r>
                        <a:rPr lang="en-US" sz="1300" dirty="0">
                          <a:solidFill>
                            <a:srgbClr val="1D2B33"/>
                          </a:solidFill>
                          <a:latin typeface="Calibri" pitchFamily="34" charset="0"/>
                          <a:ea typeface="Calibri" pitchFamily="34" charset="-122"/>
                          <a:cs typeface="Calibri" pitchFamily="34" charset="-120"/>
                        </a:rPr>
                        <a:t> fee 0  ·  </a:t>
                      </a:r>
                      <a:r>
                        <a:rPr lang="en-US" sz="1300" dirty="0" b="1">
                          <a:solidFill>
                            <a:srgbClr val="1D2B33"/>
                          </a:solidFill>
                          <a:latin typeface="Calibri" pitchFamily="34" charset="0"/>
                          <a:ea typeface="Calibri" pitchFamily="34" charset="-122"/>
                          <a:cs typeface="Calibri" pitchFamily="34" charset="-120"/>
                        </a:rPr>
                        <a:t>TC27</a:t>
                      </a:r>
                      <a:r>
                        <a:rPr lang="en-US" sz="1300" dirty="0">
                          <a:solidFill>
                            <a:srgbClr val="1D2B33"/>
                          </a:solidFill>
                          <a:latin typeface="Calibri" pitchFamily="34" charset="0"/>
                          <a:ea typeface="Calibri" pitchFamily="34" charset="-122"/>
                          <a:cs typeface="Calibri" pitchFamily="34" charset="-120"/>
                        </a:rPr>
                        <a:t> search with no match</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621792">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Appointments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300" dirty="0" b="1">
                          <a:solidFill>
                            <a:srgbClr val="1D2B33"/>
                          </a:solidFill>
                          <a:latin typeface="Calibri" pitchFamily="34" charset="0"/>
                          <a:ea typeface="Calibri" pitchFamily="34" charset="-122"/>
                          <a:cs typeface="Calibri" pitchFamily="34" charset="-120"/>
                        </a:rPr>
                        <a:t>TC28</a:t>
                      </a:r>
                      <a:r>
                        <a:rPr lang="en-US" sz="1300" dirty="0">
                          <a:solidFill>
                            <a:srgbClr val="1D2B33"/>
                          </a:solidFill>
                          <a:latin typeface="Calibri" pitchFamily="34" charset="0"/>
                          <a:ea typeface="Calibri" pitchFamily="34" charset="-122"/>
                          <a:cs typeface="Calibri" pitchFamily="34" charset="-120"/>
                        </a:rPr>
                        <a:t> date in the past  ·  </a:t>
                      </a:r>
                      <a:r>
                        <a:rPr lang="en-US" sz="1300" dirty="0" b="1">
                          <a:solidFill>
                            <a:srgbClr val="1D2B33"/>
                          </a:solidFill>
                          <a:latin typeface="Calibri" pitchFamily="34" charset="0"/>
                          <a:ea typeface="Calibri" pitchFamily="34" charset="-122"/>
                          <a:cs typeface="Calibri" pitchFamily="34" charset="-120"/>
                        </a:rPr>
                        <a:t>TC29</a:t>
                      </a:r>
                      <a:r>
                        <a:rPr lang="en-US" sz="1300" dirty="0">
                          <a:solidFill>
                            <a:srgbClr val="1D2B33"/>
                          </a:solidFill>
                          <a:latin typeface="Calibri" pitchFamily="34" charset="0"/>
                          <a:ea typeface="Calibri" pitchFamily="34" charset="-122"/>
                          <a:cs typeface="Calibri" pitchFamily="34" charset="-120"/>
                        </a:rPr>
                        <a:t> no patient selected  ·  </a:t>
                      </a:r>
                      <a:r>
                        <a:rPr lang="en-US" sz="1300" dirty="0" b="1">
                          <a:solidFill>
                            <a:srgbClr val="1D2B33"/>
                          </a:solidFill>
                          <a:latin typeface="Calibri" pitchFamily="34" charset="0"/>
                          <a:ea typeface="Calibri" pitchFamily="34" charset="-122"/>
                          <a:cs typeface="Calibri" pitchFamily="34" charset="-120"/>
                        </a:rPr>
                        <a:t>TC30</a:t>
                      </a:r>
                      <a:r>
                        <a:rPr lang="en-US" sz="1300" dirty="0">
                          <a:solidFill>
                            <a:srgbClr val="1D2B33"/>
                          </a:solidFill>
                          <a:latin typeface="Calibri" pitchFamily="34" charset="0"/>
                          <a:ea typeface="Calibri" pitchFamily="34" charset="-122"/>
                          <a:cs typeface="Calibri" pitchFamily="34" charset="-120"/>
                        </a:rPr>
                        <a:t> unavailable doctor  ·  </a:t>
                      </a:r>
                      <a:r>
                        <a:rPr lang="en-US" sz="1300" dirty="0" b="1">
                          <a:solidFill>
                            <a:srgbClr val="1D2B33"/>
                          </a:solidFill>
                          <a:latin typeface="Calibri" pitchFamily="34" charset="0"/>
                          <a:ea typeface="Calibri" pitchFamily="34" charset="-122"/>
                          <a:cs typeface="Calibri" pitchFamily="34" charset="-120"/>
                        </a:rPr>
                        <a:t>TC31</a:t>
                      </a:r>
                      <a:r>
                        <a:rPr lang="en-US" sz="1300" dirty="0">
                          <a:solidFill>
                            <a:srgbClr val="1D2B33"/>
                          </a:solidFill>
                          <a:latin typeface="Calibri" pitchFamily="34" charset="0"/>
                          <a:ea typeface="Calibri" pitchFamily="34" charset="-122"/>
                          <a:cs typeface="Calibri" pitchFamily="34" charset="-120"/>
                        </a:rPr>
                        <a:t> same patient, two doctors, same time  ·  </a:t>
                      </a:r>
                      <a:r>
                        <a:rPr lang="en-US" sz="1300" dirty="0" b="1">
                          <a:solidFill>
                            <a:srgbClr val="1D2B33"/>
                          </a:solidFill>
                          <a:latin typeface="Calibri" pitchFamily="34" charset="0"/>
                          <a:ea typeface="Calibri" pitchFamily="34" charset="-122"/>
                          <a:cs typeface="Calibri" pitchFamily="34" charset="-120"/>
                        </a:rPr>
                        <a:t>TC32</a:t>
                      </a:r>
                      <a:r>
                        <a:rPr lang="en-US" sz="1300" dirty="0">
                          <a:solidFill>
                            <a:srgbClr val="1D2B33"/>
                          </a:solidFill>
                          <a:latin typeface="Calibri" pitchFamily="34" charset="0"/>
                          <a:ea typeface="Calibri" pitchFamily="34" charset="-122"/>
                          <a:cs typeface="Calibri" pitchFamily="34" charset="-120"/>
                        </a:rPr>
                        <a:t> cancelled slot booked again</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384048">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Medical Records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300" dirty="0" b="1">
                          <a:solidFill>
                            <a:srgbClr val="1D2B33"/>
                          </a:solidFill>
                          <a:latin typeface="Calibri" pitchFamily="34" charset="0"/>
                          <a:ea typeface="Calibri" pitchFamily="34" charset="-122"/>
                          <a:cs typeface="Calibri" pitchFamily="34" charset="-120"/>
                        </a:rPr>
                        <a:t>TC33</a:t>
                      </a:r>
                      <a:r>
                        <a:rPr lang="en-US" sz="1300" dirty="0">
                          <a:solidFill>
                            <a:srgbClr val="1D2B33"/>
                          </a:solidFill>
                          <a:latin typeface="Calibri" pitchFamily="34" charset="0"/>
                          <a:ea typeface="Calibri" pitchFamily="34" charset="-122"/>
                          <a:cs typeface="Calibri" pitchFamily="34" charset="-120"/>
                        </a:rPr>
                        <a:t> empty diagnosis  ·  </a:t>
                      </a:r>
                      <a:r>
                        <a:rPr lang="en-US" sz="1300" dirty="0" b="1">
                          <a:solidFill>
                            <a:srgbClr val="1D2B33"/>
                          </a:solidFill>
                          <a:latin typeface="Calibri" pitchFamily="34" charset="0"/>
                          <a:ea typeface="Calibri" pitchFamily="34" charset="-122"/>
                          <a:cs typeface="Calibri" pitchFamily="34" charset="-120"/>
                        </a:rPr>
                        <a:t>TC34</a:t>
                      </a:r>
                      <a:r>
                        <a:rPr lang="en-US" sz="1300" dirty="0">
                          <a:solidFill>
                            <a:srgbClr val="1D2B33"/>
                          </a:solidFill>
                          <a:latin typeface="Calibri" pitchFamily="34" charset="0"/>
                          <a:ea typeface="Calibri" pitchFamily="34" charset="-122"/>
                          <a:cs typeface="Calibri" pitchFamily="34" charset="-120"/>
                        </a:rPr>
                        <a:t> visit date in the future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384048">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Billing</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300" dirty="0" b="1">
                          <a:solidFill>
                            <a:srgbClr val="1D2B33"/>
                          </a:solidFill>
                          <a:latin typeface="Calibri" pitchFamily="34" charset="0"/>
                          <a:ea typeface="Calibri" pitchFamily="34" charset="-122"/>
                          <a:cs typeface="Calibri" pitchFamily="34" charset="-120"/>
                        </a:rPr>
                        <a:t>TC35</a:t>
                      </a:r>
                      <a:r>
                        <a:rPr lang="en-US" sz="1300" dirty="0">
                          <a:solidFill>
                            <a:srgbClr val="1D2B33"/>
                          </a:solidFill>
                          <a:latin typeface="Calibri" pitchFamily="34" charset="0"/>
                          <a:ea typeface="Calibri" pitchFamily="34" charset="-122"/>
                          <a:cs typeface="Calibri" pitchFamily="34" charset="-120"/>
                        </a:rPr>
                        <a:t> total 0  ·  </a:t>
                      </a:r>
                      <a:r>
                        <a:rPr lang="en-US" sz="1300" dirty="0" b="1">
                          <a:solidFill>
                            <a:srgbClr val="1D2B33"/>
                          </a:solidFill>
                          <a:latin typeface="Calibri" pitchFamily="34" charset="0"/>
                          <a:ea typeface="Calibri" pitchFamily="34" charset="-122"/>
                          <a:cs typeface="Calibri" pitchFamily="34" charset="-120"/>
                        </a:rPr>
                        <a:t>TC36</a:t>
                      </a:r>
                      <a:r>
                        <a:rPr lang="en-US" sz="1300" dirty="0">
                          <a:solidFill>
                            <a:srgbClr val="1D2B33"/>
                          </a:solidFill>
                          <a:latin typeface="Calibri" pitchFamily="34" charset="0"/>
                          <a:ea typeface="Calibri" pitchFamily="34" charset="-122"/>
                          <a:cs typeface="Calibri" pitchFamily="34" charset="-120"/>
                        </a:rPr>
                        <a:t> negative charge  ·  </a:t>
                      </a:r>
                      <a:r>
                        <a:rPr lang="en-US" sz="1300" dirty="0" b="1">
                          <a:solidFill>
                            <a:srgbClr val="1D2B33"/>
                          </a:solidFill>
                          <a:latin typeface="Calibri" pitchFamily="34" charset="0"/>
                          <a:ea typeface="Calibri" pitchFamily="34" charset="-122"/>
                          <a:cs typeface="Calibri" pitchFamily="34" charset="-120"/>
                        </a:rPr>
                        <a:t>TC37</a:t>
                      </a:r>
                      <a:r>
                        <a:rPr lang="en-US" sz="1300" dirty="0">
                          <a:solidFill>
                            <a:srgbClr val="1D2B33"/>
                          </a:solidFill>
                          <a:latin typeface="Calibri" pitchFamily="34" charset="0"/>
                          <a:ea typeface="Calibri" pitchFamily="34" charset="-122"/>
                          <a:cs typeface="Calibri" pitchFamily="34" charset="-120"/>
                        </a:rPr>
                        <a:t> 499.50 + 0.25 = 499.75</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bl>
          </a:graphicData>
        </a:graphic>
      </p:graphicFrame>
      <p:sp>
        <p:nvSpPr>
          <p:cNvPr id="17" name="Key message box"/>
          <p:cNvSpPr/>
          <p:nvPr/>
        </p:nvSpPr>
        <p:spPr>
          <a:xfrm>
            <a:off x="548640" y="5669280"/>
            <a:ext cx="11064240" cy="566928"/>
          </a:xfrm>
          <a:prstGeom prst="roundRect">
            <a:avLst>
              <a:gd name="adj" fmla="val 12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Key message icon circle"/>
          <p:cNvSpPr/>
          <p:nvPr/>
        </p:nvSpPr>
        <p:spPr>
          <a:xfrm>
            <a:off x="685800" y="5742432"/>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Key message icon" descr="image.png"/>
          <p:cNvPicPr>
            <a:picLocks noChangeAspect="1"/>
          </p:cNvPicPr>
          <p:nvPr/>
        </p:nvPicPr>
        <p:blipFill>
          <a:blip r:embed="rId2"/>
          <a:stretch>
            <a:fillRect/>
          </a:stretch>
        </p:blipFill>
        <p:spPr>
          <a:xfrm>
            <a:off x="786384" y="5843016"/>
            <a:ext cx="201168" cy="201168"/>
          </a:xfrm>
          <a:prstGeom prst="rect">
            <a:avLst/>
          </a:prstGeom>
        </p:spPr>
      </p:pic>
      <p:sp>
        <p:nvSpPr>
          <p:cNvPr id="20" name="Key message text"/>
          <p:cNvSpPr txBox="1"/>
          <p:nvPr/>
        </p:nvSpPr>
        <p:spPr>
          <a:xfrm>
            <a:off x="1234440" y="5669280"/>
            <a:ext cx="10241280" cy="566928"/>
          </a:xfrm>
          <a:prstGeom prst="rect">
            <a:avLst/>
          </a:prstGeom>
          <a:noFill/>
        </p:spPr>
        <p:txBody>
          <a:bodyPr wrap="square" lIns="0" rIns="0" tIns="0" bIns="0" anchor="ctr">
            <a:spAutoFit/>
          </a:bodyPr>
          <a:lstStyle/>
          <a:p>
            <a:r>
              <a:rPr sz="1400" b="1">
                <a:solidFill>
                  <a:schemeClr val="tx2"/>
                </a:solidFill>
              </a:rPr>
              <a:t>Every negative test checks 2 things: </a:t>
            </a:r>
            <a:r>
              <a:rPr sz="1400" b="0">
                <a:solidFill>
                  <a:schemeClr val="tx1"/>
                </a:solidFill>
              </a:rPr>
              <a:t>the error message is shown AND nothing is saved. Mutation testing: 6 planted bugs, all 6 caught.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Example Selenium Test: TC02</a:t>
            </a:r>
            <a:endParaRPr lang="en-US" sz="3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
        <p:nvSpPr>
          <p:cNvPr id="26" name="Code background"/>
          <p:cNvSpPr/>
          <p:nvPr/>
        </p:nvSpPr>
        <p:spPr>
          <a:xfrm>
            <a:off x="548640" y="1234440"/>
            <a:ext cx="6858000" cy="4892040"/>
          </a:xfrm>
          <a:prstGeom prst="roundRect">
            <a:avLst>
              <a:gd name="adj" fmla="val 6000"/>
            </a:avLst>
          </a:prstGeom>
          <a:solidFill>
            <a:srgbClr val="1E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ode file name"/>
          <p:cNvSpPr txBox="1"/>
          <p:nvPr/>
        </p:nvSpPr>
        <p:spPr>
          <a:xfrm>
            <a:off x="777240" y="1353312"/>
            <a:ext cx="6400800" cy="274320"/>
          </a:xfrm>
          <a:prstGeom prst="rect">
            <a:avLst/>
          </a:prstGeom>
          <a:noFill/>
        </p:spPr>
        <p:txBody>
          <a:bodyPr wrap="square" lIns="0" rIns="0" tIns="0" bIns="0" anchor="t">
            <a:spAutoFit/>
          </a:bodyPr>
          <a:lstStyle/>
          <a:p>
            <a:pPr>
              <a:spcAft>
                <a:spcPts val="0"/>
              </a:spcAft>
            </a:pPr>
            <a:r>
              <a:rPr sz="1100" b="0" i="0">
                <a:solidFill>
                  <a:srgbClr val="8FB3BA"/>
                </a:solidFill>
                <a:latin typeface="Courier New"/>
              </a:rPr>
              <a:t>tests/ui/test_selenium_hms.py</a:t>
            </a:r>
          </a:p>
        </p:txBody>
      </p:sp>
      <p:sp>
        <p:nvSpPr>
          <p:cNvPr id="28" name="Code"/>
          <p:cNvSpPr txBox="1"/>
          <p:nvPr/>
        </p:nvSpPr>
        <p:spPr>
          <a:xfrm>
            <a:off x="1097280" y="1737360"/>
            <a:ext cx="6217920" cy="2743200"/>
          </a:xfrm>
          <a:prstGeom prst="rect">
            <a:avLst/>
          </a:prstGeom>
          <a:noFill/>
        </p:spPr>
        <p:txBody>
          <a:bodyPr wrap="square" lIns="0" rIns="0" tIns="0" bIns="0" anchor="t">
            <a:spAutoFit/>
          </a:bodyPr>
          <a:lstStyle/>
          <a:p>
            <a:pPr>
              <a:lnSpc>
                <a:spcPts val="1800"/>
              </a:lnSpc>
              <a:spcAft>
                <a:spcPts val="0"/>
              </a:spcAft>
            </a:pPr>
            <a:r>
              <a:rPr sz="1200" b="0" i="0">
                <a:solidFill>
                  <a:srgbClr val="8FB3BA"/>
                </a:solidFill>
                <a:latin typeface="Courier New"/>
              </a:rPr>
              <a:t># Helper used by many tests: log in</a:t>
            </a:r>
          </a:p>
          <a:p>
            <a:pPr>
              <a:lnSpc>
                <a:spcPts val="1800"/>
              </a:lnSpc>
              <a:spcAft>
                <a:spcPts val="0"/>
              </a:spcAft>
            </a:pPr>
            <a:r>
              <a:rPr sz="1200" b="1" i="0">
                <a:solidFill>
                  <a:srgbClr val="F4A261"/>
                </a:solidFill>
                <a:latin typeface="Courier New"/>
              </a:rPr>
              <a:t>def login(driver, base_url, username="admin", password="admin123"):</a:t>
            </a:r>
          </a:p>
          <a:p>
            <a:pPr>
              <a:lnSpc>
                <a:spcPts val="1800"/>
              </a:lnSpc>
              <a:spcAft>
                <a:spcPts val="0"/>
              </a:spcAft>
            </a:pPr>
            <a:r>
              <a:rPr sz="1200" b="0" i="0">
                <a:solidFill>
                  <a:srgbClr val="E8F1F2"/>
                </a:solidFill>
                <a:latin typeface="Courier New"/>
              </a:rPr>
              <a:t>    driver.get(base_url)</a:t>
            </a:r>
          </a:p>
          <a:p>
            <a:pPr>
              <a:lnSpc>
                <a:spcPts val="1800"/>
              </a:lnSpc>
              <a:spcAft>
                <a:spcPts val="0"/>
              </a:spcAft>
            </a:pPr>
            <a:r>
              <a:rPr sz="1200" b="0" i="0">
                <a:solidFill>
                  <a:srgbClr val="E8F1F2"/>
                </a:solidFill>
                <a:latin typeface="Courier New"/>
              </a:rPr>
              <a:t>    driver.find_element(By.ID, "username").send_keys(username)</a:t>
            </a:r>
          </a:p>
          <a:p>
            <a:pPr>
              <a:lnSpc>
                <a:spcPts val="1800"/>
              </a:lnSpc>
              <a:spcAft>
                <a:spcPts val="0"/>
              </a:spcAft>
            </a:pPr>
            <a:r>
              <a:rPr sz="1200" b="0" i="0">
                <a:solidFill>
                  <a:srgbClr val="E8F1F2"/>
                </a:solidFill>
                <a:latin typeface="Courier New"/>
              </a:rPr>
              <a:t>    driver.find_element(By.ID, "password").send_keys(password)</a:t>
            </a:r>
          </a:p>
          <a:p>
            <a:pPr>
              <a:lnSpc>
                <a:spcPts val="1800"/>
              </a:lnSpc>
              <a:spcAft>
                <a:spcPts val="0"/>
              </a:spcAft>
            </a:pPr>
            <a:r>
              <a:rPr sz="1200" b="0" i="0">
                <a:solidFill>
                  <a:srgbClr val="E8F1F2"/>
                </a:solidFill>
                <a:latin typeface="Courier New"/>
              </a:rPr>
              <a:t>    click_and_wait(driver, "login")</a:t>
            </a:r>
          </a:p>
          <a:p>
            <a:pPr>
              <a:lnSpc>
                <a:spcPts val="1800"/>
              </a:lnSpc>
              <a:spcAft>
                <a:spcPts val="0"/>
              </a:spcAft>
            </a:pPr>
            <a:r>
              <a:rPr sz="1200" b="0" i="0">
                <a:solidFill>
                  <a:srgbClr val="E8F1F2"/>
                </a:solidFill>
                <a:latin typeface="Courier New"/>
              </a:rPr>
              <a:t> </a:t>
            </a:r>
          </a:p>
          <a:p>
            <a:pPr>
              <a:lnSpc>
                <a:spcPts val="1800"/>
              </a:lnSpc>
              <a:spcAft>
                <a:spcPts val="0"/>
              </a:spcAft>
            </a:pPr>
            <a:r>
              <a:rPr sz="1200" b="0" i="0">
                <a:solidFill>
                  <a:srgbClr val="8FB3BA"/>
                </a:solidFill>
                <a:latin typeface="Courier New"/>
              </a:rPr>
              <a:t># TC02: a wrong password must be refused</a:t>
            </a:r>
          </a:p>
          <a:p>
            <a:pPr>
              <a:lnSpc>
                <a:spcPts val="1800"/>
              </a:lnSpc>
              <a:spcAft>
                <a:spcPts val="0"/>
              </a:spcAft>
            </a:pPr>
            <a:r>
              <a:rPr sz="1200" b="1" i="0">
                <a:solidFill>
                  <a:srgbClr val="F4A261"/>
                </a:solidFill>
                <a:latin typeface="Courier New"/>
              </a:rPr>
              <a:t>def test_TC02_login_with_invalid_details(driver, live_server):</a:t>
            </a:r>
          </a:p>
          <a:p>
            <a:pPr>
              <a:lnSpc>
                <a:spcPts val="1800"/>
              </a:lnSpc>
              <a:spcAft>
                <a:spcPts val="0"/>
              </a:spcAft>
            </a:pPr>
            <a:r>
              <a:rPr sz="1200" b="0" i="0">
                <a:solidFill>
                  <a:srgbClr val="E8F1F2"/>
                </a:solidFill>
                <a:latin typeface="Courier New"/>
              </a:rPr>
              <a:t>    login(driver, live_server, "admin", "wrongpassword")</a:t>
            </a:r>
          </a:p>
          <a:p>
            <a:pPr>
              <a:lnSpc>
                <a:spcPts val="1800"/>
              </a:lnSpc>
              <a:spcAft>
                <a:spcPts val="0"/>
              </a:spcAft>
            </a:pPr>
            <a:r>
              <a:rPr sz="1200" b="1" i="0">
                <a:solidFill>
                  <a:srgbClr val="7FD8A6"/>
                </a:solidFill>
                <a:latin typeface="Courier New"/>
              </a:rPr>
              <a:t>    assert "Invalid username or password" in error_message(driver)</a:t>
            </a:r>
          </a:p>
          <a:p>
            <a:pPr>
              <a:lnSpc>
                <a:spcPts val="1800"/>
              </a:lnSpc>
              <a:spcAft>
                <a:spcPts val="0"/>
              </a:spcAft>
            </a:pPr>
            <a:r>
              <a:rPr sz="1200" b="1" i="0">
                <a:solidFill>
                  <a:srgbClr val="7FD8A6"/>
                </a:solidFill>
                <a:latin typeface="Courier New"/>
              </a:rPr>
              <a:t>    assert "/dashboard" not in driver.current_url</a:t>
            </a:r>
          </a:p>
        </p:txBody>
      </p:sp>
      <p:sp>
        <p:nvSpPr>
          <p:cNvPr id="29" name="Code step 1"/>
          <p:cNvSpPr/>
          <p:nvPr/>
        </p:nvSpPr>
        <p:spPr>
          <a:xfrm>
            <a:off x="731520" y="2194560"/>
            <a:ext cx="228600" cy="22860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chemeClr val="tx2"/>
                </a:solidFill>
              </a:rPr>
              <a:t>1</a:t>
            </a:r>
          </a:p>
        </p:txBody>
      </p:sp>
      <p:sp>
        <p:nvSpPr>
          <p:cNvPr id="30" name="Code step 2"/>
          <p:cNvSpPr/>
          <p:nvPr/>
        </p:nvSpPr>
        <p:spPr>
          <a:xfrm>
            <a:off x="731520" y="2423160"/>
            <a:ext cx="228600" cy="22860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chemeClr val="tx2"/>
                </a:solidFill>
              </a:rPr>
              <a:t>2</a:t>
            </a:r>
          </a:p>
        </p:txBody>
      </p:sp>
      <p:sp>
        <p:nvSpPr>
          <p:cNvPr id="31" name="Code step 3"/>
          <p:cNvSpPr/>
          <p:nvPr/>
        </p:nvSpPr>
        <p:spPr>
          <a:xfrm>
            <a:off x="731520" y="2880360"/>
            <a:ext cx="228600" cy="22860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chemeClr val="tx2"/>
                </a:solidFill>
              </a:rPr>
              <a:t>3</a:t>
            </a:r>
          </a:p>
        </p:txBody>
      </p:sp>
      <p:sp>
        <p:nvSpPr>
          <p:cNvPr id="32" name="Code step 4"/>
          <p:cNvSpPr/>
          <p:nvPr/>
        </p:nvSpPr>
        <p:spPr>
          <a:xfrm>
            <a:off x="731520" y="4023360"/>
            <a:ext cx="228600" cy="22860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chemeClr val="tx2"/>
                </a:solidFill>
              </a:rPr>
              <a:t>4</a:t>
            </a:r>
          </a:p>
        </p:txBody>
      </p:sp>
      <p:sp>
        <p:nvSpPr>
          <p:cNvPr id="33" name="Legend step 1"/>
          <p:cNvSpPr/>
          <p:nvPr/>
        </p:nvSpPr>
        <p:spPr>
          <a:xfrm>
            <a:off x="777240" y="4791456"/>
            <a:ext cx="274320" cy="2743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a:solidFill>
                  <a:schemeClr val="tx2"/>
                </a:solidFill>
              </a:rPr>
              <a:t>1</a:t>
            </a:r>
          </a:p>
        </p:txBody>
      </p:sp>
      <p:sp>
        <p:nvSpPr>
          <p:cNvPr id="34" name="Legend 1 text"/>
          <p:cNvSpPr txBox="1"/>
          <p:nvPr/>
        </p:nvSpPr>
        <p:spPr>
          <a:xfrm>
            <a:off x="1161288" y="4754880"/>
            <a:ext cx="2880360" cy="566928"/>
          </a:xfrm>
          <a:prstGeom prst="rect">
            <a:avLst/>
          </a:prstGeom>
          <a:noFill/>
        </p:spPr>
        <p:txBody>
          <a:bodyPr wrap="square" lIns="0" rIns="0" tIns="0" bIns="0" anchor="t">
            <a:spAutoFit/>
          </a:bodyPr>
          <a:lstStyle/>
          <a:p>
            <a:pPr>
              <a:spcAft>
                <a:spcPts val="0"/>
              </a:spcAft>
            </a:pPr>
            <a:r>
              <a:rPr sz="1300" b="1" i="0">
                <a:solidFill>
                  <a:schemeClr val="bg1"/>
                </a:solidFill>
              </a:rPr>
              <a:t>Open the page</a:t>
            </a:r>
          </a:p>
          <a:p>
            <a:pPr>
              <a:spcAft>
                <a:spcPts val="0"/>
              </a:spcAft>
            </a:pPr>
            <a:r>
              <a:rPr sz="1050" b="0" i="0">
                <a:solidFill>
                  <a:srgbClr val="8FB3BA"/>
                </a:solidFill>
                <a:latin typeface="Courier New"/>
              </a:rPr>
              <a:t>driver.get()</a:t>
            </a:r>
          </a:p>
        </p:txBody>
      </p:sp>
      <p:sp>
        <p:nvSpPr>
          <p:cNvPr id="35" name="Legend step 2"/>
          <p:cNvSpPr/>
          <p:nvPr/>
        </p:nvSpPr>
        <p:spPr>
          <a:xfrm>
            <a:off x="4114800" y="4791456"/>
            <a:ext cx="274320" cy="2743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a:solidFill>
                  <a:schemeClr val="tx2"/>
                </a:solidFill>
              </a:rPr>
              <a:t>2</a:t>
            </a:r>
          </a:p>
        </p:txBody>
      </p:sp>
      <p:sp>
        <p:nvSpPr>
          <p:cNvPr id="36" name="Legend 2 text"/>
          <p:cNvSpPr txBox="1"/>
          <p:nvPr/>
        </p:nvSpPr>
        <p:spPr>
          <a:xfrm>
            <a:off x="4498848" y="4754880"/>
            <a:ext cx="2880360" cy="566928"/>
          </a:xfrm>
          <a:prstGeom prst="rect">
            <a:avLst/>
          </a:prstGeom>
          <a:noFill/>
        </p:spPr>
        <p:txBody>
          <a:bodyPr wrap="square" lIns="0" rIns="0" tIns="0" bIns="0" anchor="t">
            <a:spAutoFit/>
          </a:bodyPr>
          <a:lstStyle/>
          <a:p>
            <a:pPr>
              <a:spcAft>
                <a:spcPts val="0"/>
              </a:spcAft>
            </a:pPr>
            <a:r>
              <a:rPr sz="1300" b="1" i="0">
                <a:solidFill>
                  <a:schemeClr val="bg1"/>
                </a:solidFill>
              </a:rPr>
              <a:t>Find the box by its id, type</a:t>
            </a:r>
          </a:p>
          <a:p>
            <a:pPr>
              <a:spcAft>
                <a:spcPts val="0"/>
              </a:spcAft>
            </a:pPr>
            <a:r>
              <a:rPr sz="1050" b="0" i="0">
                <a:solidFill>
                  <a:srgbClr val="8FB3BA"/>
                </a:solidFill>
                <a:latin typeface="Courier New"/>
              </a:rPr>
              <a:t>find_element(By.ID), send_keys()</a:t>
            </a:r>
          </a:p>
        </p:txBody>
      </p:sp>
      <p:sp>
        <p:nvSpPr>
          <p:cNvPr id="37" name="Legend step 3"/>
          <p:cNvSpPr/>
          <p:nvPr/>
        </p:nvSpPr>
        <p:spPr>
          <a:xfrm>
            <a:off x="777240" y="5431536"/>
            <a:ext cx="274320" cy="2743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a:solidFill>
                  <a:schemeClr val="tx2"/>
                </a:solidFill>
              </a:rPr>
              <a:t>3</a:t>
            </a:r>
          </a:p>
        </p:txBody>
      </p:sp>
      <p:sp>
        <p:nvSpPr>
          <p:cNvPr id="38" name="Legend 3 text"/>
          <p:cNvSpPr txBox="1"/>
          <p:nvPr/>
        </p:nvSpPr>
        <p:spPr>
          <a:xfrm>
            <a:off x="1161288" y="5394960"/>
            <a:ext cx="2880360" cy="566928"/>
          </a:xfrm>
          <a:prstGeom prst="rect">
            <a:avLst/>
          </a:prstGeom>
          <a:noFill/>
        </p:spPr>
        <p:txBody>
          <a:bodyPr wrap="square" lIns="0" rIns="0" tIns="0" bIns="0" anchor="t">
            <a:spAutoFit/>
          </a:bodyPr>
          <a:lstStyle/>
          <a:p>
            <a:pPr>
              <a:spcAft>
                <a:spcPts val="0"/>
              </a:spcAft>
            </a:pPr>
            <a:r>
              <a:rPr sz="1300" b="1" i="0">
                <a:solidFill>
                  <a:schemeClr val="bg1"/>
                </a:solidFill>
              </a:rPr>
              <a:t>Click the Login button</a:t>
            </a:r>
          </a:p>
          <a:p>
            <a:pPr>
              <a:spcAft>
                <a:spcPts val="0"/>
              </a:spcAft>
            </a:pPr>
            <a:r>
              <a:rPr sz="1050" b="0" i="0">
                <a:solidFill>
                  <a:srgbClr val="8FB3BA"/>
                </a:solidFill>
                <a:latin typeface="Courier New"/>
              </a:rPr>
              <a:t>click()</a:t>
            </a:r>
          </a:p>
        </p:txBody>
      </p:sp>
      <p:sp>
        <p:nvSpPr>
          <p:cNvPr id="39" name="Legend step 4"/>
          <p:cNvSpPr/>
          <p:nvPr/>
        </p:nvSpPr>
        <p:spPr>
          <a:xfrm>
            <a:off x="4114800" y="5431536"/>
            <a:ext cx="274320" cy="2743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a:solidFill>
                  <a:schemeClr val="tx2"/>
                </a:solidFill>
              </a:rPr>
              <a:t>4</a:t>
            </a:r>
          </a:p>
        </p:txBody>
      </p:sp>
      <p:sp>
        <p:nvSpPr>
          <p:cNvPr id="40" name="Legend 4 text"/>
          <p:cNvSpPr txBox="1"/>
          <p:nvPr/>
        </p:nvSpPr>
        <p:spPr>
          <a:xfrm>
            <a:off x="4498848" y="5394960"/>
            <a:ext cx="2880360" cy="566928"/>
          </a:xfrm>
          <a:prstGeom prst="rect">
            <a:avLst/>
          </a:prstGeom>
          <a:noFill/>
        </p:spPr>
        <p:txBody>
          <a:bodyPr wrap="square" lIns="0" rIns="0" tIns="0" bIns="0" anchor="t">
            <a:spAutoFit/>
          </a:bodyPr>
          <a:lstStyle/>
          <a:p>
            <a:pPr>
              <a:spcAft>
                <a:spcPts val="0"/>
              </a:spcAft>
            </a:pPr>
            <a:r>
              <a:rPr sz="1300" b="1" i="0">
                <a:solidFill>
                  <a:schemeClr val="bg1"/>
                </a:solidFill>
              </a:rPr>
              <a:t>Check the expected result</a:t>
            </a:r>
          </a:p>
          <a:p>
            <a:pPr>
              <a:spcAft>
                <a:spcPts val="0"/>
              </a:spcAft>
            </a:pPr>
            <a:r>
              <a:rPr sz="1050" b="0" i="0">
                <a:solidFill>
                  <a:srgbClr val="8FB3BA"/>
                </a:solidFill>
                <a:latin typeface="Courier New"/>
              </a:rPr>
              <a:t>assert: True = PASS, False = FAIL</a:t>
            </a:r>
          </a:p>
        </p:txBody>
      </p:sp>
      <p:pic>
        <p:nvPicPr>
          <p:cNvPr id="41" name="TC02 screenshot" descr="test_TC02_login_with_invalid_details.png"/>
          <p:cNvPicPr>
            <a:picLocks noChangeAspect="1"/>
          </p:cNvPicPr>
          <p:nvPr/>
        </p:nvPicPr>
        <p:blipFill>
          <a:blip r:embed="rId3"/>
          <a:stretch>
            <a:fillRect/>
          </a:stretch>
        </p:blipFill>
        <p:spPr>
          <a:xfrm>
            <a:off x="7635240" y="1234440"/>
            <a:ext cx="3977639" cy="2014648"/>
          </a:xfrm>
          <a:prstGeom prst="rect">
            <a:avLst/>
          </a:prstGeom>
        </p:spPr>
      </p:pic>
      <p:sp>
        <p:nvSpPr>
          <p:cNvPr id="42" name="TC02 screenshot frame"/>
          <p:cNvSpPr/>
          <p:nvPr/>
        </p:nvSpPr>
        <p:spPr>
          <a:xfrm>
            <a:off x="7635240" y="1234440"/>
            <a:ext cx="3977639" cy="2014648"/>
          </a:xfrm>
          <a:prstGeom prst="rect">
            <a:avLst/>
          </a:prstGeom>
          <a:noFill/>
          <a:ln w="12700">
            <a:solidFill>
              <a:srgbClr val="C9D7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C02 screenshot caption"/>
          <p:cNvSpPr txBox="1"/>
          <p:nvPr/>
        </p:nvSpPr>
        <p:spPr>
          <a:xfrm>
            <a:off x="7635240" y="3322240"/>
            <a:ext cx="3977639" cy="274320"/>
          </a:xfrm>
          <a:prstGeom prst="rect">
            <a:avLst/>
          </a:prstGeom>
          <a:noFill/>
        </p:spPr>
        <p:txBody>
          <a:bodyPr wrap="square" lIns="0" rIns="0" tIns="0" bIns="0" anchor="t">
            <a:spAutoFit/>
          </a:bodyPr>
          <a:lstStyle/>
          <a:p>
            <a:pPr>
              <a:spcAft>
                <a:spcPts val="0"/>
              </a:spcAft>
            </a:pPr>
            <a:r>
              <a:rPr sz="1100" b="0" i="1">
                <a:solidFill>
                  <a:schemeClr val="accent6"/>
                </a:solidFill>
              </a:rPr>
              <a:t>The screen at the end of TC02: red error, still on the login page</a:t>
            </a:r>
          </a:p>
        </p:txBody>
      </p:sp>
      <p:sp>
        <p:nvSpPr>
          <p:cNvPr id="44" name="Terminal box"/>
          <p:cNvSpPr/>
          <p:nvPr/>
        </p:nvSpPr>
        <p:spPr>
          <a:xfrm>
            <a:off x="7635240" y="3794760"/>
            <a:ext cx="3977639" cy="914400"/>
          </a:xfrm>
          <a:prstGeom prst="roundRect">
            <a:avLst>
              <a:gd name="adj" fmla="val 6000"/>
            </a:avLst>
          </a:prstGeom>
          <a:solidFill>
            <a:srgbClr val="1E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rminal text"/>
          <p:cNvSpPr txBox="1"/>
          <p:nvPr/>
        </p:nvSpPr>
        <p:spPr>
          <a:xfrm>
            <a:off x="7772400" y="3794760"/>
            <a:ext cx="3749039" cy="914400"/>
          </a:xfrm>
          <a:prstGeom prst="rect">
            <a:avLst/>
          </a:prstGeom>
          <a:noFill/>
        </p:spPr>
        <p:txBody>
          <a:bodyPr wrap="square" lIns="0" rIns="0" tIns="0" bIns="0" anchor="ctr">
            <a:spAutoFit/>
          </a:bodyPr>
          <a:lstStyle/>
          <a:p>
            <a:pPr>
              <a:spcAft>
                <a:spcPts val="0"/>
              </a:spcAft>
            </a:pPr>
            <a:r>
              <a:rPr sz="1100" b="0" i="0">
                <a:solidFill>
                  <a:srgbClr val="8FB3BA"/>
                </a:solidFill>
                <a:latin typeface="Courier New"/>
              </a:rPr>
              <a:t>$ python -m pytest -k TC02</a:t>
            </a:r>
          </a:p>
          <a:p>
            <a:pPr>
              <a:spcAft>
                <a:spcPts val="0"/>
              </a:spcAft>
            </a:pPr>
            <a:r>
              <a:rPr sz="1100" b="0" i="0">
                <a:solidFill>
                  <a:srgbClr val="E8F1F2"/>
                </a:solidFill>
                <a:latin typeface="Courier New"/>
              </a:rPr>
              <a:t>tests/ui/test_selenium_hms.py::</a:t>
            </a:r>
          </a:p>
          <a:p>
            <a:pPr>
              <a:spcAft>
                <a:spcPts val="0"/>
              </a:spcAft>
            </a:pPr>
            <a:r>
              <a:rPr sz="1100" b="1" i="0">
                <a:solidFill>
                  <a:srgbClr val="7FD8A6"/>
                </a:solidFill>
                <a:latin typeface="Courier New"/>
              </a:rPr>
              <a:t>test_TC02_login_with_invalid_details PASSED</a:t>
            </a:r>
          </a:p>
        </p:txBody>
      </p:sp>
      <p:sp>
        <p:nvSpPr>
          <p:cNvPr id="46" name="Test case card"/>
          <p:cNvSpPr/>
          <p:nvPr/>
        </p:nvSpPr>
        <p:spPr>
          <a:xfrm>
            <a:off x="7635240" y="4892040"/>
            <a:ext cx="3977639" cy="12344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st case text"/>
          <p:cNvSpPr txBox="1"/>
          <p:nvPr/>
        </p:nvSpPr>
        <p:spPr>
          <a:xfrm>
            <a:off x="7818120" y="4892040"/>
            <a:ext cx="3657600" cy="1234440"/>
          </a:xfrm>
          <a:prstGeom prst="rect">
            <a:avLst/>
          </a:prstGeom>
          <a:noFill/>
        </p:spPr>
        <p:txBody>
          <a:bodyPr wrap="square" lIns="0" rIns="0" tIns="0" bIns="0" anchor="ctr">
            <a:spAutoFit/>
          </a:bodyPr>
          <a:lstStyle/>
          <a:p>
            <a:pPr>
              <a:spcAft>
                <a:spcPts val="400"/>
              </a:spcAft>
            </a:pPr>
            <a:r>
              <a:rPr sz="1400" b="1" i="0">
                <a:solidFill>
                  <a:schemeClr val="tx2"/>
                </a:solidFill>
              </a:rPr>
              <a:t>Input:  </a:t>
            </a:r>
            <a:r>
              <a:rPr sz="1400" b="0" i="0">
                <a:solidFill>
                  <a:schemeClr val="tx1"/>
                </a:solidFill>
              </a:rPr>
              <a:t>admin / wrongpassword</a:t>
            </a:r>
          </a:p>
          <a:p>
            <a:pPr>
              <a:spcAft>
                <a:spcPts val="400"/>
              </a:spcAft>
            </a:pPr>
            <a:r>
              <a:rPr sz="1400" b="1" i="0">
                <a:solidFill>
                  <a:schemeClr val="tx2"/>
                </a:solidFill>
              </a:rPr>
              <a:t>Expected:  </a:t>
            </a:r>
            <a:r>
              <a:rPr sz="1400" b="0" i="0">
                <a:solidFill>
                  <a:schemeClr val="tx1"/>
                </a:solidFill>
              </a:rPr>
              <a:t>red error, stay on login page</a:t>
            </a:r>
          </a:p>
          <a:p>
            <a:pPr>
              <a:spcAft>
                <a:spcPts val="400"/>
              </a:spcAft>
            </a:pPr>
            <a:r>
              <a:rPr sz="1400" b="1" i="0">
                <a:solidFill>
                  <a:schemeClr val="tx2"/>
                </a:solidFill>
              </a:rPr>
              <a:t>Actual:  </a:t>
            </a:r>
            <a:r>
              <a:rPr sz="1400" b="0" i="0">
                <a:solidFill>
                  <a:schemeClr val="accent4"/>
                </a:solidFill>
              </a:rPr>
              <a:t>same  -&gt;  PASS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Live Demo: Selenium Tests Our HMS</a:t>
            </a:r>
            <a:endParaRPr lang="en-US" sz="34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
        <p:nvSpPr>
          <p:cNvPr id="27" name="Demo step 1 badge"/>
          <p:cNvSpPr/>
          <p:nvPr/>
        </p:nvSpPr>
        <p:spPr>
          <a:xfrm>
            <a:off x="548640" y="128016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chemeClr val="bg1"/>
                </a:solidFill>
              </a:rPr>
              <a:t>1</a:t>
            </a:r>
          </a:p>
        </p:txBody>
      </p:sp>
      <p:sp>
        <p:nvSpPr>
          <p:cNvPr id="28" name="Demo step 1 title"/>
          <p:cNvSpPr txBox="1"/>
          <p:nvPr/>
        </p:nvSpPr>
        <p:spPr>
          <a:xfrm>
            <a:off x="1097280" y="1280160"/>
            <a:ext cx="3017520" cy="411480"/>
          </a:xfrm>
          <a:prstGeom prst="rect">
            <a:avLst/>
          </a:prstGeom>
          <a:noFill/>
        </p:spPr>
        <p:txBody>
          <a:bodyPr wrap="square" lIns="0" rIns="0" tIns="0" bIns="0" anchor="ctr">
            <a:spAutoFit/>
          </a:bodyPr>
          <a:lstStyle/>
          <a:p>
            <a:pPr>
              <a:spcAft>
                <a:spcPts val="0"/>
              </a:spcAft>
            </a:pPr>
            <a:r>
              <a:rPr sz="1800" b="1" i="0">
                <a:solidFill>
                  <a:schemeClr val="tx2"/>
                </a:solidFill>
              </a:rPr>
              <a:t>Selenium types</a:t>
            </a:r>
          </a:p>
        </p:txBody>
      </p:sp>
      <p:pic>
        <p:nvPicPr>
          <p:cNvPr id="29" name="Demo step 1 screenshot" descr="demo_01_selenium_typing.png"/>
          <p:cNvPicPr>
            <a:picLocks noChangeAspect="1"/>
          </p:cNvPicPr>
          <p:nvPr/>
        </p:nvPicPr>
        <p:blipFill>
          <a:blip r:embed="rId4"/>
          <a:stretch>
            <a:fillRect/>
          </a:stretch>
        </p:blipFill>
        <p:spPr>
          <a:xfrm>
            <a:off x="548640" y="1828800"/>
            <a:ext cx="3566160" cy="1629183"/>
          </a:xfrm>
          <a:prstGeom prst="rect">
            <a:avLst/>
          </a:prstGeom>
        </p:spPr>
      </p:pic>
      <p:sp>
        <p:nvSpPr>
          <p:cNvPr id="30" name="Demo step 1 screenshot frame"/>
          <p:cNvSpPr/>
          <p:nvPr/>
        </p:nvSpPr>
        <p:spPr>
          <a:xfrm>
            <a:off x="548640" y="1828800"/>
            <a:ext cx="3566160" cy="1629183"/>
          </a:xfrm>
          <a:prstGeom prst="rect">
            <a:avLst/>
          </a:prstGeom>
          <a:noFill/>
          <a:ln w="12700">
            <a:solidFill>
              <a:srgbClr val="C9D7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emo step 1 text"/>
          <p:cNvSpPr txBox="1"/>
          <p:nvPr/>
        </p:nvSpPr>
        <p:spPr>
          <a:xfrm>
            <a:off x="548640" y="3595143"/>
            <a:ext cx="3566160" cy="868680"/>
          </a:xfrm>
          <a:prstGeom prst="rect">
            <a:avLst/>
          </a:prstGeom>
          <a:noFill/>
        </p:spPr>
        <p:txBody>
          <a:bodyPr wrap="square" lIns="0" rIns="0" tIns="0" bIns="0" anchor="t">
            <a:spAutoFit/>
          </a:bodyPr>
          <a:lstStyle/>
          <a:p>
            <a:pPr>
              <a:spcAft>
                <a:spcPts val="0"/>
              </a:spcAft>
            </a:pPr>
            <a:r>
              <a:rPr sz="1400" b="0" i="0">
                <a:solidFill>
                  <a:schemeClr val="tx1"/>
                </a:solidFill>
              </a:rPr>
              <a:t>Chrome fills in the form by itself. The orange box shows the element Selenium found by its id.</a:t>
            </a:r>
          </a:p>
        </p:txBody>
      </p:sp>
      <p:sp>
        <p:nvSpPr>
          <p:cNvPr id="32" name="Demo step 2 badge"/>
          <p:cNvSpPr/>
          <p:nvPr/>
        </p:nvSpPr>
        <p:spPr>
          <a:xfrm>
            <a:off x="4297679" y="128016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chemeClr val="bg1"/>
                </a:solidFill>
              </a:rPr>
              <a:t>2</a:t>
            </a:r>
          </a:p>
        </p:txBody>
      </p:sp>
      <p:sp>
        <p:nvSpPr>
          <p:cNvPr id="33" name="Demo step 2 title"/>
          <p:cNvSpPr txBox="1"/>
          <p:nvPr/>
        </p:nvSpPr>
        <p:spPr>
          <a:xfrm>
            <a:off x="4846319" y="1280160"/>
            <a:ext cx="3017520" cy="411480"/>
          </a:xfrm>
          <a:prstGeom prst="rect">
            <a:avLst/>
          </a:prstGeom>
          <a:noFill/>
        </p:spPr>
        <p:txBody>
          <a:bodyPr wrap="square" lIns="0" rIns="0" tIns="0" bIns="0" anchor="ctr">
            <a:spAutoFit/>
          </a:bodyPr>
          <a:lstStyle/>
          <a:p>
            <a:pPr>
              <a:spcAft>
                <a:spcPts val="0"/>
              </a:spcAft>
            </a:pPr>
            <a:r>
              <a:rPr sz="1800" b="1" i="0">
                <a:solidFill>
                  <a:schemeClr val="tx2"/>
                </a:solidFill>
              </a:rPr>
              <a:t>Selenium checks</a:t>
            </a:r>
          </a:p>
        </p:txBody>
      </p:sp>
      <p:pic>
        <p:nvPicPr>
          <p:cNvPr id="34" name="Demo step 2 screenshot" descr="demo_02_check_passed.png"/>
          <p:cNvPicPr>
            <a:picLocks noChangeAspect="1"/>
          </p:cNvPicPr>
          <p:nvPr/>
        </p:nvPicPr>
        <p:blipFill>
          <a:blip r:embed="rId5"/>
          <a:stretch>
            <a:fillRect/>
          </a:stretch>
        </p:blipFill>
        <p:spPr>
          <a:xfrm>
            <a:off x="4297679" y="1828800"/>
            <a:ext cx="3566160" cy="1629183"/>
          </a:xfrm>
          <a:prstGeom prst="rect">
            <a:avLst/>
          </a:prstGeom>
        </p:spPr>
      </p:pic>
      <p:sp>
        <p:nvSpPr>
          <p:cNvPr id="35" name="Demo step 2 screenshot frame"/>
          <p:cNvSpPr/>
          <p:nvPr/>
        </p:nvSpPr>
        <p:spPr>
          <a:xfrm>
            <a:off x="4297679" y="1828800"/>
            <a:ext cx="3566160" cy="1629183"/>
          </a:xfrm>
          <a:prstGeom prst="rect">
            <a:avLst/>
          </a:prstGeom>
          <a:noFill/>
          <a:ln w="12700">
            <a:solidFill>
              <a:srgbClr val="C9D7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emo step 2 text"/>
          <p:cNvSpPr txBox="1"/>
          <p:nvPr/>
        </p:nvSpPr>
        <p:spPr>
          <a:xfrm>
            <a:off x="4297679" y="3595143"/>
            <a:ext cx="3566160" cy="868680"/>
          </a:xfrm>
          <a:prstGeom prst="rect">
            <a:avLst/>
          </a:prstGeom>
          <a:noFill/>
        </p:spPr>
        <p:txBody>
          <a:bodyPr wrap="square" lIns="0" rIns="0" tIns="0" bIns="0" anchor="t">
            <a:spAutoFit/>
          </a:bodyPr>
          <a:lstStyle/>
          <a:p>
            <a:pPr>
              <a:spcAft>
                <a:spcPts val="0"/>
              </a:spcAft>
            </a:pPr>
            <a:r>
              <a:rPr sz="1400" b="0" i="0">
                <a:solidFill>
                  <a:schemeClr val="tx1"/>
                </a:solidFill>
              </a:rPr>
              <a:t>After each action Selenium reads the page and compares it with the expected result.</a:t>
            </a:r>
          </a:p>
        </p:txBody>
      </p:sp>
      <p:sp>
        <p:nvSpPr>
          <p:cNvPr id="37" name="Demo step 3 badge"/>
          <p:cNvSpPr/>
          <p:nvPr/>
        </p:nvSpPr>
        <p:spPr>
          <a:xfrm>
            <a:off x="8046719" y="128016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chemeClr val="bg1"/>
                </a:solidFill>
              </a:rPr>
              <a:t>3</a:t>
            </a:r>
          </a:p>
        </p:txBody>
      </p:sp>
      <p:sp>
        <p:nvSpPr>
          <p:cNvPr id="38" name="Demo step 3 title"/>
          <p:cNvSpPr txBox="1"/>
          <p:nvPr/>
        </p:nvSpPr>
        <p:spPr>
          <a:xfrm>
            <a:off x="8595359" y="1280160"/>
            <a:ext cx="3017520" cy="411480"/>
          </a:xfrm>
          <a:prstGeom prst="rect">
            <a:avLst/>
          </a:prstGeom>
          <a:noFill/>
        </p:spPr>
        <p:txBody>
          <a:bodyPr wrap="square" lIns="0" rIns="0" tIns="0" bIns="0" anchor="ctr">
            <a:spAutoFit/>
          </a:bodyPr>
          <a:lstStyle/>
          <a:p>
            <a:pPr>
              <a:spcAft>
                <a:spcPts val="0"/>
              </a:spcAft>
            </a:pPr>
            <a:r>
              <a:rPr sz="1800" b="1" i="0">
                <a:solidFill>
                  <a:schemeClr val="tx2"/>
                </a:solidFill>
              </a:rPr>
              <a:t>Results page</a:t>
            </a:r>
          </a:p>
        </p:txBody>
      </p:sp>
      <p:pic>
        <p:nvPicPr>
          <p:cNvPr id="39" name="Demo step 3 screenshot" descr="demo_03_crop.png"/>
          <p:cNvPicPr>
            <a:picLocks noChangeAspect="1"/>
          </p:cNvPicPr>
          <p:nvPr/>
        </p:nvPicPr>
        <p:blipFill>
          <a:blip r:embed="rId6"/>
          <a:stretch>
            <a:fillRect/>
          </a:stretch>
        </p:blipFill>
        <p:spPr>
          <a:xfrm>
            <a:off x="8046719" y="1828800"/>
            <a:ext cx="3566160" cy="1629165"/>
          </a:xfrm>
          <a:prstGeom prst="rect">
            <a:avLst/>
          </a:prstGeom>
        </p:spPr>
      </p:pic>
      <p:sp>
        <p:nvSpPr>
          <p:cNvPr id="40" name="Demo step 3 screenshot frame"/>
          <p:cNvSpPr/>
          <p:nvPr/>
        </p:nvSpPr>
        <p:spPr>
          <a:xfrm>
            <a:off x="8046719" y="1828800"/>
            <a:ext cx="3566160" cy="1629165"/>
          </a:xfrm>
          <a:prstGeom prst="rect">
            <a:avLst/>
          </a:prstGeom>
          <a:noFill/>
          <a:ln w="12700">
            <a:solidFill>
              <a:srgbClr val="C9D7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emo step 3 text"/>
          <p:cNvSpPr txBox="1"/>
          <p:nvPr/>
        </p:nvSpPr>
        <p:spPr>
          <a:xfrm>
            <a:off x="8046719" y="3595125"/>
            <a:ext cx="3566160" cy="868680"/>
          </a:xfrm>
          <a:prstGeom prst="rect">
            <a:avLst/>
          </a:prstGeom>
          <a:noFill/>
        </p:spPr>
        <p:txBody>
          <a:bodyPr wrap="square" lIns="0" rIns="0" tIns="0" bIns="0" anchor="t">
            <a:spAutoFit/>
          </a:bodyPr>
          <a:lstStyle/>
          <a:p>
            <a:pPr>
              <a:spcAft>
                <a:spcPts val="0"/>
              </a:spcAft>
            </a:pPr>
            <a:r>
              <a:rPr sz="1400" b="0" i="0">
                <a:solidFill>
                  <a:schemeClr val="tx1"/>
                </a:solidFill>
              </a:rPr>
              <a:t>At the end Chrome shows every test case: 37 passed, 0 failed.</a:t>
            </a:r>
          </a:p>
        </p:txBody>
      </p:sp>
      <p:sp>
        <p:nvSpPr>
          <p:cNvPr id="42" name="How we run it box"/>
          <p:cNvSpPr/>
          <p:nvPr/>
        </p:nvSpPr>
        <p:spPr>
          <a:xfrm>
            <a:off x="548640" y="4754880"/>
            <a:ext cx="11064240"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How we run it heading"/>
          <p:cNvSpPr txBox="1"/>
          <p:nvPr/>
        </p:nvSpPr>
        <p:spPr>
          <a:xfrm>
            <a:off x="777240" y="4846320"/>
            <a:ext cx="3657600" cy="320040"/>
          </a:xfrm>
          <a:prstGeom prst="rect">
            <a:avLst/>
          </a:prstGeom>
          <a:noFill/>
        </p:spPr>
        <p:txBody>
          <a:bodyPr wrap="square" lIns="0" rIns="0" tIns="0" bIns="0" anchor="t">
            <a:spAutoFit/>
          </a:bodyPr>
          <a:lstStyle/>
          <a:p>
            <a:pPr>
              <a:spcAft>
                <a:spcPts val="0"/>
              </a:spcAft>
            </a:pPr>
            <a:r>
              <a:rPr sz="1600" b="1" i="0">
                <a:solidFill>
                  <a:schemeClr val="tx2"/>
                </a:solidFill>
              </a:rPr>
              <a:t>How we run it</a:t>
            </a:r>
          </a:p>
        </p:txBody>
      </p:sp>
      <p:sp>
        <p:nvSpPr>
          <p:cNvPr id="44" name="Terminal 1 command box"/>
          <p:cNvSpPr/>
          <p:nvPr/>
        </p:nvSpPr>
        <p:spPr>
          <a:xfrm>
            <a:off x="777240" y="5257800"/>
            <a:ext cx="2514600" cy="548640"/>
          </a:xfrm>
          <a:prstGeom prst="roundRect">
            <a:avLst>
              <a:gd name="adj" fmla="val 6000"/>
            </a:avLst>
          </a:prstGeom>
          <a:solidFill>
            <a:srgbClr val="1E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rminal 1 command"/>
          <p:cNvSpPr txBox="1"/>
          <p:nvPr/>
        </p:nvSpPr>
        <p:spPr>
          <a:xfrm>
            <a:off x="777240" y="5257800"/>
            <a:ext cx="2514600" cy="548640"/>
          </a:xfrm>
          <a:prstGeom prst="rect">
            <a:avLst/>
          </a:prstGeom>
          <a:noFill/>
        </p:spPr>
        <p:txBody>
          <a:bodyPr wrap="square" lIns="0" rIns="0" tIns="0" bIns="0" anchor="ctr">
            <a:spAutoFit/>
          </a:bodyPr>
          <a:lstStyle/>
          <a:p>
            <a:pPr algn="ctr">
              <a:spcAft>
                <a:spcPts val="0"/>
              </a:spcAft>
            </a:pPr>
            <a:r>
              <a:rPr sz="1600" b="1" i="0">
                <a:solidFill>
                  <a:srgbClr val="7FD8A6"/>
                </a:solidFill>
                <a:latin typeface="Courier New"/>
              </a:rPr>
              <a:t>python app.py</a:t>
            </a:r>
          </a:p>
        </p:txBody>
      </p:sp>
      <p:sp>
        <p:nvSpPr>
          <p:cNvPr id="46" name="Terminal 1 label"/>
          <p:cNvSpPr txBox="1"/>
          <p:nvPr/>
        </p:nvSpPr>
        <p:spPr>
          <a:xfrm>
            <a:off x="3474720" y="5166360"/>
            <a:ext cx="2514600" cy="731520"/>
          </a:xfrm>
          <a:prstGeom prst="rect">
            <a:avLst/>
          </a:prstGeom>
          <a:noFill/>
        </p:spPr>
        <p:txBody>
          <a:bodyPr wrap="square" lIns="0" rIns="0" tIns="0" bIns="0" anchor="ctr">
            <a:spAutoFit/>
          </a:bodyPr>
          <a:lstStyle/>
          <a:p>
            <a:pPr>
              <a:spcAft>
                <a:spcPts val="0"/>
              </a:spcAft>
            </a:pPr>
            <a:r>
              <a:rPr sz="1300" b="1" i="0">
                <a:solidFill>
                  <a:schemeClr val="tx2"/>
                </a:solidFill>
              </a:rPr>
              <a:t>Terminal 1</a:t>
            </a:r>
          </a:p>
          <a:p>
            <a:pPr>
              <a:spcAft>
                <a:spcPts val="0"/>
              </a:spcAft>
            </a:pPr>
            <a:r>
              <a:rPr sz="1300" b="0" i="0">
                <a:solidFill>
                  <a:schemeClr val="tx1"/>
                </a:solidFill>
              </a:rPr>
              <a:t>starts our Hospital Management System</a:t>
            </a:r>
          </a:p>
        </p:txBody>
      </p:sp>
      <p:sp>
        <p:nvSpPr>
          <p:cNvPr id="47" name="Terminal 2 command box"/>
          <p:cNvSpPr/>
          <p:nvPr/>
        </p:nvSpPr>
        <p:spPr>
          <a:xfrm>
            <a:off x="6263640" y="5257800"/>
            <a:ext cx="2514600" cy="548640"/>
          </a:xfrm>
          <a:prstGeom prst="roundRect">
            <a:avLst>
              <a:gd name="adj" fmla="val 6000"/>
            </a:avLst>
          </a:prstGeom>
          <a:solidFill>
            <a:srgbClr val="1E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rminal 2 command"/>
          <p:cNvSpPr txBox="1"/>
          <p:nvPr/>
        </p:nvSpPr>
        <p:spPr>
          <a:xfrm>
            <a:off x="6263640" y="5257800"/>
            <a:ext cx="2514600" cy="548640"/>
          </a:xfrm>
          <a:prstGeom prst="rect">
            <a:avLst/>
          </a:prstGeom>
          <a:noFill/>
        </p:spPr>
        <p:txBody>
          <a:bodyPr wrap="square" lIns="0" rIns="0" tIns="0" bIns="0" anchor="ctr">
            <a:spAutoFit/>
          </a:bodyPr>
          <a:lstStyle/>
          <a:p>
            <a:pPr algn="ctr">
              <a:spcAft>
                <a:spcPts val="0"/>
              </a:spcAft>
            </a:pPr>
            <a:r>
              <a:rPr sz="1600" b="1" i="0">
                <a:solidFill>
                  <a:srgbClr val="7FD8A6"/>
                </a:solidFill>
                <a:latin typeface="Courier New"/>
              </a:rPr>
              <a:t>python run.py</a:t>
            </a:r>
          </a:p>
        </p:txBody>
      </p:sp>
      <p:sp>
        <p:nvSpPr>
          <p:cNvPr id="49" name="Terminal 2 label"/>
          <p:cNvSpPr txBox="1"/>
          <p:nvPr/>
        </p:nvSpPr>
        <p:spPr>
          <a:xfrm>
            <a:off x="8961120" y="5166360"/>
            <a:ext cx="2514600" cy="731520"/>
          </a:xfrm>
          <a:prstGeom prst="rect">
            <a:avLst/>
          </a:prstGeom>
          <a:noFill/>
        </p:spPr>
        <p:txBody>
          <a:bodyPr wrap="square" lIns="0" rIns="0" tIns="0" bIns="0" anchor="ctr">
            <a:spAutoFit/>
          </a:bodyPr>
          <a:lstStyle/>
          <a:p>
            <a:pPr>
              <a:spcAft>
                <a:spcPts val="0"/>
              </a:spcAft>
            </a:pPr>
            <a:r>
              <a:rPr sz="1300" b="1" i="0">
                <a:solidFill>
                  <a:schemeClr val="tx2"/>
                </a:solidFill>
              </a:rPr>
              <a:t>Terminal 2</a:t>
            </a:r>
          </a:p>
          <a:p>
            <a:pPr>
              <a:spcAft>
                <a:spcPts val="0"/>
              </a:spcAft>
            </a:pPr>
            <a:r>
              <a:rPr sz="1300" b="0" i="0">
                <a:solidFill>
                  <a:schemeClr val="tx1"/>
                </a:solidFill>
              </a:rPr>
              <a:t>Selenium tests it, step by step, in Chrome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Test Results</a:t>
            </a:r>
            <a:endParaRPr lang="en-US" sz="3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graphicFrame>
        <p:nvGraphicFramePr>
          <p:cNvPr id="26" name="Tests by level chart"/>
          <p:cNvGraphicFramePr>
            <a:graphicFrameLocks noGrp="1"/>
          </p:cNvGraphicFramePr>
          <p:nvPr/>
        </p:nvGraphicFramePr>
        <p:xfrm>
          <a:off x="548640" y="1234440"/>
          <a:ext cx="6766560" cy="3383280"/>
        </p:xfrm>
        <a:graphic>
          <a:graphicData uri="http://schemas.openxmlformats.org/drawingml/2006/chart">
            <c:chart xmlns:c="http://schemas.openxmlformats.org/drawingml/2006/chart" r:id="rId2"/>
          </a:graphicData>
        </a:graphic>
      </p:graphicFrame>
      <p:sp>
        <p:nvSpPr>
          <p:cNvPr id="27" name="Stat 1 card"/>
          <p:cNvSpPr/>
          <p:nvPr/>
        </p:nvSpPr>
        <p:spPr>
          <a:xfrm>
            <a:off x="7589520" y="1234440"/>
            <a:ext cx="4023360" cy="102412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Stat 1 number"/>
          <p:cNvSpPr txBox="1"/>
          <p:nvPr/>
        </p:nvSpPr>
        <p:spPr>
          <a:xfrm>
            <a:off x="7772400" y="1234440"/>
            <a:ext cx="1600200" cy="1024128"/>
          </a:xfrm>
          <a:prstGeom prst="rect">
            <a:avLst/>
          </a:prstGeom>
          <a:noFill/>
        </p:spPr>
        <p:txBody>
          <a:bodyPr wrap="square" lIns="0" rIns="0" tIns="0" bIns="0" anchor="ctr">
            <a:spAutoFit/>
          </a:bodyPr>
          <a:lstStyle/>
          <a:p>
            <a:pPr>
              <a:spcAft>
                <a:spcPts val="0"/>
              </a:spcAft>
            </a:pPr>
            <a:r>
              <a:rPr sz="3400" b="1" i="0">
                <a:solidFill>
                  <a:schemeClr val="accent4"/>
                </a:solidFill>
              </a:rPr>
              <a:t>122</a:t>
            </a:r>
          </a:p>
        </p:txBody>
      </p:sp>
      <p:sp>
        <p:nvSpPr>
          <p:cNvPr id="29" name="Stat 1 label"/>
          <p:cNvSpPr txBox="1"/>
          <p:nvPr/>
        </p:nvSpPr>
        <p:spPr>
          <a:xfrm>
            <a:off x="9418320" y="1234440"/>
            <a:ext cx="2103120" cy="1024128"/>
          </a:xfrm>
          <a:prstGeom prst="rect">
            <a:avLst/>
          </a:prstGeom>
          <a:noFill/>
        </p:spPr>
        <p:txBody>
          <a:bodyPr wrap="square" lIns="0" rIns="0" tIns="0" bIns="0" anchor="ctr">
            <a:spAutoFit/>
          </a:bodyPr>
          <a:lstStyle/>
          <a:p>
            <a:pPr>
              <a:spcAft>
                <a:spcPts val="0"/>
              </a:spcAft>
            </a:pPr>
            <a:r>
              <a:rPr sz="1400" b="0" i="0">
                <a:solidFill>
                  <a:schemeClr val="tx1"/>
                </a:solidFill>
              </a:rPr>
              <a:t>tests passed,
0 failed</a:t>
            </a:r>
          </a:p>
        </p:txBody>
      </p:sp>
      <p:sp>
        <p:nvSpPr>
          <p:cNvPr id="30" name="Stat 2 card"/>
          <p:cNvSpPr/>
          <p:nvPr/>
        </p:nvSpPr>
        <p:spPr>
          <a:xfrm>
            <a:off x="7589520" y="2423160"/>
            <a:ext cx="4023360" cy="102412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Stat 2 number"/>
          <p:cNvSpPr txBox="1"/>
          <p:nvPr/>
        </p:nvSpPr>
        <p:spPr>
          <a:xfrm>
            <a:off x="7772400" y="2423160"/>
            <a:ext cx="1600200" cy="1024128"/>
          </a:xfrm>
          <a:prstGeom prst="rect">
            <a:avLst/>
          </a:prstGeom>
          <a:noFill/>
        </p:spPr>
        <p:txBody>
          <a:bodyPr wrap="square" lIns="0" rIns="0" tIns="0" bIns="0" anchor="ctr">
            <a:spAutoFit/>
          </a:bodyPr>
          <a:lstStyle/>
          <a:p>
            <a:pPr>
              <a:spcAft>
                <a:spcPts val="0"/>
              </a:spcAft>
            </a:pPr>
            <a:r>
              <a:rPr sz="3400" b="1" i="0">
                <a:solidFill>
                  <a:schemeClr val="accent3"/>
                </a:solidFill>
              </a:rPr>
              <a:t>9</a:t>
            </a:r>
          </a:p>
        </p:txBody>
      </p:sp>
      <p:sp>
        <p:nvSpPr>
          <p:cNvPr id="32" name="Stat 2 label"/>
          <p:cNvSpPr txBox="1"/>
          <p:nvPr/>
        </p:nvSpPr>
        <p:spPr>
          <a:xfrm>
            <a:off x="9418320" y="2423160"/>
            <a:ext cx="2103120" cy="1024128"/>
          </a:xfrm>
          <a:prstGeom prst="rect">
            <a:avLst/>
          </a:prstGeom>
          <a:noFill/>
        </p:spPr>
        <p:txBody>
          <a:bodyPr wrap="square" lIns="0" rIns="0" tIns="0" bIns="0" anchor="ctr">
            <a:spAutoFit/>
          </a:bodyPr>
          <a:lstStyle/>
          <a:p>
            <a:pPr>
              <a:spcAft>
                <a:spcPts val="0"/>
              </a:spcAft>
            </a:pPr>
            <a:r>
              <a:rPr sz="1400" b="0" i="0">
                <a:solidFill>
                  <a:schemeClr val="tx1"/>
                </a:solidFill>
              </a:rPr>
              <a:t>real defects found
and fixed</a:t>
            </a:r>
          </a:p>
        </p:txBody>
      </p:sp>
      <p:sp>
        <p:nvSpPr>
          <p:cNvPr id="33" name="Stat 3 card"/>
          <p:cNvSpPr/>
          <p:nvPr/>
        </p:nvSpPr>
        <p:spPr>
          <a:xfrm>
            <a:off x="7589520" y="3611880"/>
            <a:ext cx="4023360" cy="102412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Stat 3 number"/>
          <p:cNvSpPr txBox="1"/>
          <p:nvPr/>
        </p:nvSpPr>
        <p:spPr>
          <a:xfrm>
            <a:off x="7772400" y="3611880"/>
            <a:ext cx="1600200" cy="1024128"/>
          </a:xfrm>
          <a:prstGeom prst="rect">
            <a:avLst/>
          </a:prstGeom>
          <a:noFill/>
        </p:spPr>
        <p:txBody>
          <a:bodyPr wrap="square" lIns="0" rIns="0" tIns="0" bIns="0" anchor="ctr">
            <a:spAutoFit/>
          </a:bodyPr>
          <a:lstStyle/>
          <a:p>
            <a:pPr>
              <a:spcAft>
                <a:spcPts val="0"/>
              </a:spcAft>
            </a:pPr>
            <a:r>
              <a:rPr sz="3400" b="1" i="0">
                <a:solidFill>
                  <a:schemeClr val="accent1"/>
                </a:solidFill>
              </a:rPr>
              <a:t>6 / 6</a:t>
            </a:r>
          </a:p>
        </p:txBody>
      </p:sp>
      <p:sp>
        <p:nvSpPr>
          <p:cNvPr id="35" name="Stat 3 label"/>
          <p:cNvSpPr txBox="1"/>
          <p:nvPr/>
        </p:nvSpPr>
        <p:spPr>
          <a:xfrm>
            <a:off x="9418320" y="3611880"/>
            <a:ext cx="2103120" cy="1024128"/>
          </a:xfrm>
          <a:prstGeom prst="rect">
            <a:avLst/>
          </a:prstGeom>
          <a:noFill/>
        </p:spPr>
        <p:txBody>
          <a:bodyPr wrap="square" lIns="0" rIns="0" tIns="0" bIns="0" anchor="ctr">
            <a:spAutoFit/>
          </a:bodyPr>
          <a:lstStyle/>
          <a:p>
            <a:pPr>
              <a:spcAft>
                <a:spcPts val="0"/>
              </a:spcAft>
            </a:pPr>
            <a:r>
              <a:rPr sz="1400" b="0" i="0">
                <a:solidFill>
                  <a:schemeClr val="tx1"/>
                </a:solidFill>
              </a:rPr>
              <a:t>planted bugs caught
(mutation testing)</a:t>
            </a:r>
          </a:p>
        </p:txBody>
      </p:sp>
      <p:sp>
        <p:nvSpPr>
          <p:cNvPr id="36" name="Business rules box"/>
          <p:cNvSpPr/>
          <p:nvPr/>
        </p:nvSpPr>
        <p:spPr>
          <a:xfrm>
            <a:off x="548640" y="4846320"/>
            <a:ext cx="6766560" cy="1280160"/>
          </a:xfrm>
          <a:prstGeom prst="roundRect">
            <a:avLst>
              <a:gd name="adj" fmla="val 6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usiness rules circle"/>
          <p:cNvSpPr/>
          <p:nvPr/>
        </p:nvSpPr>
        <p:spPr>
          <a:xfrm>
            <a:off x="731520" y="5029200"/>
            <a:ext cx="502920" cy="502920"/>
          </a:xfrm>
          <a:prstGeom prst="ellipse">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Business rules icon" descr="image.png"/>
          <p:cNvPicPr>
            <a:picLocks noChangeAspect="1"/>
          </p:cNvPicPr>
          <p:nvPr/>
        </p:nvPicPr>
        <p:blipFill>
          <a:blip r:embed="rId3"/>
          <a:stretch>
            <a:fillRect/>
          </a:stretch>
        </p:blipFill>
        <p:spPr>
          <a:xfrm>
            <a:off x="867308" y="5164988"/>
            <a:ext cx="231343" cy="231343"/>
          </a:xfrm>
          <a:prstGeom prst="rect">
            <a:avLst/>
          </a:prstGeom>
        </p:spPr>
      </p:pic>
      <p:sp>
        <p:nvSpPr>
          <p:cNvPr id="39" name="Business rules text"/>
          <p:cNvSpPr txBox="1"/>
          <p:nvPr/>
        </p:nvSpPr>
        <p:spPr>
          <a:xfrm>
            <a:off x="1417320" y="4892040"/>
            <a:ext cx="5760720" cy="1188720"/>
          </a:xfrm>
          <a:prstGeom prst="rect">
            <a:avLst/>
          </a:prstGeom>
          <a:noFill/>
        </p:spPr>
        <p:txBody>
          <a:bodyPr wrap="square" lIns="0" rIns="0" tIns="0" bIns="0" anchor="ctr">
            <a:spAutoFit/>
          </a:bodyPr>
          <a:lstStyle/>
          <a:p>
            <a:pPr>
              <a:spcAft>
                <a:spcPts val="0"/>
              </a:spcAft>
            </a:pPr>
            <a:r>
              <a:rPr sz="1400" b="1" i="0">
                <a:solidFill>
                  <a:schemeClr val="tx2"/>
                </a:solidFill>
              </a:rPr>
              <a:t>Business rules verified: </a:t>
            </a:r>
            <a:r>
              <a:rPr sz="1400" b="0" i="0">
                <a:solidFill>
                  <a:schemeClr val="tx1"/>
                </a:solidFill>
              </a:rPr>
              <a:t>wrong input is rejected and not saved, a doctor or patient cannot be double-booked, an unavailable doctor cannot be booked, and the bill total is calculated correctly.</a:t>
            </a:r>
          </a:p>
        </p:txBody>
      </p:sp>
      <p:sp>
        <p:nvSpPr>
          <p:cNvPr id="40" name="Report command box"/>
          <p:cNvSpPr/>
          <p:nvPr/>
        </p:nvSpPr>
        <p:spPr>
          <a:xfrm>
            <a:off x="7589520" y="4846320"/>
            <a:ext cx="4023360" cy="1280160"/>
          </a:xfrm>
          <a:prstGeom prst="roundRect">
            <a:avLst>
              <a:gd name="adj" fmla="val 6000"/>
            </a:avLst>
          </a:prstGeom>
          <a:solidFill>
            <a:srgbClr val="1E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port command text"/>
          <p:cNvSpPr txBox="1"/>
          <p:nvPr/>
        </p:nvSpPr>
        <p:spPr>
          <a:xfrm>
            <a:off x="7772400" y="4846320"/>
            <a:ext cx="3749039" cy="1280160"/>
          </a:xfrm>
          <a:prstGeom prst="rect">
            <a:avLst/>
          </a:prstGeom>
          <a:noFill/>
        </p:spPr>
        <p:txBody>
          <a:bodyPr wrap="square" lIns="0" rIns="0" tIns="0" bIns="0" anchor="ctr">
            <a:spAutoFit/>
          </a:bodyPr>
          <a:lstStyle/>
          <a:p>
            <a:pPr>
              <a:spcAft>
                <a:spcPts val="400"/>
              </a:spcAft>
            </a:pPr>
            <a:r>
              <a:rPr sz="1400" b="1" i="0">
                <a:solidFill>
                  <a:srgbClr val="7FD8A6"/>
                </a:solidFill>
                <a:latin typeface="Courier New"/>
              </a:rPr>
              <a:t>$ python report.py</a:t>
            </a:r>
          </a:p>
          <a:p>
            <a:pPr>
              <a:spcAft>
                <a:spcPts val="0"/>
              </a:spcAft>
            </a:pPr>
            <a:r>
              <a:rPr sz="1200" b="0" i="0">
                <a:solidFill>
                  <a:srgbClr val="E8F1F2"/>
                </a:solidFill>
              </a:rPr>
              <a:t>Runs all 122 tests in about 1.5 minutes and opens the HTML test report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bg1"/>
                </a:solidFill>
              </a:rPr>
              <a:t>Conclusion</a:t>
            </a:r>
            <a:endParaRPr lang="en-US" sz="3400" dirty="0"/>
          </a:p>
        </p:txBody>
      </p:sp>
      <p:sp>
        <p:nvSpPr>
          <p:cNvPr id="23" name="Thank you box"/>
          <p:cNvSpPr/>
          <p:nvPr/>
        </p:nvSpPr>
        <p:spPr>
          <a:xfrm>
            <a:off x="548640" y="4983480"/>
            <a:ext cx="11064240" cy="1188720"/>
          </a:xfrm>
          <a:prstGeom prst="roundRect">
            <a:avLst>
              <a:gd name="adj" fmla="val 7692"/>
            </a:avLst>
          </a:prstGeom>
          <a:solidFill>
            <a:schemeClr val="accent1"/>
          </a:solidFill>
          <a:ln/>
        </p:spPr>
      </p:sp>
      <p:sp>
        <p:nvSpPr>
          <p:cNvPr id="24" name="Thank you text"/>
          <p:cNvSpPr txBox="1"/>
          <p:nvPr/>
        </p:nvSpPr>
        <p:spPr>
          <a:xfrm>
            <a:off x="548640" y="4983480"/>
            <a:ext cx="11064240" cy="118872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Thank You</a:t>
            </a:r>
            <a:endParaRPr lang="en-US" sz="3000" dirty="0"/>
          </a:p>
          <a:p>
            <a:pPr algn="ctr" indent="0" marL="0">
              <a:buNone/>
            </a:pPr>
            <a:r>
              <a:rPr lang="en-US" sz="1500" dirty="0">
                <a:solidFill>
                  <a:schemeClr val="bg1"/>
                </a:solidFill>
              </a:rPr>
              <a:t>Questions?  |  Arun C (23MIS0445)  |  Sai Chandan K S (23MIS0115)</a:t>
            </a:r>
            <a:endParaRPr lang="en-US" sz="3000" dirty="0"/>
          </a:p>
        </p:txBody>
      </p:sp>
      <p:sp>
        <p:nvSpPr>
          <p:cNvPr id="25" name="What we built card"/>
          <p:cNvSpPr/>
          <p:nvPr/>
        </p:nvSpPr>
        <p:spPr>
          <a:xfrm>
            <a:off x="548640" y="1280160"/>
            <a:ext cx="5440680" cy="1645920"/>
          </a:xfrm>
          <a:prstGeom prst="roundRect">
            <a:avLst>
              <a:gd name="adj" fmla="val 6000"/>
            </a:avLst>
          </a:prstGeom>
          <a:solidFill>
            <a:srgbClr val="08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What we built circle"/>
          <p:cNvSpPr/>
          <p:nvPr/>
        </p:nvSpPr>
        <p:spPr>
          <a:xfrm>
            <a:off x="777240" y="1554480"/>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What we built icon" descr="image.png"/>
          <p:cNvPicPr>
            <a:picLocks noChangeAspect="1"/>
          </p:cNvPicPr>
          <p:nvPr/>
        </p:nvPicPr>
        <p:blipFill>
          <a:blip r:embed="rId9"/>
          <a:stretch>
            <a:fillRect/>
          </a:stretch>
        </p:blipFill>
        <p:spPr>
          <a:xfrm>
            <a:off x="950061" y="1727301"/>
            <a:ext cx="294436" cy="294436"/>
          </a:xfrm>
          <a:prstGeom prst="rect">
            <a:avLst/>
          </a:prstGeom>
        </p:spPr>
      </p:pic>
      <p:sp>
        <p:nvSpPr>
          <p:cNvPr id="28" name="What we built text"/>
          <p:cNvSpPr txBox="1"/>
          <p:nvPr/>
        </p:nvSpPr>
        <p:spPr>
          <a:xfrm>
            <a:off x="1645919" y="1463039"/>
            <a:ext cx="4160520" cy="1325880"/>
          </a:xfrm>
          <a:prstGeom prst="rect">
            <a:avLst/>
          </a:prstGeom>
          <a:noFill/>
        </p:spPr>
        <p:txBody>
          <a:bodyPr wrap="square" lIns="0" rIns="0" tIns="0" bIns="0" anchor="ctr">
            <a:spAutoFit/>
          </a:bodyPr>
          <a:lstStyle/>
          <a:p>
            <a:pPr>
              <a:spcAft>
                <a:spcPts val="400"/>
              </a:spcAft>
            </a:pPr>
            <a:r>
              <a:rPr sz="1800" b="1" i="0">
                <a:solidFill>
                  <a:schemeClr val="accent2"/>
                </a:solidFill>
              </a:rPr>
              <a:t>What we built</a:t>
            </a:r>
          </a:p>
          <a:p>
            <a:pPr>
              <a:spcAft>
                <a:spcPts val="0"/>
              </a:spcAft>
            </a:pPr>
            <a:r>
              <a:rPr sz="1400" b="0" i="0">
                <a:solidFill>
                  <a:schemeClr val="bg1"/>
                </a:solidFill>
              </a:rPr>
              <a:t>A working Hospital Management System with 6 modules: login, patients, doctors, appointments, medical records and billing.</a:t>
            </a:r>
          </a:p>
        </p:txBody>
      </p:sp>
      <p:sp>
        <p:nvSpPr>
          <p:cNvPr id="29" name="What we tested card"/>
          <p:cNvSpPr/>
          <p:nvPr/>
        </p:nvSpPr>
        <p:spPr>
          <a:xfrm>
            <a:off x="6172200" y="1280160"/>
            <a:ext cx="5440680" cy="1645920"/>
          </a:xfrm>
          <a:prstGeom prst="roundRect">
            <a:avLst>
              <a:gd name="adj" fmla="val 6000"/>
            </a:avLst>
          </a:prstGeom>
          <a:solidFill>
            <a:srgbClr val="08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What we tested circle"/>
          <p:cNvSpPr/>
          <p:nvPr/>
        </p:nvSpPr>
        <p:spPr>
          <a:xfrm>
            <a:off x="6400800" y="1554480"/>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What we tested icon" descr="vial.png"/>
          <p:cNvPicPr>
            <a:picLocks noChangeAspect="1"/>
          </p:cNvPicPr>
          <p:nvPr/>
        </p:nvPicPr>
        <p:blipFill>
          <a:blip r:embed="rId10"/>
          <a:stretch>
            <a:fillRect/>
          </a:stretch>
        </p:blipFill>
        <p:spPr>
          <a:xfrm>
            <a:off x="6573621" y="1727301"/>
            <a:ext cx="294436" cy="294436"/>
          </a:xfrm>
          <a:prstGeom prst="rect">
            <a:avLst/>
          </a:prstGeom>
        </p:spPr>
      </p:pic>
      <p:sp>
        <p:nvSpPr>
          <p:cNvPr id="32" name="What we tested text"/>
          <p:cNvSpPr txBox="1"/>
          <p:nvPr/>
        </p:nvSpPr>
        <p:spPr>
          <a:xfrm>
            <a:off x="7269480" y="1463039"/>
            <a:ext cx="4160520" cy="1325880"/>
          </a:xfrm>
          <a:prstGeom prst="rect">
            <a:avLst/>
          </a:prstGeom>
          <a:noFill/>
        </p:spPr>
        <p:txBody>
          <a:bodyPr wrap="square" lIns="0" rIns="0" tIns="0" bIns="0" anchor="ctr">
            <a:spAutoFit/>
          </a:bodyPr>
          <a:lstStyle/>
          <a:p>
            <a:pPr>
              <a:spcAft>
                <a:spcPts val="400"/>
              </a:spcAft>
            </a:pPr>
            <a:r>
              <a:rPr sz="1800" b="1" i="0">
                <a:solidFill>
                  <a:schemeClr val="accent2"/>
                </a:solidFill>
              </a:rPr>
              <a:t>What we tested</a:t>
            </a:r>
          </a:p>
          <a:p>
            <a:pPr>
              <a:spcAft>
                <a:spcPts val="0"/>
              </a:spcAft>
            </a:pPr>
            <a:r>
              <a:rPr sz="1400" b="0" i="0">
                <a:solidFill>
                  <a:schemeClr val="bg1"/>
                </a:solidFill>
              </a:rPr>
              <a:t>122 automated tests: 37 Selenium tests (positive, negative, boundary and security) and 85 PyTest tests. All pass.</a:t>
            </a:r>
          </a:p>
        </p:txBody>
      </p:sp>
      <p:sp>
        <p:nvSpPr>
          <p:cNvPr id="33" name="What we found card"/>
          <p:cNvSpPr/>
          <p:nvPr/>
        </p:nvSpPr>
        <p:spPr>
          <a:xfrm>
            <a:off x="548640" y="3108960"/>
            <a:ext cx="5440680" cy="1645920"/>
          </a:xfrm>
          <a:prstGeom prst="roundRect">
            <a:avLst>
              <a:gd name="adj" fmla="val 6000"/>
            </a:avLst>
          </a:prstGeom>
          <a:solidFill>
            <a:srgbClr val="08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What we found circle"/>
          <p:cNvSpPr/>
          <p:nvPr/>
        </p:nvSpPr>
        <p:spPr>
          <a:xfrm>
            <a:off x="777240" y="3383279"/>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What we found icon" descr="image.png"/>
          <p:cNvPicPr>
            <a:picLocks noChangeAspect="1"/>
          </p:cNvPicPr>
          <p:nvPr/>
        </p:nvPicPr>
        <p:blipFill>
          <a:blip r:embed="rId11"/>
          <a:stretch>
            <a:fillRect/>
          </a:stretch>
        </p:blipFill>
        <p:spPr>
          <a:xfrm>
            <a:off x="950061" y="3556101"/>
            <a:ext cx="294436" cy="294436"/>
          </a:xfrm>
          <a:prstGeom prst="rect">
            <a:avLst/>
          </a:prstGeom>
        </p:spPr>
      </p:pic>
      <p:sp>
        <p:nvSpPr>
          <p:cNvPr id="36" name="What we found text"/>
          <p:cNvSpPr txBox="1"/>
          <p:nvPr/>
        </p:nvSpPr>
        <p:spPr>
          <a:xfrm>
            <a:off x="1645919" y="3291840"/>
            <a:ext cx="4160520" cy="1325880"/>
          </a:xfrm>
          <a:prstGeom prst="rect">
            <a:avLst/>
          </a:prstGeom>
          <a:noFill/>
        </p:spPr>
        <p:txBody>
          <a:bodyPr wrap="square" lIns="0" rIns="0" tIns="0" bIns="0" anchor="ctr">
            <a:spAutoFit/>
          </a:bodyPr>
          <a:lstStyle/>
          <a:p>
            <a:pPr>
              <a:spcAft>
                <a:spcPts val="400"/>
              </a:spcAft>
            </a:pPr>
            <a:r>
              <a:rPr sz="1800" b="1" i="0">
                <a:solidFill>
                  <a:schemeClr val="accent2"/>
                </a:solidFill>
              </a:rPr>
              <a:t>What we found</a:t>
            </a:r>
          </a:p>
          <a:p>
            <a:pPr>
              <a:spcAft>
                <a:spcPts val="0"/>
              </a:spcAft>
            </a:pPr>
            <a:r>
              <a:rPr sz="1400" b="0" i="0">
                <a:solidFill>
                  <a:schemeClr val="bg1"/>
                </a:solidFill>
              </a:rPr>
              <a:t>9 real defects, for example typing 'nan' as a doctor's fee crashed the server. All fixed, each with a regression test.</a:t>
            </a:r>
          </a:p>
        </p:txBody>
      </p:sp>
      <p:sp>
        <p:nvSpPr>
          <p:cNvPr id="37" name="What we learned card"/>
          <p:cNvSpPr/>
          <p:nvPr/>
        </p:nvSpPr>
        <p:spPr>
          <a:xfrm>
            <a:off x="6172200" y="3108960"/>
            <a:ext cx="5440680" cy="1645920"/>
          </a:xfrm>
          <a:prstGeom prst="roundRect">
            <a:avLst>
              <a:gd name="adj" fmla="val 6000"/>
            </a:avLst>
          </a:prstGeom>
          <a:solidFill>
            <a:srgbClr val="08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What we learned circle"/>
          <p:cNvSpPr/>
          <p:nvPr/>
        </p:nvSpPr>
        <p:spPr>
          <a:xfrm>
            <a:off x="6400800" y="3383279"/>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What we learned icon" descr="bulb.png"/>
          <p:cNvPicPr>
            <a:picLocks noChangeAspect="1"/>
          </p:cNvPicPr>
          <p:nvPr/>
        </p:nvPicPr>
        <p:blipFill>
          <a:blip r:embed="rId12"/>
          <a:stretch>
            <a:fillRect/>
          </a:stretch>
        </p:blipFill>
        <p:spPr>
          <a:xfrm>
            <a:off x="6573621" y="3556101"/>
            <a:ext cx="294436" cy="294436"/>
          </a:xfrm>
          <a:prstGeom prst="rect">
            <a:avLst/>
          </a:prstGeom>
        </p:spPr>
      </p:pic>
      <p:sp>
        <p:nvSpPr>
          <p:cNvPr id="40" name="What we learned text"/>
          <p:cNvSpPr txBox="1"/>
          <p:nvPr/>
        </p:nvSpPr>
        <p:spPr>
          <a:xfrm>
            <a:off x="7269480" y="3291840"/>
            <a:ext cx="4160520" cy="1325880"/>
          </a:xfrm>
          <a:prstGeom prst="rect">
            <a:avLst/>
          </a:prstGeom>
          <a:noFill/>
        </p:spPr>
        <p:txBody>
          <a:bodyPr wrap="square" lIns="0" rIns="0" tIns="0" bIns="0" anchor="ctr">
            <a:spAutoFit/>
          </a:bodyPr>
          <a:lstStyle/>
          <a:p>
            <a:pPr>
              <a:spcAft>
                <a:spcPts val="400"/>
              </a:spcAft>
            </a:pPr>
            <a:r>
              <a:rPr sz="1800" b="1" i="0">
                <a:solidFill>
                  <a:schemeClr val="accent2"/>
                </a:solidFill>
              </a:rPr>
              <a:t>What we learned</a:t>
            </a:r>
          </a:p>
          <a:p>
            <a:pPr>
              <a:spcAft>
                <a:spcPts val="0"/>
              </a:spcAft>
            </a:pPr>
            <a:r>
              <a:rPr sz="1400" b="0" i="0">
                <a:solidFill>
                  <a:schemeClr val="bg1"/>
                </a:solidFill>
              </a:rPr>
              <a:t>Automated tests make regression testing fast and repeatable, and correct waits are needed to avoid flaky tests.</a:t>
            </a:r>
          </a:p>
        </p:txBody>
      </p:sp>
    </p:spTree>
  </p:cSld>
  <p:clrMapOvr>
    <a:masterClrMapping/>
  </p:clrMapOvr>
</p:sld>
</file>

<file path=ppt/theme/theme1.xml><?xml version="1.0" encoding="utf-8"?>
<a:theme xmlns:a="http://schemas.openxmlformats.org/drawingml/2006/main" name="HMS Teal">
  <a:themeElements>
    <a:clrScheme name="HMS Teal">
      <a:dk1>
        <a:srgbClr val="1D2B33"/>
      </a:dk1>
      <a:lt1>
        <a:srgbClr val="FFFFFF"/>
      </a:lt1>
      <a:dk2>
        <a:srgbClr val="0B4F5C"/>
      </a:dk2>
      <a:lt2>
        <a:srgbClr val="EEF5F6"/>
      </a:lt2>
      <a:accent1>
        <a:srgbClr val="0E7C86"/>
      </a:accent1>
      <a:accent2>
        <a:srgbClr val="2EC4B6"/>
      </a:accent2>
      <a:accent3>
        <a:srgbClr val="E76F51"/>
      </a:accent3>
      <a:accent4>
        <a:srgbClr val="2E9E5B"/>
      </a:accent4>
      <a:accent5>
        <a:srgbClr val="F4A261"/>
      </a:accent5>
      <a:accent6>
        <a:srgbClr val="5C6F7A"/>
      </a:accent6>
      <a:hlink>
        <a:srgbClr val="0E7C86"/>
      </a:hlink>
      <a:folHlink>
        <a:srgbClr val="0B4F5C"/>
      </a:folHlink>
    </a:clrScheme>
    <a:fontScheme name="HMS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Hospital Management System - Software Testing using Selenium WebDriver</dc:title>
  <dc:subject>PptxGenJS Presentation</dc:subject>
  <dc:creator>Arun C, Sai Chandan K S</dc:creator>
  <cp:lastModifiedBy>Arun C, Sai Chandan K S</cp:lastModifiedBy>
  <cp:revision>1</cp:revision>
  <dcterms:created xsi:type="dcterms:W3CDTF">2026-10-04T13:48:52Z</dcterms:created>
  <dcterms:modified xsi:type="dcterms:W3CDTF">2026-10-04T13:48:52Z</dcterms:modified>
</cp:coreProperties>
</file>