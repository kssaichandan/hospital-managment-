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73fe79-eb67-8d6c-1d52-b433f9c1adc1}">
          <p14:sldIdLst>
            <p14:sldId id="256"/>
            <p14:sldId id="257"/>
          </p14:sldIdLst>
        </p14:section>
        <p14:section name="The System" id="{a54bd806-5240-b05f-88c3-a7c654323e0b}">
          <p14:sldIdLst>
            <p14:sldId id="258"/>
            <p14:sldId id="259"/>
          </p14:sldIdLst>
        </p14:section>
        <p14:section name="Testing" id="{37679590-d564-b5af-e3fb-5948fc2f5a0c}">
          <p14:sldIdLst>
            <p14:sldId id="260"/>
            <p14:sldId id="261"/>
            <p14:sldId id="262"/>
          </p14:sldIdLst>
        </p14:section>
        <p14:section name="Results" id="{3982fc1d-658e-be13-96f8-88fa5011c114}">
          <p14:sldIdLst>
            <p14:sldId id="263"/>
          </p14:sldIdLst>
        </p14:section>
        <p14:section name="Conclusion" id="{1fed0cc7-ad87-ee72-5a18-139830b31cb3}">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Arun and Sai Chandan. Our project is a Hospital Management System, and the main focus is SOFTWARE TESTING: we built a working web application and then tested it automatically using Selenium WebDriver. In the next slides we will show the system, its modules, the Selenium tool, our test cases, and the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hospitals records are still kept manually, which leads to duplicate data, mistakes and delays. Our solution is a single web application for patients, doctors, appointments, medical records and billing. Because this is a Software Testing project, the most important part is testing: we use Selenium WebDriver to automatically open the browser, type data, click buttons and check that the system gives the expected result. These are our objectives, taken from our project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the six modules described in the document. Login protects every page. Patient Management supports add, view, update, delete and search by patient ID. Doctor Management supports add, update, search and availability. Appointments lets staff book and cancel, and the system blocks booking the same doctor twice at the same time. Medical Records stores diagnosis, treatment and prescription with history. Billing adds consultation and treatment charges and calculates the total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of our project. The user (or Selenium) works in the Chrome browser. The browser talks to our Flask web app in app.py. Before anything is saved, validators.py checks the input, for example the phone must be 10 digits and age between 0 and 120. database.py saves the data into an SQLite database. At the top, Selenium WebDriver controls Chrome automatically, just like a real user. We used Python, Flask, SQLite, Selenium 4 and PyTest. pytest-html produces the test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Selenium is an open-source tool for automating web browsers. It has three main parts. Selenium WebDriver, which we used, controls the browser from code. Selenium IDE records and replays actions, and Selenium Grid runs tests on many browsers at once. Every one of our tests follows these 7 steps: launch the browser, open the HMS, locate elements by their ID, perform actions like typing and clicking, submit, verify the result with an assert, and record the result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nine test cases from our project document, TC01 to TC09. Each covers a valid or an invalid input. For example TC02 enters a wrong password and checks that the error message appears; TC04 submits an empty form and checks that a validation message appears. All nine passed. We also wrote four extra tests for the other modules: doctor availability, double booking prevention, medical records, and checking that the bill total is calculated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login example as in our document, written in Python. It is in our project as selenium_login_demo.py. webdriver.Chrome opens Chrome, get opens our HMS, find_element finds the username box by its id, send_keys types into it, click presses the login button. The assert line is the actual test: if the dashboard did not open, the test fails. quit closes the browser. Our full test file uses exactly these commands for all 13 test cases, run by PyTest. LIVE DEMO: run 'python -m pytest tests/ui' and Chrome will open and run all tests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13 Selenium tests passed, and we also have 85 PyTest tests that check the validation rules and database directly, without a browser. All 98 run in about 25 seconds and produce this HTML report. Our testing also FOUND real defects. Using exploratory testing we tried to break the app on purpose: typing 'nan' as a doctor fee crashed the server, infinity was accepted as a bill amount, the same patient could be booked with two doctors at the same time, and deleting a record that does not exist still showed success. We also found that our Selenium tests failed randomly about one run in three, because Selenium checked the page while Chrome was still loading it - a common automation problem called synchronization. We fixed all 9 defects and added a regression test for each one, so they can never come back. The full list is in our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working Hospital Management System with six modules and tested it automatically with Selenium WebDriver. Every test case from our document passes, for both valid and invalid inputs, and the full suite can be re-run in seconds after any change. In the future we can add AI-based test generation, cross-browser testing with Selenium Grid, a CI pipeline, performance testing, mobile testing with Appium and security testing. Thank you,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Hospital Management System  |  Software Testing using Selenium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VIT logo" descr="logo-000.png">    </p:cNvPr>
          <p:cNvPicPr>
            <a:picLocks noChangeAspect="1"/>
          </p:cNvPicPr>
          <p:nvPr/>
        </p:nvPicPr>
        <p:blipFill>
          <a:blip r:embed="rId1"/>
          <a:stretch>
            <a:fillRect/>
          </a:stretch>
        </p:blipFill>
        <p:spPr>
          <a:xfrm>
            <a:off x="640080" y="502920"/>
            <a:ext cx="3566160" cy="2002536"/>
          </a:xfrm>
          <a:prstGeom prst="rect">
            <a:avLst/>
          </a:prstGeom>
        </p:spPr>
      </p:pic>
      <p:sp>
        <p:nvSpPr>
          <p:cNvPr id="3" name="Title"/>
          <p:cNvSpPr txBox="1"/>
          <p:nvPr/>
        </p:nvSpPr>
        <p:spPr>
          <a:xfrm>
            <a:off x="640080" y="2697480"/>
            <a:ext cx="6858000" cy="1325880"/>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Hospital Management System</a:t>
            </a:r>
            <a:endParaRPr lang="en-US" sz="4000" dirty="0"/>
          </a:p>
        </p:txBody>
      </p:sp>
      <p:sp>
        <p:nvSpPr>
          <p:cNvPr id="4" name="Subtitle"/>
          <p:cNvSpPr txBox="1"/>
          <p:nvPr/>
        </p:nvSpPr>
        <p:spPr>
          <a:xfrm>
            <a:off x="640080" y="4160520"/>
            <a:ext cx="6858000" cy="548640"/>
          </a:xfrm>
          <a:prstGeom prst="rect">
            <a:avLst/>
          </a:prstGeom>
          <a:noFill/>
          <a:ln/>
        </p:spPr>
        <p:txBody>
          <a:bodyPr wrap="square" lIns="0" tIns="0" rIns="0" bIns="0" rtlCol="0" anchor="ctr"/>
          <a:lstStyle/>
          <a:p>
            <a:pPr indent="0" marL="0">
              <a:buNone/>
            </a:pPr>
            <a:r>
              <a:rPr lang="en-US" sz="2400" dirty="0">
                <a:solidFill>
                  <a:schemeClr val="accent1"/>
                </a:solidFill>
              </a:rPr>
              <a:t>Software Testing using Selenium WebDriver</a:t>
            </a:r>
            <a:endParaRPr lang="en-US" sz="2400" dirty="0"/>
          </a:p>
        </p:txBody>
      </p:sp>
      <p:sp>
        <p:nvSpPr>
          <p:cNvPr id="5" name="Department and course"/>
          <p:cNvSpPr txBox="1"/>
          <p:nvPr/>
        </p:nvSpPr>
        <p:spPr>
          <a:xfrm>
            <a:off x="640080" y="4983480"/>
            <a:ext cx="6858000" cy="73152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Department: </a:t>
            </a:r>
            <a:pPr indent="0" marL="0">
              <a:spcAft>
                <a:spcPts val="400"/>
              </a:spcAft>
              <a:buNone/>
            </a:pPr>
            <a:r>
              <a:rPr lang="en-US" sz="1600" dirty="0">
                <a:solidFill>
                  <a:schemeClr val="tx1"/>
                </a:solidFill>
              </a:rPr>
              <a:t>M.Tech Software Engineering, SCORE</a:t>
            </a:r>
            <a:endParaRPr lang="en-US" sz="1600" dirty="0"/>
          </a:p>
          <a:p>
            <a:pPr indent="0" marL="0">
              <a:spcAft>
                <a:spcPts val="400"/>
              </a:spcAft>
              <a:buNone/>
            </a:pPr>
            <a:r>
              <a:rPr lang="en-US" sz="1600" b="1" dirty="0">
                <a:solidFill>
                  <a:schemeClr val="tx1"/>
                </a:solidFill>
              </a:rPr>
              <a:t>Course: </a:t>
            </a:r>
            <a:pPr indent="0" marL="0">
              <a:spcAft>
                <a:spcPts val="400"/>
              </a:spcAft>
              <a:buNone/>
            </a:pPr>
            <a:r>
              <a:rPr lang="en-US" sz="1600" dirty="0">
                <a:solidFill>
                  <a:schemeClr val="tx1"/>
                </a:solidFill>
              </a:rPr>
              <a:t>Software Testing</a:t>
            </a:r>
            <a:endParaRPr lang="en-US" sz="1600" dirty="0"/>
          </a:p>
        </p:txBody>
      </p:sp>
      <p:sp>
        <p:nvSpPr>
          <p:cNvPr id="6" name="Team panel"/>
          <p:cNvSpPr/>
          <p:nvPr/>
        </p:nvSpPr>
        <p:spPr>
          <a:xfrm>
            <a:off x="7863840" y="0"/>
            <a:ext cx="4325112" cy="6858000"/>
          </a:xfrm>
          <a:prstGeom prst="rect">
            <a:avLst/>
          </a:prstGeom>
          <a:solidFill>
            <a:schemeClr val="tx2"/>
          </a:solidFill>
          <a:ln/>
        </p:spPr>
      </p:sp>
      <p:sp>
        <p:nvSpPr>
          <p:cNvPr id="7" name="Hospital icon circle"/>
          <p:cNvSpPr/>
          <p:nvPr/>
        </p:nvSpPr>
        <p:spPr>
          <a:xfrm>
            <a:off x="9326880" y="914400"/>
            <a:ext cx="1371600" cy="1371600"/>
          </a:xfrm>
          <a:prstGeom prst="ellipse">
            <a:avLst/>
          </a:prstGeom>
          <a:solidFill>
            <a:schemeClr val="accent1"/>
          </a:solidFill>
          <a:ln/>
        </p:spPr>
      </p:sp>
      <p:pic>
        <p:nvPicPr>
          <p:cNvPr id="8" name="Hospital icon" descr="preencoded.png">    </p:cNvPr>
          <p:cNvPicPr>
            <a:picLocks noChangeAspect="1"/>
          </p:cNvPicPr>
          <p:nvPr/>
        </p:nvPicPr>
        <p:blipFill>
          <a:blip r:embed="rId2"/>
          <a:stretch>
            <a:fillRect/>
          </a:stretch>
        </p:blipFill>
        <p:spPr>
          <a:xfrm>
            <a:off x="9669780" y="1257300"/>
            <a:ext cx="685800" cy="685800"/>
          </a:xfrm>
          <a:prstGeom prst="rect">
            <a:avLst/>
          </a:prstGeom>
        </p:spPr>
      </p:pic>
      <p:sp>
        <p:nvSpPr>
          <p:cNvPr id="9" name="Presented by"/>
          <p:cNvSpPr txBox="1"/>
          <p:nvPr/>
        </p:nvSpPr>
        <p:spPr>
          <a:xfrm>
            <a:off x="8229600" y="2743200"/>
            <a:ext cx="3566160" cy="457200"/>
          </a:xfrm>
          <a:prstGeom prst="rect">
            <a:avLst/>
          </a:prstGeom>
          <a:noFill/>
          <a:ln/>
        </p:spPr>
        <p:txBody>
          <a:bodyPr wrap="square" lIns="0" tIns="0" rIns="0" bIns="0" rtlCol="0" anchor="ctr"/>
          <a:lstStyle/>
          <a:p>
            <a:pPr algn="ctr" indent="0" marL="0">
              <a:buNone/>
            </a:pPr>
            <a:r>
              <a:rPr lang="en-US" sz="1600" dirty="0">
                <a:solidFill>
                  <a:schemeClr val="accent2"/>
                </a:solidFill>
              </a:rPr>
              <a:t>Presented by</a:t>
            </a:r>
            <a:endParaRPr lang="en-US" sz="1600" dirty="0"/>
          </a:p>
        </p:txBody>
      </p:sp>
      <p:sp>
        <p:nvSpPr>
          <p:cNvPr id="10" name="Member card 1"/>
          <p:cNvSpPr/>
          <p:nvPr/>
        </p:nvSpPr>
        <p:spPr>
          <a:xfrm>
            <a:off x="8321040" y="3383280"/>
            <a:ext cx="3383280" cy="914400"/>
          </a:xfrm>
          <a:prstGeom prst="roundRect">
            <a:avLst>
              <a:gd name="adj" fmla="val 10000"/>
            </a:avLst>
          </a:prstGeom>
          <a:solidFill>
            <a:schemeClr val="accent1"/>
          </a:solidFill>
          <a:ln/>
        </p:spPr>
      </p:sp>
      <p:sp>
        <p:nvSpPr>
          <p:cNvPr id="11" name="Member 1"/>
          <p:cNvSpPr txBox="1"/>
          <p:nvPr/>
        </p:nvSpPr>
        <p:spPr>
          <a:xfrm>
            <a:off x="8321040" y="3383280"/>
            <a:ext cx="3383280" cy="914400"/>
          </a:xfrm>
          <a:prstGeom prst="rect">
            <a:avLst/>
          </a:prstGeom>
          <a:noFill/>
          <a:ln/>
        </p:spPr>
        <p:txBody>
          <a:bodyPr wrap="square" lIns="0" tIns="0" rIns="0" bIns="0" rtlCol="0" anchor="ctr"/>
          <a:lstStyle/>
          <a:p>
            <a:pPr algn="ctr" indent="0" marL="0">
              <a:buNone/>
            </a:pPr>
            <a:r>
              <a:rPr lang="en-US" sz="1800" b="1" dirty="0">
                <a:solidFill>
                  <a:schemeClr val="bg1"/>
                </a:solidFill>
              </a:rPr>
              <a:t>ARUN C</a:t>
            </a:r>
            <a:endParaRPr lang="en-US" sz="1800" dirty="0"/>
          </a:p>
          <a:p>
            <a:pPr algn="ctr" indent="0" marL="0">
              <a:buNone/>
            </a:pPr>
            <a:r>
              <a:rPr lang="en-US" sz="1400" dirty="0">
                <a:solidFill>
                  <a:schemeClr val="bg1"/>
                </a:solidFill>
              </a:rPr>
              <a:t>23MIS0445</a:t>
            </a:r>
            <a:endParaRPr lang="en-US" sz="1800" dirty="0"/>
          </a:p>
        </p:txBody>
      </p:sp>
      <p:sp>
        <p:nvSpPr>
          <p:cNvPr id="12" name="Member card 2"/>
          <p:cNvSpPr/>
          <p:nvPr/>
        </p:nvSpPr>
        <p:spPr>
          <a:xfrm>
            <a:off x="8321040" y="4526280"/>
            <a:ext cx="3383280" cy="914400"/>
          </a:xfrm>
          <a:prstGeom prst="roundRect">
            <a:avLst>
              <a:gd name="adj" fmla="val 10000"/>
            </a:avLst>
          </a:prstGeom>
          <a:solidFill>
            <a:schemeClr val="accent1"/>
          </a:solidFill>
          <a:ln/>
        </p:spPr>
      </p:sp>
      <p:sp>
        <p:nvSpPr>
          <p:cNvPr id="13" name="Member 2"/>
          <p:cNvSpPr txBox="1"/>
          <p:nvPr/>
        </p:nvSpPr>
        <p:spPr>
          <a:xfrm>
            <a:off x="8321040" y="4526280"/>
            <a:ext cx="3383280" cy="914400"/>
          </a:xfrm>
          <a:prstGeom prst="rect">
            <a:avLst/>
          </a:prstGeom>
          <a:noFill/>
          <a:ln/>
        </p:spPr>
        <p:txBody>
          <a:bodyPr wrap="square" lIns="0" tIns="0" rIns="0" bIns="0" rtlCol="0" anchor="ctr"/>
          <a:lstStyle/>
          <a:p>
            <a:pPr algn="ctr" indent="0" marL="0">
              <a:buNone/>
            </a:pPr>
            <a:r>
              <a:rPr lang="en-US" sz="1800" b="1" dirty="0">
                <a:solidFill>
                  <a:schemeClr val="bg1"/>
                </a:solidFill>
              </a:rPr>
              <a:t>SAI CHANDAN K S</a:t>
            </a:r>
            <a:endParaRPr lang="en-US" sz="1800" dirty="0"/>
          </a:p>
          <a:p>
            <a:pPr algn="ctr" indent="0" marL="0">
              <a:buNone/>
            </a:pPr>
            <a:r>
              <a:rPr lang="en-US" sz="1400" dirty="0">
                <a:solidFill>
                  <a:schemeClr val="bg1"/>
                </a:solidFill>
              </a:rPr>
              <a:t>23MIS0115</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Abstract and Objectives</a:t>
            </a:r>
            <a:endParaRPr lang="en-US" sz="3400" dirty="0"/>
          </a:p>
        </p:txBody>
      </p:sp>
      <p:sp>
        <p:nvSpPr>
          <p:cNvPr id="3" name="The Problem card"/>
          <p:cNvSpPr/>
          <p:nvPr/>
        </p:nvSpPr>
        <p:spPr>
          <a:xfrm>
            <a:off x="548640" y="1371600"/>
            <a:ext cx="5486400" cy="1371600"/>
          </a:xfrm>
          <a:prstGeom prst="roundRect">
            <a:avLst>
              <a:gd name="adj" fmla="val 5333"/>
            </a:avLst>
          </a:prstGeom>
          <a:solidFill>
            <a:schemeClr val="bg2"/>
          </a:solidFill>
          <a:ln/>
        </p:spPr>
      </p:sp>
      <p:sp>
        <p:nvSpPr>
          <p:cNvPr id="4" name="The Problem icon circle"/>
          <p:cNvSpPr/>
          <p:nvPr/>
        </p:nvSpPr>
        <p:spPr>
          <a:xfrm>
            <a:off x="777240" y="1691640"/>
            <a:ext cx="731520" cy="731520"/>
          </a:xfrm>
          <a:prstGeom prst="ellipse">
            <a:avLst/>
          </a:prstGeom>
          <a:solidFill>
            <a:schemeClr val="accent3"/>
          </a:solidFill>
          <a:ln/>
        </p:spPr>
      </p:sp>
      <p:pic>
        <p:nvPicPr>
          <p:cNvPr id="5" name="The Problem icon" descr="preencoded.png">    </p:cNvPr>
          <p:cNvPicPr>
            <a:picLocks noChangeAspect="1"/>
          </p:cNvPicPr>
          <p:nvPr/>
        </p:nvPicPr>
        <p:blipFill>
          <a:blip r:embed="rId1"/>
          <a:stretch>
            <a:fillRect/>
          </a:stretch>
        </p:blipFill>
        <p:spPr>
          <a:xfrm>
            <a:off x="960120" y="1874520"/>
            <a:ext cx="365760" cy="365760"/>
          </a:xfrm>
          <a:prstGeom prst="rect">
            <a:avLst/>
          </a:prstGeom>
        </p:spPr>
      </p:pic>
      <p:sp>
        <p:nvSpPr>
          <p:cNvPr id="6" name="The Problem text"/>
          <p:cNvSpPr txBox="1"/>
          <p:nvPr/>
        </p:nvSpPr>
        <p:spPr>
          <a:xfrm>
            <a:off x="1691640" y="1463040"/>
            <a:ext cx="4206240" cy="1188720"/>
          </a:xfrm>
          <a:prstGeom prst="rect">
            <a:avLst/>
          </a:prstGeom>
          <a:noFill/>
          <a:ln/>
        </p:spPr>
        <p:txBody>
          <a:bodyPr wrap="square" lIns="0" tIns="0" rIns="0" bIns="0" rtlCol="0" anchor="ctr"/>
          <a:lstStyle/>
          <a:p>
            <a:pPr indent="0" marL="0">
              <a:buNone/>
            </a:pPr>
            <a:r>
              <a:rPr lang="en-US" sz="1800" b="1" dirty="0">
                <a:solidFill>
                  <a:schemeClr val="tx2"/>
                </a:solidFill>
              </a:rPr>
              <a:t>The Problem</a:t>
            </a:r>
            <a:endParaRPr lang="en-US" sz="1800" dirty="0"/>
          </a:p>
          <a:p>
            <a:pPr indent="0" marL="0">
              <a:buNone/>
            </a:pPr>
            <a:r>
              <a:rPr lang="en-US" sz="1400" dirty="0">
                <a:solidFill>
                  <a:schemeClr val="tx1"/>
                </a:solidFill>
              </a:rPr>
              <a:t>Manual hospital records cause data duplication, errors, slow information retrieval and delays in service.</a:t>
            </a:r>
            <a:endParaRPr lang="en-US" sz="1800" dirty="0"/>
          </a:p>
        </p:txBody>
      </p:sp>
      <p:sp>
        <p:nvSpPr>
          <p:cNvPr id="7" name="Our Solution card"/>
          <p:cNvSpPr/>
          <p:nvPr/>
        </p:nvSpPr>
        <p:spPr>
          <a:xfrm>
            <a:off x="548640" y="2971800"/>
            <a:ext cx="5486400" cy="1371600"/>
          </a:xfrm>
          <a:prstGeom prst="roundRect">
            <a:avLst>
              <a:gd name="adj" fmla="val 5333"/>
            </a:avLst>
          </a:prstGeom>
          <a:solidFill>
            <a:schemeClr val="bg2"/>
          </a:solidFill>
          <a:ln/>
        </p:spPr>
      </p:sp>
      <p:sp>
        <p:nvSpPr>
          <p:cNvPr id="8" name="Our Solution icon circle"/>
          <p:cNvSpPr/>
          <p:nvPr/>
        </p:nvSpPr>
        <p:spPr>
          <a:xfrm>
            <a:off x="777240" y="3291840"/>
            <a:ext cx="731520" cy="731520"/>
          </a:xfrm>
          <a:prstGeom prst="ellipse">
            <a:avLst/>
          </a:prstGeom>
          <a:solidFill>
            <a:schemeClr val="accent1"/>
          </a:solidFill>
          <a:ln/>
        </p:spPr>
      </p:sp>
      <p:pic>
        <p:nvPicPr>
          <p:cNvPr id="9" name="Our Solution icon" descr="preencoded.png">    </p:cNvPr>
          <p:cNvPicPr>
            <a:picLocks noChangeAspect="1"/>
          </p:cNvPicPr>
          <p:nvPr/>
        </p:nvPicPr>
        <p:blipFill>
          <a:blip r:embed="rId2"/>
          <a:stretch>
            <a:fillRect/>
          </a:stretch>
        </p:blipFill>
        <p:spPr>
          <a:xfrm>
            <a:off x="960120" y="3474720"/>
            <a:ext cx="365760" cy="365760"/>
          </a:xfrm>
          <a:prstGeom prst="rect">
            <a:avLst/>
          </a:prstGeom>
        </p:spPr>
      </p:pic>
      <p:sp>
        <p:nvSpPr>
          <p:cNvPr id="10" name="Our Solution text"/>
          <p:cNvSpPr txBox="1"/>
          <p:nvPr/>
        </p:nvSpPr>
        <p:spPr>
          <a:xfrm>
            <a:off x="1691640" y="3063240"/>
            <a:ext cx="4206240" cy="1188720"/>
          </a:xfrm>
          <a:prstGeom prst="rect">
            <a:avLst/>
          </a:prstGeom>
          <a:noFill/>
          <a:ln/>
        </p:spPr>
        <p:txBody>
          <a:bodyPr wrap="square" lIns="0" tIns="0" rIns="0" bIns="0" rtlCol="0" anchor="ctr"/>
          <a:lstStyle/>
          <a:p>
            <a:pPr indent="0" marL="0">
              <a:buNone/>
            </a:pPr>
            <a:r>
              <a:rPr lang="en-US" sz="1800" b="1" dirty="0">
                <a:solidFill>
                  <a:schemeClr val="tx2"/>
                </a:solidFill>
              </a:rPr>
              <a:t>Our Solution</a:t>
            </a:r>
            <a:endParaRPr lang="en-US" sz="1800" dirty="0"/>
          </a:p>
          <a:p>
            <a:pPr indent="0" marL="0">
              <a:buNone/>
            </a:pPr>
            <a:r>
              <a:rPr lang="en-US" sz="1400" dirty="0">
                <a:solidFill>
                  <a:schemeClr val="tx1"/>
                </a:solidFill>
              </a:rPr>
              <a:t>A web-based HMS that manages patients, doctors, appointments, medical records and billing in one place.</a:t>
            </a:r>
            <a:endParaRPr lang="en-US" sz="1800" dirty="0"/>
          </a:p>
        </p:txBody>
      </p:sp>
      <p:sp>
        <p:nvSpPr>
          <p:cNvPr id="11" name="Testing Focus card"/>
          <p:cNvSpPr/>
          <p:nvPr/>
        </p:nvSpPr>
        <p:spPr>
          <a:xfrm>
            <a:off x="548640" y="4572000"/>
            <a:ext cx="5486400" cy="1371600"/>
          </a:xfrm>
          <a:prstGeom prst="roundRect">
            <a:avLst>
              <a:gd name="adj" fmla="val 5333"/>
            </a:avLst>
          </a:prstGeom>
          <a:solidFill>
            <a:schemeClr val="bg2"/>
          </a:solidFill>
          <a:ln/>
        </p:spPr>
      </p:sp>
      <p:sp>
        <p:nvSpPr>
          <p:cNvPr id="12" name="Testing Focus icon circle"/>
          <p:cNvSpPr/>
          <p:nvPr/>
        </p:nvSpPr>
        <p:spPr>
          <a:xfrm>
            <a:off x="777240" y="4892040"/>
            <a:ext cx="731520" cy="731520"/>
          </a:xfrm>
          <a:prstGeom prst="ellipse">
            <a:avLst/>
          </a:prstGeom>
          <a:solidFill>
            <a:schemeClr val="accent4"/>
          </a:solidFill>
          <a:ln/>
        </p:spPr>
      </p:sp>
      <p:pic>
        <p:nvPicPr>
          <p:cNvPr id="13" name="Testing Focus icon" descr="preencoded.png">    </p:cNvPr>
          <p:cNvPicPr>
            <a:picLocks noChangeAspect="1"/>
          </p:cNvPicPr>
          <p:nvPr/>
        </p:nvPicPr>
        <p:blipFill>
          <a:blip r:embed="rId3"/>
          <a:stretch>
            <a:fillRect/>
          </a:stretch>
        </p:blipFill>
        <p:spPr>
          <a:xfrm>
            <a:off x="960120" y="5074920"/>
            <a:ext cx="365760" cy="365760"/>
          </a:xfrm>
          <a:prstGeom prst="rect">
            <a:avLst/>
          </a:prstGeom>
        </p:spPr>
      </p:pic>
      <p:sp>
        <p:nvSpPr>
          <p:cNvPr id="14" name="Testing Focus text"/>
          <p:cNvSpPr txBox="1"/>
          <p:nvPr/>
        </p:nvSpPr>
        <p:spPr>
          <a:xfrm>
            <a:off x="1691640" y="4663440"/>
            <a:ext cx="4206240" cy="1188720"/>
          </a:xfrm>
          <a:prstGeom prst="rect">
            <a:avLst/>
          </a:prstGeom>
          <a:noFill/>
          <a:ln/>
        </p:spPr>
        <p:txBody>
          <a:bodyPr wrap="square" lIns="0" tIns="0" rIns="0" bIns="0" rtlCol="0" anchor="ctr"/>
          <a:lstStyle/>
          <a:p>
            <a:pPr indent="0" marL="0">
              <a:buNone/>
            </a:pPr>
            <a:r>
              <a:rPr lang="en-US" sz="1800" b="1" dirty="0">
                <a:solidFill>
                  <a:schemeClr val="tx2"/>
                </a:solidFill>
              </a:rPr>
              <a:t>Testing Focus</a:t>
            </a:r>
            <a:endParaRPr lang="en-US" sz="1800" dirty="0"/>
          </a:p>
          <a:p>
            <a:pPr indent="0" marL="0">
              <a:buNone/>
            </a:pPr>
            <a:r>
              <a:rPr lang="en-US" sz="1400" dirty="0">
                <a:solidFill>
                  <a:schemeClr val="tx1"/>
                </a:solidFill>
              </a:rPr>
              <a:t>Selenium WebDriver automates real user actions in Chrome and verifies results for valid and invalid inputs.</a:t>
            </a:r>
            <a:endParaRPr lang="en-US" sz="1800" dirty="0"/>
          </a:p>
        </p:txBody>
      </p:sp>
      <p:sp>
        <p:nvSpPr>
          <p:cNvPr id="15" name="Objectives heading"/>
          <p:cNvSpPr txBox="1"/>
          <p:nvPr/>
        </p:nvSpPr>
        <p:spPr>
          <a:xfrm>
            <a:off x="6583680" y="1371600"/>
            <a:ext cx="50292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Objectives</a:t>
            </a:r>
            <a:endParaRPr lang="en-US" sz="2200" dirty="0"/>
          </a:p>
        </p:txBody>
      </p:sp>
      <p:pic>
        <p:nvPicPr>
          <p:cNvPr id="16" name="Objective tick 1" descr="preencoded.png">    </p:cNvPr>
          <p:cNvPicPr>
            <a:picLocks noChangeAspect="1"/>
          </p:cNvPicPr>
          <p:nvPr/>
        </p:nvPicPr>
        <p:blipFill>
          <a:blip r:embed="rId4"/>
          <a:stretch>
            <a:fillRect/>
          </a:stretch>
        </p:blipFill>
        <p:spPr>
          <a:xfrm>
            <a:off x="6583680" y="2039112"/>
            <a:ext cx="329184" cy="329184"/>
          </a:xfrm>
          <a:prstGeom prst="rect">
            <a:avLst/>
          </a:prstGeom>
        </p:spPr>
      </p:pic>
      <p:sp>
        <p:nvSpPr>
          <p:cNvPr id="17" name="Objective 1"/>
          <p:cNvSpPr txBox="1"/>
          <p:nvPr/>
        </p:nvSpPr>
        <p:spPr>
          <a:xfrm>
            <a:off x="7086600" y="1965960"/>
            <a:ext cx="4572000" cy="502920"/>
          </a:xfrm>
          <a:prstGeom prst="rect">
            <a:avLst/>
          </a:prstGeom>
          <a:noFill/>
          <a:ln/>
        </p:spPr>
        <p:txBody>
          <a:bodyPr wrap="square" lIns="0" tIns="0" rIns="0" bIns="0" rtlCol="0" anchor="ctr"/>
          <a:lstStyle/>
          <a:p>
            <a:pPr indent="0" marL="0">
              <a:buNone/>
            </a:pPr>
            <a:r>
              <a:rPr lang="en-US" sz="1500" dirty="0">
                <a:solidFill>
                  <a:schemeClr val="tx1"/>
                </a:solidFill>
              </a:rPr>
              <a:t>Develop and test a Hospital Management System</a:t>
            </a:r>
            <a:endParaRPr lang="en-US" sz="1500" dirty="0"/>
          </a:p>
        </p:txBody>
      </p:sp>
      <p:pic>
        <p:nvPicPr>
          <p:cNvPr id="18" name="Objective tick 2" descr="preencoded.png">    </p:cNvPr>
          <p:cNvPicPr>
            <a:picLocks noChangeAspect="1"/>
          </p:cNvPicPr>
          <p:nvPr/>
        </p:nvPicPr>
        <p:blipFill>
          <a:blip r:embed="rId5"/>
          <a:stretch>
            <a:fillRect/>
          </a:stretch>
        </p:blipFill>
        <p:spPr>
          <a:xfrm>
            <a:off x="6583680" y="2724912"/>
            <a:ext cx="329184" cy="329184"/>
          </a:xfrm>
          <a:prstGeom prst="rect">
            <a:avLst/>
          </a:prstGeom>
        </p:spPr>
      </p:pic>
      <p:sp>
        <p:nvSpPr>
          <p:cNvPr id="19" name="Objective 2"/>
          <p:cNvSpPr txBox="1"/>
          <p:nvPr/>
        </p:nvSpPr>
        <p:spPr>
          <a:xfrm>
            <a:off x="7086600" y="2651760"/>
            <a:ext cx="4572000" cy="502920"/>
          </a:xfrm>
          <a:prstGeom prst="rect">
            <a:avLst/>
          </a:prstGeom>
          <a:noFill/>
          <a:ln/>
        </p:spPr>
        <p:txBody>
          <a:bodyPr wrap="square" lIns="0" tIns="0" rIns="0" bIns="0" rtlCol="0" anchor="ctr"/>
          <a:lstStyle/>
          <a:p>
            <a:pPr indent="0" marL="0">
              <a:buNone/>
            </a:pPr>
            <a:r>
              <a:rPr lang="en-US" sz="1500" dirty="0">
                <a:solidFill>
                  <a:schemeClr val="tx1"/>
                </a:solidFill>
              </a:rPr>
              <a:t>Automate important hospital operations</a:t>
            </a:r>
            <a:endParaRPr lang="en-US" sz="1500" dirty="0"/>
          </a:p>
        </p:txBody>
      </p:sp>
      <p:pic>
        <p:nvPicPr>
          <p:cNvPr id="20" name="Objective tick 3" descr="preencoded.png">    </p:cNvPr>
          <p:cNvPicPr>
            <a:picLocks noChangeAspect="1"/>
          </p:cNvPicPr>
          <p:nvPr/>
        </p:nvPicPr>
        <p:blipFill>
          <a:blip r:embed="rId6"/>
          <a:stretch>
            <a:fillRect/>
          </a:stretch>
        </p:blipFill>
        <p:spPr>
          <a:xfrm>
            <a:off x="6583680" y="3410712"/>
            <a:ext cx="329184" cy="329184"/>
          </a:xfrm>
          <a:prstGeom prst="rect">
            <a:avLst/>
          </a:prstGeom>
        </p:spPr>
      </p:pic>
      <p:sp>
        <p:nvSpPr>
          <p:cNvPr id="21" name="Objective 3"/>
          <p:cNvSpPr txBox="1"/>
          <p:nvPr/>
        </p:nvSpPr>
        <p:spPr>
          <a:xfrm>
            <a:off x="7086600" y="3337560"/>
            <a:ext cx="4572000" cy="502920"/>
          </a:xfrm>
          <a:prstGeom prst="rect">
            <a:avLst/>
          </a:prstGeom>
          <a:noFill/>
          <a:ln/>
        </p:spPr>
        <p:txBody>
          <a:bodyPr wrap="square" lIns="0" tIns="0" rIns="0" bIns="0" rtlCol="0" anchor="ctr"/>
          <a:lstStyle/>
          <a:p>
            <a:pPr indent="0" marL="0">
              <a:buNone/>
            </a:pPr>
            <a:r>
              <a:rPr lang="en-US" sz="1500" dirty="0">
                <a:solidFill>
                  <a:schemeClr val="tx1"/>
                </a:solidFill>
              </a:rPr>
              <a:t>Verify the correctness of every module</a:t>
            </a:r>
            <a:endParaRPr lang="en-US" sz="1500" dirty="0"/>
          </a:p>
        </p:txBody>
      </p:sp>
      <p:pic>
        <p:nvPicPr>
          <p:cNvPr id="22" name="Objective tick 4" descr="preencoded.png">    </p:cNvPr>
          <p:cNvPicPr>
            <a:picLocks noChangeAspect="1"/>
          </p:cNvPicPr>
          <p:nvPr/>
        </p:nvPicPr>
        <p:blipFill>
          <a:blip r:embed="rId7"/>
          <a:stretch>
            <a:fillRect/>
          </a:stretch>
        </p:blipFill>
        <p:spPr>
          <a:xfrm>
            <a:off x="6583680" y="4096512"/>
            <a:ext cx="329184" cy="329184"/>
          </a:xfrm>
          <a:prstGeom prst="rect">
            <a:avLst/>
          </a:prstGeom>
        </p:spPr>
      </p:pic>
      <p:sp>
        <p:nvSpPr>
          <p:cNvPr id="23" name="Objective 4"/>
          <p:cNvSpPr txBox="1"/>
          <p:nvPr/>
        </p:nvSpPr>
        <p:spPr>
          <a:xfrm>
            <a:off x="7086600" y="4023360"/>
            <a:ext cx="4572000" cy="502920"/>
          </a:xfrm>
          <a:prstGeom prst="rect">
            <a:avLst/>
          </a:prstGeom>
          <a:noFill/>
          <a:ln/>
        </p:spPr>
        <p:txBody>
          <a:bodyPr wrap="square" lIns="0" tIns="0" rIns="0" bIns="0" rtlCol="0" anchor="ctr"/>
          <a:lstStyle/>
          <a:p>
            <a:pPr indent="0" marL="0">
              <a:buNone/>
            </a:pPr>
            <a:r>
              <a:rPr lang="en-US" sz="1500" dirty="0">
                <a:solidFill>
                  <a:schemeClr val="tx1"/>
                </a:solidFill>
              </a:rPr>
              <a:t>Identify functional errors and unexpected behaviour</a:t>
            </a:r>
            <a:endParaRPr lang="en-US" sz="1500" dirty="0"/>
          </a:p>
        </p:txBody>
      </p:sp>
      <p:pic>
        <p:nvPicPr>
          <p:cNvPr id="24" name="Objective tick 5" descr="preencoded.png">    </p:cNvPr>
          <p:cNvPicPr>
            <a:picLocks noChangeAspect="1"/>
          </p:cNvPicPr>
          <p:nvPr/>
        </p:nvPicPr>
        <p:blipFill>
          <a:blip r:embed="rId8"/>
          <a:stretch>
            <a:fillRect/>
          </a:stretch>
        </p:blipFill>
        <p:spPr>
          <a:xfrm>
            <a:off x="6583680" y="4782312"/>
            <a:ext cx="329184" cy="329184"/>
          </a:xfrm>
          <a:prstGeom prst="rect">
            <a:avLst/>
          </a:prstGeom>
        </p:spPr>
      </p:pic>
      <p:sp>
        <p:nvSpPr>
          <p:cNvPr id="25" name="Objective 5"/>
          <p:cNvSpPr txBox="1"/>
          <p:nvPr/>
        </p:nvSpPr>
        <p:spPr>
          <a:xfrm>
            <a:off x="7086600" y="4709160"/>
            <a:ext cx="4572000" cy="502920"/>
          </a:xfrm>
          <a:prstGeom prst="rect">
            <a:avLst/>
          </a:prstGeom>
          <a:noFill/>
          <a:ln/>
        </p:spPr>
        <p:txBody>
          <a:bodyPr wrap="square" lIns="0" tIns="0" rIns="0" bIns="0" rtlCol="0" anchor="ctr"/>
          <a:lstStyle/>
          <a:p>
            <a:pPr indent="0" marL="0">
              <a:buNone/>
            </a:pPr>
            <a:r>
              <a:rPr lang="en-US" sz="1500" dirty="0">
                <a:solidFill>
                  <a:schemeClr val="tx1"/>
                </a:solidFill>
              </a:rPr>
              <a:t>Automate web testing with Selenium and reduce manual effort</a:t>
            </a:r>
            <a:endParaRPr lang="en-US" sz="1500" dirty="0"/>
          </a:p>
        </p:txBody>
      </p:sp>
      <p:pic>
        <p:nvPicPr>
          <p:cNvPr id="26" name="Objective tick 6" descr="preencoded.png">    </p:cNvPr>
          <p:cNvPicPr>
            <a:picLocks noChangeAspect="1"/>
          </p:cNvPicPr>
          <p:nvPr/>
        </p:nvPicPr>
        <p:blipFill>
          <a:blip r:embed="rId9"/>
          <a:stretch>
            <a:fillRect/>
          </a:stretch>
        </p:blipFill>
        <p:spPr>
          <a:xfrm>
            <a:off x="6583680" y="5468112"/>
            <a:ext cx="329184" cy="329184"/>
          </a:xfrm>
          <a:prstGeom prst="rect">
            <a:avLst/>
          </a:prstGeom>
        </p:spPr>
      </p:pic>
      <p:sp>
        <p:nvSpPr>
          <p:cNvPr id="27" name="Objective 6"/>
          <p:cNvSpPr txBox="1"/>
          <p:nvPr/>
        </p:nvSpPr>
        <p:spPr>
          <a:xfrm>
            <a:off x="7086600" y="5394960"/>
            <a:ext cx="4572000" cy="502920"/>
          </a:xfrm>
          <a:prstGeom prst="rect">
            <a:avLst/>
          </a:prstGeom>
          <a:noFill/>
          <a:ln/>
        </p:spPr>
        <p:txBody>
          <a:bodyPr wrap="square" lIns="0" tIns="0" rIns="0" bIns="0" rtlCol="0" anchor="ctr"/>
          <a:lstStyle/>
          <a:p>
            <a:pPr indent="0" marL="0">
              <a:buNone/>
            </a:pPr>
            <a:r>
              <a:rPr lang="en-US" sz="1500" dirty="0">
                <a:solidFill>
                  <a:schemeClr val="tx1"/>
                </a:solidFill>
              </a:rPr>
              <a:t>Check correct behaviour for valid and invalid inputs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HMS Modules</a:t>
            </a:r>
            <a:endParaRPr lang="en-US" sz="3400" dirty="0"/>
          </a:p>
        </p:txBody>
      </p:sp>
      <p:sp>
        <p:nvSpPr>
          <p:cNvPr id="3" name="Login card"/>
          <p:cNvSpPr/>
          <p:nvPr/>
        </p:nvSpPr>
        <p:spPr>
          <a:xfrm>
            <a:off x="548640" y="137160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4" name="Login icon circle"/>
          <p:cNvSpPr/>
          <p:nvPr/>
        </p:nvSpPr>
        <p:spPr>
          <a:xfrm>
            <a:off x="822960" y="1645920"/>
            <a:ext cx="777240" cy="777240"/>
          </a:xfrm>
          <a:prstGeom prst="ellipse">
            <a:avLst/>
          </a:prstGeom>
          <a:solidFill>
            <a:schemeClr val="accent1"/>
          </a:solidFill>
          <a:ln/>
        </p:spPr>
      </p:sp>
      <p:pic>
        <p:nvPicPr>
          <p:cNvPr id="5" name="Login icon"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Login title"/>
          <p:cNvSpPr txBox="1"/>
          <p:nvPr/>
        </p:nvSpPr>
        <p:spPr>
          <a:xfrm>
            <a:off x="1737360" y="164592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Login</a:t>
            </a:r>
            <a:endParaRPr lang="en-US" sz="1800" dirty="0"/>
          </a:p>
        </p:txBody>
      </p:sp>
      <p:sp>
        <p:nvSpPr>
          <p:cNvPr id="7" name="Login description"/>
          <p:cNvSpPr txBox="1"/>
          <p:nvPr/>
        </p:nvSpPr>
        <p:spPr>
          <a:xfrm>
            <a:off x="82296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Username / password check, invalid login message, logout, protected pages</a:t>
            </a:r>
            <a:endParaRPr lang="en-US" sz="1400" dirty="0"/>
          </a:p>
        </p:txBody>
      </p:sp>
      <p:sp>
        <p:nvSpPr>
          <p:cNvPr id="8" name="Patient Management card"/>
          <p:cNvSpPr/>
          <p:nvPr/>
        </p:nvSpPr>
        <p:spPr>
          <a:xfrm>
            <a:off x="4297680" y="137160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9" name="Patient Management icon circle"/>
          <p:cNvSpPr/>
          <p:nvPr/>
        </p:nvSpPr>
        <p:spPr>
          <a:xfrm>
            <a:off x="4572000" y="1645920"/>
            <a:ext cx="777240" cy="777240"/>
          </a:xfrm>
          <a:prstGeom prst="ellipse">
            <a:avLst/>
          </a:prstGeom>
          <a:solidFill>
            <a:schemeClr val="accent1"/>
          </a:solidFill>
          <a:ln/>
        </p:spPr>
      </p:sp>
      <p:pic>
        <p:nvPicPr>
          <p:cNvPr id="10" name="Patient Management icon" descr="preencoded.png">    </p:cNvPr>
          <p:cNvPicPr>
            <a:picLocks noChangeAspect="1"/>
          </p:cNvPicPr>
          <p:nvPr/>
        </p:nvPicPr>
        <p:blipFill>
          <a:blip r:embed="rId2"/>
          <a:stretch>
            <a:fillRect/>
          </a:stretch>
        </p:blipFill>
        <p:spPr>
          <a:xfrm>
            <a:off x="4766310" y="1840230"/>
            <a:ext cx="388620" cy="388620"/>
          </a:xfrm>
          <a:prstGeom prst="rect">
            <a:avLst/>
          </a:prstGeom>
        </p:spPr>
      </p:pic>
      <p:sp>
        <p:nvSpPr>
          <p:cNvPr id="11" name="Patient Management title"/>
          <p:cNvSpPr txBox="1"/>
          <p:nvPr/>
        </p:nvSpPr>
        <p:spPr>
          <a:xfrm>
            <a:off x="5486400" y="164592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Patient Management</a:t>
            </a:r>
            <a:endParaRPr lang="en-US" sz="1800" dirty="0"/>
          </a:p>
        </p:txBody>
      </p:sp>
      <p:sp>
        <p:nvSpPr>
          <p:cNvPr id="12" name="Patient Management description"/>
          <p:cNvSpPr txBox="1"/>
          <p:nvPr/>
        </p:nvSpPr>
        <p:spPr>
          <a:xfrm>
            <a:off x="457200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Add, view, update, delete patients and search by Patient ID or name</a:t>
            </a:r>
            <a:endParaRPr lang="en-US" sz="1400" dirty="0"/>
          </a:p>
        </p:txBody>
      </p:sp>
      <p:sp>
        <p:nvSpPr>
          <p:cNvPr id="13" name="Doctor Management card"/>
          <p:cNvSpPr/>
          <p:nvPr/>
        </p:nvSpPr>
        <p:spPr>
          <a:xfrm>
            <a:off x="8046720" y="137160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14" name="Doctor Management icon circle"/>
          <p:cNvSpPr/>
          <p:nvPr/>
        </p:nvSpPr>
        <p:spPr>
          <a:xfrm>
            <a:off x="8321040" y="1645920"/>
            <a:ext cx="777240" cy="777240"/>
          </a:xfrm>
          <a:prstGeom prst="ellipse">
            <a:avLst/>
          </a:prstGeom>
          <a:solidFill>
            <a:schemeClr val="accent1"/>
          </a:solidFill>
          <a:ln/>
        </p:spPr>
      </p:sp>
      <p:pic>
        <p:nvPicPr>
          <p:cNvPr id="15" name="Doctor Management icon" descr="preencoded.png">    </p:cNvPr>
          <p:cNvPicPr>
            <a:picLocks noChangeAspect="1"/>
          </p:cNvPicPr>
          <p:nvPr/>
        </p:nvPicPr>
        <p:blipFill>
          <a:blip r:embed="rId3"/>
          <a:stretch>
            <a:fillRect/>
          </a:stretch>
        </p:blipFill>
        <p:spPr>
          <a:xfrm>
            <a:off x="8515350" y="1840230"/>
            <a:ext cx="388620" cy="388620"/>
          </a:xfrm>
          <a:prstGeom prst="rect">
            <a:avLst/>
          </a:prstGeom>
        </p:spPr>
      </p:pic>
      <p:sp>
        <p:nvSpPr>
          <p:cNvPr id="16" name="Doctor Management title"/>
          <p:cNvSpPr txBox="1"/>
          <p:nvPr/>
        </p:nvSpPr>
        <p:spPr>
          <a:xfrm>
            <a:off x="9235440" y="164592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Doctor Management</a:t>
            </a:r>
            <a:endParaRPr lang="en-US" sz="1800" dirty="0"/>
          </a:p>
        </p:txBody>
      </p:sp>
      <p:sp>
        <p:nvSpPr>
          <p:cNvPr id="17" name="Doctor Management description"/>
          <p:cNvSpPr txBox="1"/>
          <p:nvPr/>
        </p:nvSpPr>
        <p:spPr>
          <a:xfrm>
            <a:off x="832104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Add, update, search doctors and mark them Available / Not Available</a:t>
            </a:r>
            <a:endParaRPr lang="en-US" sz="1400" dirty="0"/>
          </a:p>
        </p:txBody>
      </p:sp>
      <p:sp>
        <p:nvSpPr>
          <p:cNvPr id="18" name="Appointments card"/>
          <p:cNvSpPr/>
          <p:nvPr/>
        </p:nvSpPr>
        <p:spPr>
          <a:xfrm>
            <a:off x="548640" y="384048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19" name="Appointments icon circle"/>
          <p:cNvSpPr/>
          <p:nvPr/>
        </p:nvSpPr>
        <p:spPr>
          <a:xfrm>
            <a:off x="822960" y="4114800"/>
            <a:ext cx="777240" cy="777240"/>
          </a:xfrm>
          <a:prstGeom prst="ellipse">
            <a:avLst/>
          </a:prstGeom>
          <a:solidFill>
            <a:schemeClr val="accent1"/>
          </a:solidFill>
          <a:ln/>
        </p:spPr>
      </p:sp>
      <p:pic>
        <p:nvPicPr>
          <p:cNvPr id="20" name="Appointments icon" descr="preencoded.png">    </p:cNvPr>
          <p:cNvPicPr>
            <a:picLocks noChangeAspect="1"/>
          </p:cNvPicPr>
          <p:nvPr/>
        </p:nvPicPr>
        <p:blipFill>
          <a:blip r:embed="rId4"/>
          <a:stretch>
            <a:fillRect/>
          </a:stretch>
        </p:blipFill>
        <p:spPr>
          <a:xfrm>
            <a:off x="1017270" y="4309110"/>
            <a:ext cx="388620" cy="388620"/>
          </a:xfrm>
          <a:prstGeom prst="rect">
            <a:avLst/>
          </a:prstGeom>
        </p:spPr>
      </p:pic>
      <p:sp>
        <p:nvSpPr>
          <p:cNvPr id="21" name="Appointments title"/>
          <p:cNvSpPr txBox="1"/>
          <p:nvPr/>
        </p:nvSpPr>
        <p:spPr>
          <a:xfrm>
            <a:off x="1737360" y="411480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Appointments</a:t>
            </a:r>
            <a:endParaRPr lang="en-US" sz="1800" dirty="0"/>
          </a:p>
        </p:txBody>
      </p:sp>
      <p:sp>
        <p:nvSpPr>
          <p:cNvPr id="22" name="Appointments description"/>
          <p:cNvSpPr txBox="1"/>
          <p:nvPr/>
        </p:nvSpPr>
        <p:spPr>
          <a:xfrm>
            <a:off x="822960" y="5029200"/>
            <a:ext cx="3017520" cy="914400"/>
          </a:xfrm>
          <a:prstGeom prst="rect">
            <a:avLst/>
          </a:prstGeom>
          <a:noFill/>
          <a:ln/>
        </p:spPr>
        <p:txBody>
          <a:bodyPr wrap="square" lIns="0" tIns="0" rIns="0" bIns="0" rtlCol="0" anchor="t"/>
          <a:lstStyle/>
          <a:p>
            <a:pPr indent="0" marL="0">
              <a:buNone/>
            </a:pPr>
            <a:r>
              <a:rPr lang="en-US" sz="1400" dirty="0">
                <a:solidFill>
                  <a:schemeClr val="tx1"/>
                </a:solidFill>
              </a:rPr>
              <a:t>Select patient, doctor, date and time; book or cancel. No double booking</a:t>
            </a:r>
            <a:endParaRPr lang="en-US" sz="1400" dirty="0"/>
          </a:p>
        </p:txBody>
      </p:sp>
      <p:sp>
        <p:nvSpPr>
          <p:cNvPr id="23" name="Medical Records card"/>
          <p:cNvSpPr/>
          <p:nvPr/>
        </p:nvSpPr>
        <p:spPr>
          <a:xfrm>
            <a:off x="4297680" y="384048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24" name="Medical Records icon circle"/>
          <p:cNvSpPr/>
          <p:nvPr/>
        </p:nvSpPr>
        <p:spPr>
          <a:xfrm>
            <a:off x="4572000" y="4114800"/>
            <a:ext cx="777240" cy="777240"/>
          </a:xfrm>
          <a:prstGeom prst="ellipse">
            <a:avLst/>
          </a:prstGeom>
          <a:solidFill>
            <a:schemeClr val="accent1"/>
          </a:solidFill>
          <a:ln/>
        </p:spPr>
      </p:sp>
      <p:pic>
        <p:nvPicPr>
          <p:cNvPr id="25" name="Medical Records icon" descr="preencoded.png">    </p:cNvPr>
          <p:cNvPicPr>
            <a:picLocks noChangeAspect="1"/>
          </p:cNvPicPr>
          <p:nvPr/>
        </p:nvPicPr>
        <p:blipFill>
          <a:blip r:embed="rId5"/>
          <a:stretch>
            <a:fillRect/>
          </a:stretch>
        </p:blipFill>
        <p:spPr>
          <a:xfrm>
            <a:off x="4766310" y="4309110"/>
            <a:ext cx="388620" cy="388620"/>
          </a:xfrm>
          <a:prstGeom prst="rect">
            <a:avLst/>
          </a:prstGeom>
        </p:spPr>
      </p:pic>
      <p:sp>
        <p:nvSpPr>
          <p:cNvPr id="26" name="Medical Records title"/>
          <p:cNvSpPr txBox="1"/>
          <p:nvPr/>
        </p:nvSpPr>
        <p:spPr>
          <a:xfrm>
            <a:off x="5486400" y="411480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Medical Records</a:t>
            </a:r>
            <a:endParaRPr lang="en-US" sz="1800" dirty="0"/>
          </a:p>
        </p:txBody>
      </p:sp>
      <p:sp>
        <p:nvSpPr>
          <p:cNvPr id="27" name="Medical Records description"/>
          <p:cNvSpPr txBox="1"/>
          <p:nvPr/>
        </p:nvSpPr>
        <p:spPr>
          <a:xfrm>
            <a:off x="4572000" y="5029200"/>
            <a:ext cx="3017520" cy="914400"/>
          </a:xfrm>
          <a:prstGeom prst="rect">
            <a:avLst/>
          </a:prstGeom>
          <a:noFill/>
          <a:ln/>
        </p:spPr>
        <p:txBody>
          <a:bodyPr wrap="square" lIns="0" tIns="0" rIns="0" bIns="0" rtlCol="0" anchor="t"/>
          <a:lstStyle/>
          <a:p>
            <a:pPr indent="0" marL="0">
              <a:buNone/>
            </a:pPr>
            <a:r>
              <a:rPr lang="en-US" sz="1400" dirty="0">
                <a:solidFill>
                  <a:schemeClr val="tx1"/>
                </a:solidFill>
              </a:rPr>
              <a:t>Diagnosis, treatment and prescription; full history of each patient</a:t>
            </a:r>
            <a:endParaRPr lang="en-US" sz="1400" dirty="0"/>
          </a:p>
        </p:txBody>
      </p:sp>
      <p:sp>
        <p:nvSpPr>
          <p:cNvPr id="28" name="Billing card"/>
          <p:cNvSpPr/>
          <p:nvPr/>
        </p:nvSpPr>
        <p:spPr>
          <a:xfrm>
            <a:off x="8046720" y="3840480"/>
            <a:ext cx="3520440" cy="2240280"/>
          </a:xfrm>
          <a:prstGeom prst="roundRect">
            <a:avLst>
              <a:gd name="adj" fmla="val 4082"/>
            </a:avLst>
          </a:prstGeom>
          <a:solidFill>
            <a:schemeClr val="bg1"/>
          </a:solidFill>
          <a:ln w="12700">
            <a:solidFill>
              <a:srgbClr val="D5E3E6"/>
            </a:solidFill>
            <a:prstDash val="solid"/>
          </a:ln>
          <a:effectLst>
            <a:outerShdw sx="100000" sy="100000" kx="0" ky="0" algn="bl" rotWithShape="0" blurRad="76200" dist="19050" dir="5400000">
              <a:srgbClr val="000000">
                <a:alpha val="15000"/>
              </a:srgbClr>
            </a:outerShdw>
          </a:effectLst>
        </p:spPr>
      </p:sp>
      <p:sp>
        <p:nvSpPr>
          <p:cNvPr id="29" name="Billing icon circle"/>
          <p:cNvSpPr/>
          <p:nvPr/>
        </p:nvSpPr>
        <p:spPr>
          <a:xfrm>
            <a:off x="8321040" y="4114800"/>
            <a:ext cx="777240" cy="777240"/>
          </a:xfrm>
          <a:prstGeom prst="ellipse">
            <a:avLst/>
          </a:prstGeom>
          <a:solidFill>
            <a:schemeClr val="accent1"/>
          </a:solidFill>
          <a:ln/>
        </p:spPr>
      </p:sp>
      <p:pic>
        <p:nvPicPr>
          <p:cNvPr id="30" name="Billing icon" descr="preencoded.png">    </p:cNvPr>
          <p:cNvPicPr>
            <a:picLocks noChangeAspect="1"/>
          </p:cNvPicPr>
          <p:nvPr/>
        </p:nvPicPr>
        <p:blipFill>
          <a:blip r:embed="rId6"/>
          <a:stretch>
            <a:fillRect/>
          </a:stretch>
        </p:blipFill>
        <p:spPr>
          <a:xfrm>
            <a:off x="8515350" y="4309110"/>
            <a:ext cx="388620" cy="388620"/>
          </a:xfrm>
          <a:prstGeom prst="rect">
            <a:avLst/>
          </a:prstGeom>
        </p:spPr>
      </p:pic>
      <p:sp>
        <p:nvSpPr>
          <p:cNvPr id="31" name="Billing title"/>
          <p:cNvSpPr txBox="1"/>
          <p:nvPr/>
        </p:nvSpPr>
        <p:spPr>
          <a:xfrm>
            <a:off x="9235440" y="4114800"/>
            <a:ext cx="2194560" cy="777240"/>
          </a:xfrm>
          <a:prstGeom prst="rect">
            <a:avLst/>
          </a:prstGeom>
          <a:noFill/>
          <a:ln/>
        </p:spPr>
        <p:txBody>
          <a:bodyPr wrap="square" lIns="0" tIns="0" rIns="0" bIns="0" rtlCol="0" anchor="ctr"/>
          <a:lstStyle/>
          <a:p>
            <a:pPr indent="0" marL="0">
              <a:buNone/>
            </a:pPr>
            <a:r>
              <a:rPr lang="en-US" sz="1800" b="1" dirty="0">
                <a:solidFill>
                  <a:schemeClr val="tx2"/>
                </a:solidFill>
              </a:rPr>
              <a:t>Billing</a:t>
            </a:r>
            <a:endParaRPr lang="en-US" sz="1800" dirty="0"/>
          </a:p>
        </p:txBody>
      </p:sp>
      <p:sp>
        <p:nvSpPr>
          <p:cNvPr id="32" name="Billing description"/>
          <p:cNvSpPr txBox="1"/>
          <p:nvPr/>
        </p:nvSpPr>
        <p:spPr>
          <a:xfrm>
            <a:off x="8321040" y="5029200"/>
            <a:ext cx="3017520" cy="914400"/>
          </a:xfrm>
          <a:prstGeom prst="rect">
            <a:avLst/>
          </a:prstGeom>
          <a:noFill/>
          <a:ln/>
        </p:spPr>
        <p:txBody>
          <a:bodyPr wrap="square" lIns="0" tIns="0" rIns="0" bIns="0" rtlCol="0" anchor="t"/>
          <a:lstStyle/>
          <a:p>
            <a:pPr indent="0" marL="0">
              <a:buNone/>
            </a:pPr>
            <a:r>
              <a:rPr lang="en-US" sz="1400" dirty="0">
                <a:solidFill>
                  <a:schemeClr val="tx1"/>
                </a:solidFill>
              </a:rPr>
              <a:t>Consultation + treatment charges, automatic total, Paid / Unpaid status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How the System Works</a:t>
            </a:r>
            <a:endParaRPr lang="en-US" sz="3400" dirty="0"/>
          </a:p>
        </p:txBody>
      </p:sp>
      <p:sp>
        <p:nvSpPr>
          <p:cNvPr id="3" name="Selenium WebDriver box"/>
          <p:cNvSpPr/>
          <p:nvPr/>
        </p:nvSpPr>
        <p:spPr>
          <a:xfrm>
            <a:off x="548640" y="1325880"/>
            <a:ext cx="4846320" cy="749808"/>
          </a:xfrm>
          <a:prstGeom prst="roundRect">
            <a:avLst>
              <a:gd name="adj" fmla="val 9756"/>
            </a:avLst>
          </a:prstGeom>
          <a:solidFill>
            <a:schemeClr val="bg2"/>
          </a:solidFill>
          <a:ln/>
        </p:spPr>
      </p:sp>
      <p:sp>
        <p:nvSpPr>
          <p:cNvPr id="4" name="Selenium WebDriver icon circle"/>
          <p:cNvSpPr/>
          <p:nvPr/>
        </p:nvSpPr>
        <p:spPr>
          <a:xfrm>
            <a:off x="685800" y="1426464"/>
            <a:ext cx="548640" cy="548640"/>
          </a:xfrm>
          <a:prstGeom prst="ellipse">
            <a:avLst/>
          </a:prstGeom>
          <a:solidFill>
            <a:schemeClr val="accent3"/>
          </a:solidFill>
          <a:ln/>
        </p:spPr>
      </p:sp>
      <p:pic>
        <p:nvPicPr>
          <p:cNvPr id="5" name="Selenium WebDriver icon" descr="preencoded.png">    </p:cNvPr>
          <p:cNvPicPr>
            <a:picLocks noChangeAspect="1"/>
          </p:cNvPicPr>
          <p:nvPr/>
        </p:nvPicPr>
        <p:blipFill>
          <a:blip r:embed="rId1"/>
          <a:stretch>
            <a:fillRect/>
          </a:stretch>
        </p:blipFill>
        <p:spPr>
          <a:xfrm>
            <a:off x="822960" y="1563624"/>
            <a:ext cx="274320" cy="274320"/>
          </a:xfrm>
          <a:prstGeom prst="rect">
            <a:avLst/>
          </a:prstGeom>
        </p:spPr>
      </p:pic>
      <p:sp>
        <p:nvSpPr>
          <p:cNvPr id="6" name="Selenium WebDriver text"/>
          <p:cNvSpPr txBox="1"/>
          <p:nvPr/>
        </p:nvSpPr>
        <p:spPr>
          <a:xfrm>
            <a:off x="1417320" y="1325880"/>
            <a:ext cx="3840480" cy="749808"/>
          </a:xfrm>
          <a:prstGeom prst="rect">
            <a:avLst/>
          </a:prstGeom>
          <a:noFill/>
          <a:ln/>
        </p:spPr>
        <p:txBody>
          <a:bodyPr wrap="square" lIns="0" tIns="0" rIns="0" bIns="0" rtlCol="0" anchor="ctr"/>
          <a:lstStyle/>
          <a:p>
            <a:pPr indent="0" marL="0">
              <a:buNone/>
            </a:pPr>
            <a:r>
              <a:rPr lang="en-US" sz="1600" b="1" dirty="0">
                <a:solidFill>
                  <a:schemeClr val="tx2"/>
                </a:solidFill>
              </a:rPr>
              <a:t>Selenium WebDriver</a:t>
            </a:r>
            <a:endParaRPr lang="en-US" sz="1600" dirty="0"/>
          </a:p>
          <a:p>
            <a:pPr indent="0" marL="0">
              <a:buNone/>
            </a:pPr>
            <a:r>
              <a:rPr lang="en-US" sz="1300" dirty="0">
                <a:solidFill>
                  <a:schemeClr val="accent6"/>
                </a:solidFill>
              </a:rPr>
              <a:t>test_selenium_hms.py</a:t>
            </a:r>
            <a:endParaRPr lang="en-US" sz="1600" dirty="0"/>
          </a:p>
        </p:txBody>
      </p:sp>
      <p:sp>
        <p:nvSpPr>
          <p:cNvPr id="7" name="Arrow 1"/>
          <p:cNvSpPr/>
          <p:nvPr/>
        </p:nvSpPr>
        <p:spPr>
          <a:xfrm>
            <a:off x="2834640" y="2093976"/>
            <a:ext cx="274320" cy="182880"/>
          </a:xfrm>
          <a:prstGeom prst="downArrow">
            <a:avLst/>
          </a:prstGeom>
          <a:solidFill>
            <a:schemeClr val="accent6"/>
          </a:solidFill>
          <a:ln/>
        </p:spPr>
      </p:sp>
      <p:sp>
        <p:nvSpPr>
          <p:cNvPr id="8" name="Chrome Browser box"/>
          <p:cNvSpPr/>
          <p:nvPr/>
        </p:nvSpPr>
        <p:spPr>
          <a:xfrm>
            <a:off x="548640" y="2304288"/>
            <a:ext cx="4846320" cy="749808"/>
          </a:xfrm>
          <a:prstGeom prst="roundRect">
            <a:avLst>
              <a:gd name="adj" fmla="val 9756"/>
            </a:avLst>
          </a:prstGeom>
          <a:solidFill>
            <a:schemeClr val="bg2"/>
          </a:solidFill>
          <a:ln/>
        </p:spPr>
      </p:sp>
      <p:sp>
        <p:nvSpPr>
          <p:cNvPr id="9" name="Chrome Browser icon circle"/>
          <p:cNvSpPr/>
          <p:nvPr/>
        </p:nvSpPr>
        <p:spPr>
          <a:xfrm>
            <a:off x="685800" y="2404872"/>
            <a:ext cx="548640" cy="548640"/>
          </a:xfrm>
          <a:prstGeom prst="ellipse">
            <a:avLst/>
          </a:prstGeom>
          <a:solidFill>
            <a:schemeClr val="accent1"/>
          </a:solidFill>
          <a:ln/>
        </p:spPr>
      </p:sp>
      <p:pic>
        <p:nvPicPr>
          <p:cNvPr id="10" name="Chrome Browser icon" descr="preencoded.png">    </p:cNvPr>
          <p:cNvPicPr>
            <a:picLocks noChangeAspect="1"/>
          </p:cNvPicPr>
          <p:nvPr/>
        </p:nvPicPr>
        <p:blipFill>
          <a:blip r:embed="rId2"/>
          <a:stretch>
            <a:fillRect/>
          </a:stretch>
        </p:blipFill>
        <p:spPr>
          <a:xfrm>
            <a:off x="822960" y="2542032"/>
            <a:ext cx="274320" cy="274320"/>
          </a:xfrm>
          <a:prstGeom prst="rect">
            <a:avLst/>
          </a:prstGeom>
        </p:spPr>
      </p:pic>
      <p:sp>
        <p:nvSpPr>
          <p:cNvPr id="11" name="Chrome Browser text"/>
          <p:cNvSpPr txBox="1"/>
          <p:nvPr/>
        </p:nvSpPr>
        <p:spPr>
          <a:xfrm>
            <a:off x="1417320" y="2304288"/>
            <a:ext cx="3840480" cy="749808"/>
          </a:xfrm>
          <a:prstGeom prst="rect">
            <a:avLst/>
          </a:prstGeom>
          <a:noFill/>
          <a:ln/>
        </p:spPr>
        <p:txBody>
          <a:bodyPr wrap="square" lIns="0" tIns="0" rIns="0" bIns="0" rtlCol="0" anchor="ctr"/>
          <a:lstStyle/>
          <a:p>
            <a:pPr indent="0" marL="0">
              <a:buNone/>
            </a:pPr>
            <a:r>
              <a:rPr lang="en-US" sz="1600" b="1" dirty="0">
                <a:solidFill>
                  <a:schemeClr val="tx2"/>
                </a:solidFill>
              </a:rPr>
              <a:t>Chrome Browser</a:t>
            </a:r>
            <a:endParaRPr lang="en-US" sz="1600" dirty="0"/>
          </a:p>
          <a:p>
            <a:pPr indent="0" marL="0">
              <a:buNone/>
            </a:pPr>
            <a:r>
              <a:rPr lang="en-US" sz="1300" dirty="0">
                <a:solidFill>
                  <a:schemeClr val="accent6"/>
                </a:solidFill>
              </a:rPr>
              <a:t>HTML pages (templates/)</a:t>
            </a:r>
            <a:endParaRPr lang="en-US" sz="1600" dirty="0"/>
          </a:p>
        </p:txBody>
      </p:sp>
      <p:sp>
        <p:nvSpPr>
          <p:cNvPr id="12" name="Arrow 2"/>
          <p:cNvSpPr/>
          <p:nvPr/>
        </p:nvSpPr>
        <p:spPr>
          <a:xfrm>
            <a:off x="2834640" y="3072384"/>
            <a:ext cx="274320" cy="182880"/>
          </a:xfrm>
          <a:prstGeom prst="downArrow">
            <a:avLst/>
          </a:prstGeom>
          <a:solidFill>
            <a:schemeClr val="accent6"/>
          </a:solidFill>
          <a:ln/>
        </p:spPr>
      </p:sp>
      <p:sp>
        <p:nvSpPr>
          <p:cNvPr id="13" name="Flask Web App box"/>
          <p:cNvSpPr/>
          <p:nvPr/>
        </p:nvSpPr>
        <p:spPr>
          <a:xfrm>
            <a:off x="548640" y="3282696"/>
            <a:ext cx="4846320" cy="749808"/>
          </a:xfrm>
          <a:prstGeom prst="roundRect">
            <a:avLst>
              <a:gd name="adj" fmla="val 9756"/>
            </a:avLst>
          </a:prstGeom>
          <a:solidFill>
            <a:schemeClr val="bg2"/>
          </a:solidFill>
          <a:ln/>
        </p:spPr>
      </p:sp>
      <p:sp>
        <p:nvSpPr>
          <p:cNvPr id="14" name="Flask Web App icon circle"/>
          <p:cNvSpPr/>
          <p:nvPr/>
        </p:nvSpPr>
        <p:spPr>
          <a:xfrm>
            <a:off x="685800" y="3383280"/>
            <a:ext cx="548640" cy="548640"/>
          </a:xfrm>
          <a:prstGeom prst="ellipse">
            <a:avLst/>
          </a:prstGeom>
          <a:solidFill>
            <a:schemeClr val="accent1"/>
          </a:solidFill>
          <a:ln/>
        </p:spPr>
      </p:sp>
      <p:pic>
        <p:nvPicPr>
          <p:cNvPr id="15" name="Flask Web App icon" descr="preencoded.png">    </p:cNvPr>
          <p:cNvPicPr>
            <a:picLocks noChangeAspect="1"/>
          </p:cNvPicPr>
          <p:nvPr/>
        </p:nvPicPr>
        <p:blipFill>
          <a:blip r:embed="rId3"/>
          <a:stretch>
            <a:fillRect/>
          </a:stretch>
        </p:blipFill>
        <p:spPr>
          <a:xfrm>
            <a:off x="822960" y="3520440"/>
            <a:ext cx="274320" cy="274320"/>
          </a:xfrm>
          <a:prstGeom prst="rect">
            <a:avLst/>
          </a:prstGeom>
        </p:spPr>
      </p:pic>
      <p:sp>
        <p:nvSpPr>
          <p:cNvPr id="16" name="Flask Web App text"/>
          <p:cNvSpPr txBox="1"/>
          <p:nvPr/>
        </p:nvSpPr>
        <p:spPr>
          <a:xfrm>
            <a:off x="1417320" y="3282696"/>
            <a:ext cx="3840480" cy="749808"/>
          </a:xfrm>
          <a:prstGeom prst="rect">
            <a:avLst/>
          </a:prstGeom>
          <a:noFill/>
          <a:ln/>
        </p:spPr>
        <p:txBody>
          <a:bodyPr wrap="square" lIns="0" tIns="0" rIns="0" bIns="0" rtlCol="0" anchor="ctr"/>
          <a:lstStyle/>
          <a:p>
            <a:pPr indent="0" marL="0">
              <a:buNone/>
            </a:pPr>
            <a:r>
              <a:rPr lang="en-US" sz="1600" b="1" dirty="0">
                <a:solidFill>
                  <a:schemeClr val="tx2"/>
                </a:solidFill>
              </a:rPr>
              <a:t>Flask Web App</a:t>
            </a:r>
            <a:endParaRPr lang="en-US" sz="1600" dirty="0"/>
          </a:p>
          <a:p>
            <a:pPr indent="0" marL="0">
              <a:buNone/>
            </a:pPr>
            <a:r>
              <a:rPr lang="en-US" sz="1300" dirty="0">
                <a:solidFill>
                  <a:schemeClr val="accent6"/>
                </a:solidFill>
              </a:rPr>
              <a:t>app.py - pages and routes</a:t>
            </a:r>
            <a:endParaRPr lang="en-US" sz="1600" dirty="0"/>
          </a:p>
        </p:txBody>
      </p:sp>
      <p:sp>
        <p:nvSpPr>
          <p:cNvPr id="17" name="Arrow 3"/>
          <p:cNvSpPr/>
          <p:nvPr/>
        </p:nvSpPr>
        <p:spPr>
          <a:xfrm>
            <a:off x="2834640" y="4050792"/>
            <a:ext cx="274320" cy="182880"/>
          </a:xfrm>
          <a:prstGeom prst="downArrow">
            <a:avLst/>
          </a:prstGeom>
          <a:solidFill>
            <a:schemeClr val="accent6"/>
          </a:solidFill>
          <a:ln/>
        </p:spPr>
      </p:sp>
      <p:sp>
        <p:nvSpPr>
          <p:cNvPr id="18" name="Validation Rules box"/>
          <p:cNvSpPr/>
          <p:nvPr/>
        </p:nvSpPr>
        <p:spPr>
          <a:xfrm>
            <a:off x="548640" y="4261104"/>
            <a:ext cx="4846320" cy="749808"/>
          </a:xfrm>
          <a:prstGeom prst="roundRect">
            <a:avLst>
              <a:gd name="adj" fmla="val 9756"/>
            </a:avLst>
          </a:prstGeom>
          <a:solidFill>
            <a:schemeClr val="bg2"/>
          </a:solidFill>
          <a:ln/>
        </p:spPr>
      </p:sp>
      <p:sp>
        <p:nvSpPr>
          <p:cNvPr id="19" name="Validation Rules icon circle"/>
          <p:cNvSpPr/>
          <p:nvPr/>
        </p:nvSpPr>
        <p:spPr>
          <a:xfrm>
            <a:off x="685800" y="4361688"/>
            <a:ext cx="548640" cy="548640"/>
          </a:xfrm>
          <a:prstGeom prst="ellipse">
            <a:avLst/>
          </a:prstGeom>
          <a:solidFill>
            <a:schemeClr val="accent1"/>
          </a:solidFill>
          <a:ln/>
        </p:spPr>
      </p:sp>
      <p:pic>
        <p:nvPicPr>
          <p:cNvPr id="20" name="Validation Rules icon" descr="preencoded.png">    </p:cNvPr>
          <p:cNvPicPr>
            <a:picLocks noChangeAspect="1"/>
          </p:cNvPicPr>
          <p:nvPr/>
        </p:nvPicPr>
        <p:blipFill>
          <a:blip r:embed="rId4"/>
          <a:stretch>
            <a:fillRect/>
          </a:stretch>
        </p:blipFill>
        <p:spPr>
          <a:xfrm>
            <a:off x="822960" y="4498848"/>
            <a:ext cx="274320" cy="274320"/>
          </a:xfrm>
          <a:prstGeom prst="rect">
            <a:avLst/>
          </a:prstGeom>
        </p:spPr>
      </p:pic>
      <p:sp>
        <p:nvSpPr>
          <p:cNvPr id="21" name="Validation Rules text"/>
          <p:cNvSpPr txBox="1"/>
          <p:nvPr/>
        </p:nvSpPr>
        <p:spPr>
          <a:xfrm>
            <a:off x="1417320" y="4261104"/>
            <a:ext cx="3840480" cy="749808"/>
          </a:xfrm>
          <a:prstGeom prst="rect">
            <a:avLst/>
          </a:prstGeom>
          <a:noFill/>
          <a:ln/>
        </p:spPr>
        <p:txBody>
          <a:bodyPr wrap="square" lIns="0" tIns="0" rIns="0" bIns="0" rtlCol="0" anchor="ctr"/>
          <a:lstStyle/>
          <a:p>
            <a:pPr indent="0" marL="0">
              <a:buNone/>
            </a:pPr>
            <a:r>
              <a:rPr lang="en-US" sz="1600" b="1" dirty="0">
                <a:solidFill>
                  <a:schemeClr val="tx2"/>
                </a:solidFill>
              </a:rPr>
              <a:t>Validation Rules</a:t>
            </a:r>
            <a:endParaRPr lang="en-US" sz="1600" dirty="0"/>
          </a:p>
          <a:p>
            <a:pPr indent="0" marL="0">
              <a:buNone/>
            </a:pPr>
            <a:r>
              <a:rPr lang="en-US" sz="1300" dirty="0">
                <a:solidFill>
                  <a:schemeClr val="accent6"/>
                </a:solidFill>
              </a:rPr>
              <a:t>validators.py - checks input</a:t>
            </a:r>
            <a:endParaRPr lang="en-US" sz="1600" dirty="0"/>
          </a:p>
        </p:txBody>
      </p:sp>
      <p:sp>
        <p:nvSpPr>
          <p:cNvPr id="22" name="Arrow 4"/>
          <p:cNvSpPr/>
          <p:nvPr/>
        </p:nvSpPr>
        <p:spPr>
          <a:xfrm>
            <a:off x="2834640" y="5029200"/>
            <a:ext cx="274320" cy="182880"/>
          </a:xfrm>
          <a:prstGeom prst="downArrow">
            <a:avLst/>
          </a:prstGeom>
          <a:solidFill>
            <a:schemeClr val="accent6"/>
          </a:solidFill>
          <a:ln/>
        </p:spPr>
      </p:sp>
      <p:sp>
        <p:nvSpPr>
          <p:cNvPr id="23" name="Database Layer box"/>
          <p:cNvSpPr/>
          <p:nvPr/>
        </p:nvSpPr>
        <p:spPr>
          <a:xfrm>
            <a:off x="548640" y="5239512"/>
            <a:ext cx="4846320" cy="749808"/>
          </a:xfrm>
          <a:prstGeom prst="roundRect">
            <a:avLst>
              <a:gd name="adj" fmla="val 9756"/>
            </a:avLst>
          </a:prstGeom>
          <a:solidFill>
            <a:schemeClr val="bg2"/>
          </a:solidFill>
          <a:ln/>
        </p:spPr>
      </p:sp>
      <p:sp>
        <p:nvSpPr>
          <p:cNvPr id="24" name="Database Layer icon circle"/>
          <p:cNvSpPr/>
          <p:nvPr/>
        </p:nvSpPr>
        <p:spPr>
          <a:xfrm>
            <a:off x="685800" y="5340096"/>
            <a:ext cx="548640" cy="548640"/>
          </a:xfrm>
          <a:prstGeom prst="ellipse">
            <a:avLst/>
          </a:prstGeom>
          <a:solidFill>
            <a:schemeClr val="accent1"/>
          </a:solidFill>
          <a:ln/>
        </p:spPr>
      </p:sp>
      <p:pic>
        <p:nvPicPr>
          <p:cNvPr id="25" name="Database Layer icon" descr="preencoded.png">    </p:cNvPr>
          <p:cNvPicPr>
            <a:picLocks noChangeAspect="1"/>
          </p:cNvPicPr>
          <p:nvPr/>
        </p:nvPicPr>
        <p:blipFill>
          <a:blip r:embed="rId5"/>
          <a:stretch>
            <a:fillRect/>
          </a:stretch>
        </p:blipFill>
        <p:spPr>
          <a:xfrm>
            <a:off x="822960" y="5477256"/>
            <a:ext cx="274320" cy="274320"/>
          </a:xfrm>
          <a:prstGeom prst="rect">
            <a:avLst/>
          </a:prstGeom>
        </p:spPr>
      </p:pic>
      <p:sp>
        <p:nvSpPr>
          <p:cNvPr id="26" name="Database Layer text"/>
          <p:cNvSpPr txBox="1"/>
          <p:nvPr/>
        </p:nvSpPr>
        <p:spPr>
          <a:xfrm>
            <a:off x="1417320" y="5239512"/>
            <a:ext cx="3840480" cy="749808"/>
          </a:xfrm>
          <a:prstGeom prst="rect">
            <a:avLst/>
          </a:prstGeom>
          <a:noFill/>
          <a:ln/>
        </p:spPr>
        <p:txBody>
          <a:bodyPr wrap="square" lIns="0" tIns="0" rIns="0" bIns="0" rtlCol="0" anchor="ctr"/>
          <a:lstStyle/>
          <a:p>
            <a:pPr indent="0" marL="0">
              <a:buNone/>
            </a:pPr>
            <a:r>
              <a:rPr lang="en-US" sz="1600" b="1" dirty="0">
                <a:solidFill>
                  <a:schemeClr val="tx2"/>
                </a:solidFill>
              </a:rPr>
              <a:t>Database Layer</a:t>
            </a:r>
            <a:endParaRPr lang="en-US" sz="1600" dirty="0"/>
          </a:p>
          <a:p>
            <a:pPr indent="0" marL="0">
              <a:buNone/>
            </a:pPr>
            <a:r>
              <a:rPr lang="en-US" sz="1300" dirty="0">
                <a:solidFill>
                  <a:schemeClr val="accent6"/>
                </a:solidFill>
              </a:rPr>
              <a:t>database.py + SQLite</a:t>
            </a:r>
            <a:endParaRPr lang="en-US" sz="1600" dirty="0"/>
          </a:p>
        </p:txBody>
      </p:sp>
      <p:pic>
        <p:nvPicPr>
          <p:cNvPr id="27" name="Appointments screenshot" descr="appt_crop.png">    </p:cNvPr>
          <p:cNvPicPr>
            <a:picLocks noChangeAspect="1"/>
          </p:cNvPicPr>
          <p:nvPr/>
        </p:nvPicPr>
        <p:blipFill>
          <a:blip r:embed="rId6"/>
          <a:stretch>
            <a:fillRect/>
          </a:stretch>
        </p:blipFill>
        <p:spPr>
          <a:xfrm>
            <a:off x="5852160" y="1325880"/>
            <a:ext cx="5760720" cy="2112264"/>
          </a:xfrm>
          <a:prstGeom prst="rect">
            <a:avLst/>
          </a:prstGeom>
        </p:spPr>
      </p:pic>
      <p:sp>
        <p:nvSpPr>
          <p:cNvPr id="28" name="Screenshot frame"/>
          <p:cNvSpPr/>
          <p:nvPr/>
        </p:nvSpPr>
        <p:spPr>
          <a:xfrm>
            <a:off x="5852160" y="1325880"/>
            <a:ext cx="5760720" cy="2112264"/>
          </a:xfrm>
          <a:prstGeom prst="rect">
            <a:avLst/>
          </a:prstGeom>
          <a:ln w="12700">
            <a:solidFill>
              <a:srgbClr val="C9D7DB"/>
            </a:solidFill>
            <a:prstDash val="solid"/>
          </a:ln>
        </p:spPr>
      </p:sp>
      <p:sp>
        <p:nvSpPr>
          <p:cNvPr id="29" name="Screenshot caption"/>
          <p:cNvSpPr txBox="1"/>
          <p:nvPr/>
        </p:nvSpPr>
        <p:spPr>
          <a:xfrm>
            <a:off x="5852160" y="3520440"/>
            <a:ext cx="5760720" cy="274320"/>
          </a:xfrm>
          <a:prstGeom prst="rect">
            <a:avLst/>
          </a:prstGeom>
          <a:noFill/>
          <a:ln/>
        </p:spPr>
        <p:txBody>
          <a:bodyPr wrap="square" lIns="0" tIns="0" rIns="0" bIns="0" rtlCol="0" anchor="ctr"/>
          <a:lstStyle/>
          <a:p>
            <a:pPr indent="0" marL="0">
              <a:buNone/>
            </a:pPr>
            <a:r>
              <a:rPr lang="en-US" sz="1100" i="1" dirty="0">
                <a:solidFill>
                  <a:schemeClr val="accent6"/>
                </a:solidFill>
              </a:rPr>
              <a:t>Our running app: booking the same doctor twice is blocked</a:t>
            </a:r>
            <a:endParaRPr lang="en-US" sz="1100" dirty="0"/>
          </a:p>
        </p:txBody>
      </p:sp>
      <p:sp>
        <p:nvSpPr>
          <p:cNvPr id="30" name="Tech heading"/>
          <p:cNvSpPr txBox="1"/>
          <p:nvPr/>
        </p:nvSpPr>
        <p:spPr>
          <a:xfrm>
            <a:off x="5852160" y="4069080"/>
            <a:ext cx="5760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Technology Used</a:t>
            </a:r>
            <a:endParaRPr lang="en-US" sz="1800" dirty="0"/>
          </a:p>
        </p:txBody>
      </p:sp>
      <p:sp>
        <p:nvSpPr>
          <p:cNvPr id="31" name="Python 3 chip"/>
          <p:cNvSpPr/>
          <p:nvPr/>
        </p:nvSpPr>
        <p:spPr>
          <a:xfrm>
            <a:off x="5852160" y="4572000"/>
            <a:ext cx="1088136" cy="384048"/>
          </a:xfrm>
          <a:prstGeom prst="roundRect">
            <a:avLst>
              <a:gd name="adj" fmla="val 47619"/>
            </a:avLst>
          </a:prstGeom>
          <a:solidFill>
            <a:schemeClr val="accent1"/>
          </a:solidFill>
          <a:ln/>
        </p:spPr>
      </p:sp>
      <p:sp>
        <p:nvSpPr>
          <p:cNvPr id="32" name="Python 3 label"/>
          <p:cNvSpPr txBox="1"/>
          <p:nvPr/>
        </p:nvSpPr>
        <p:spPr>
          <a:xfrm>
            <a:off x="5852160" y="4572000"/>
            <a:ext cx="1088136" cy="384048"/>
          </a:xfrm>
          <a:prstGeom prst="rect">
            <a:avLst/>
          </a:prstGeom>
          <a:noFill/>
          <a:ln/>
        </p:spPr>
        <p:txBody>
          <a:bodyPr wrap="square" lIns="0" tIns="0" rIns="0" bIns="0" rtlCol="0" anchor="ctr"/>
          <a:lstStyle/>
          <a:p>
            <a:pPr algn="ctr" indent="0" marL="0">
              <a:buNone/>
            </a:pPr>
            <a:r>
              <a:rPr lang="en-US" sz="1300" b="1" dirty="0">
                <a:solidFill>
                  <a:schemeClr val="bg1"/>
                </a:solidFill>
              </a:rPr>
              <a:t>Python 3</a:t>
            </a:r>
            <a:endParaRPr lang="en-US" sz="1300" dirty="0"/>
          </a:p>
        </p:txBody>
      </p:sp>
      <p:sp>
        <p:nvSpPr>
          <p:cNvPr id="33" name="Flask chip"/>
          <p:cNvSpPr/>
          <p:nvPr/>
        </p:nvSpPr>
        <p:spPr>
          <a:xfrm>
            <a:off x="7077456" y="4572000"/>
            <a:ext cx="800100" cy="384048"/>
          </a:xfrm>
          <a:prstGeom prst="roundRect">
            <a:avLst>
              <a:gd name="adj" fmla="val 47619"/>
            </a:avLst>
          </a:prstGeom>
          <a:solidFill>
            <a:schemeClr val="accent1"/>
          </a:solidFill>
          <a:ln/>
        </p:spPr>
      </p:sp>
      <p:sp>
        <p:nvSpPr>
          <p:cNvPr id="34" name="Flask label"/>
          <p:cNvSpPr txBox="1"/>
          <p:nvPr/>
        </p:nvSpPr>
        <p:spPr>
          <a:xfrm>
            <a:off x="7077456" y="4572000"/>
            <a:ext cx="800100" cy="384048"/>
          </a:xfrm>
          <a:prstGeom prst="rect">
            <a:avLst/>
          </a:prstGeom>
          <a:noFill/>
          <a:ln/>
        </p:spPr>
        <p:txBody>
          <a:bodyPr wrap="square" lIns="0" tIns="0" rIns="0" bIns="0" rtlCol="0" anchor="ctr"/>
          <a:lstStyle/>
          <a:p>
            <a:pPr algn="ctr" indent="0" marL="0">
              <a:buNone/>
            </a:pPr>
            <a:r>
              <a:rPr lang="en-US" sz="1300" b="1" dirty="0">
                <a:solidFill>
                  <a:schemeClr val="bg1"/>
                </a:solidFill>
              </a:rPr>
              <a:t>Flask</a:t>
            </a:r>
            <a:endParaRPr lang="en-US" sz="1300" dirty="0"/>
          </a:p>
        </p:txBody>
      </p:sp>
      <p:sp>
        <p:nvSpPr>
          <p:cNvPr id="35" name="SQLite chip"/>
          <p:cNvSpPr/>
          <p:nvPr/>
        </p:nvSpPr>
        <p:spPr>
          <a:xfrm>
            <a:off x="8014716" y="4572000"/>
            <a:ext cx="896112" cy="384048"/>
          </a:xfrm>
          <a:prstGeom prst="roundRect">
            <a:avLst>
              <a:gd name="adj" fmla="val 47619"/>
            </a:avLst>
          </a:prstGeom>
          <a:solidFill>
            <a:schemeClr val="accent1"/>
          </a:solidFill>
          <a:ln/>
        </p:spPr>
      </p:sp>
      <p:sp>
        <p:nvSpPr>
          <p:cNvPr id="36" name="SQLite label"/>
          <p:cNvSpPr txBox="1"/>
          <p:nvPr/>
        </p:nvSpPr>
        <p:spPr>
          <a:xfrm>
            <a:off x="8014716" y="4572000"/>
            <a:ext cx="896112" cy="384048"/>
          </a:xfrm>
          <a:prstGeom prst="rect">
            <a:avLst/>
          </a:prstGeom>
          <a:noFill/>
          <a:ln/>
        </p:spPr>
        <p:txBody>
          <a:bodyPr wrap="square" lIns="0" tIns="0" rIns="0" bIns="0" rtlCol="0" anchor="ctr"/>
          <a:lstStyle/>
          <a:p>
            <a:pPr algn="ctr" indent="0" marL="0">
              <a:buNone/>
            </a:pPr>
            <a:r>
              <a:rPr lang="en-US" sz="1300" b="1" dirty="0">
                <a:solidFill>
                  <a:schemeClr val="bg1"/>
                </a:solidFill>
              </a:rPr>
              <a:t>SQLite</a:t>
            </a:r>
            <a:endParaRPr lang="en-US" sz="1300" dirty="0"/>
          </a:p>
        </p:txBody>
      </p:sp>
      <p:sp>
        <p:nvSpPr>
          <p:cNvPr id="37" name="HTML / CSS chip"/>
          <p:cNvSpPr/>
          <p:nvPr/>
        </p:nvSpPr>
        <p:spPr>
          <a:xfrm>
            <a:off x="9047988" y="4572000"/>
            <a:ext cx="1280160" cy="384048"/>
          </a:xfrm>
          <a:prstGeom prst="roundRect">
            <a:avLst>
              <a:gd name="adj" fmla="val 47619"/>
            </a:avLst>
          </a:prstGeom>
          <a:solidFill>
            <a:schemeClr val="accent1"/>
          </a:solidFill>
          <a:ln/>
        </p:spPr>
      </p:sp>
      <p:sp>
        <p:nvSpPr>
          <p:cNvPr id="38" name="HTML / CSS label"/>
          <p:cNvSpPr txBox="1"/>
          <p:nvPr/>
        </p:nvSpPr>
        <p:spPr>
          <a:xfrm>
            <a:off x="9047988" y="4572000"/>
            <a:ext cx="1280160" cy="384048"/>
          </a:xfrm>
          <a:prstGeom prst="rect">
            <a:avLst/>
          </a:prstGeom>
          <a:noFill/>
          <a:ln/>
        </p:spPr>
        <p:txBody>
          <a:bodyPr wrap="square" lIns="0" tIns="0" rIns="0" bIns="0" rtlCol="0" anchor="ctr"/>
          <a:lstStyle/>
          <a:p>
            <a:pPr algn="ctr" indent="0" marL="0">
              <a:buNone/>
            </a:pPr>
            <a:r>
              <a:rPr lang="en-US" sz="1300" b="1" dirty="0">
                <a:solidFill>
                  <a:schemeClr val="bg1"/>
                </a:solidFill>
              </a:rPr>
              <a:t>HTML / CSS</a:t>
            </a:r>
            <a:endParaRPr lang="en-US" sz="1300" dirty="0"/>
          </a:p>
        </p:txBody>
      </p:sp>
      <p:sp>
        <p:nvSpPr>
          <p:cNvPr id="39" name="Selenium 4 chip"/>
          <p:cNvSpPr/>
          <p:nvPr/>
        </p:nvSpPr>
        <p:spPr>
          <a:xfrm>
            <a:off x="5852160" y="5074920"/>
            <a:ext cx="1280160" cy="384048"/>
          </a:xfrm>
          <a:prstGeom prst="roundRect">
            <a:avLst>
              <a:gd name="adj" fmla="val 47619"/>
            </a:avLst>
          </a:prstGeom>
          <a:solidFill>
            <a:schemeClr val="accent1"/>
          </a:solidFill>
          <a:ln/>
        </p:spPr>
      </p:sp>
      <p:sp>
        <p:nvSpPr>
          <p:cNvPr id="40" name="Selenium 4 label"/>
          <p:cNvSpPr txBox="1"/>
          <p:nvPr/>
        </p:nvSpPr>
        <p:spPr>
          <a:xfrm>
            <a:off x="5852160" y="5074920"/>
            <a:ext cx="1280160" cy="384048"/>
          </a:xfrm>
          <a:prstGeom prst="rect">
            <a:avLst/>
          </a:prstGeom>
          <a:noFill/>
          <a:ln/>
        </p:spPr>
        <p:txBody>
          <a:bodyPr wrap="square" lIns="0" tIns="0" rIns="0" bIns="0" rtlCol="0" anchor="ctr"/>
          <a:lstStyle/>
          <a:p>
            <a:pPr algn="ctr" indent="0" marL="0">
              <a:buNone/>
            </a:pPr>
            <a:r>
              <a:rPr lang="en-US" sz="1300" b="1" dirty="0">
                <a:solidFill>
                  <a:schemeClr val="bg1"/>
                </a:solidFill>
              </a:rPr>
              <a:t>Selenium 4</a:t>
            </a:r>
            <a:endParaRPr lang="en-US" sz="1300" dirty="0"/>
          </a:p>
        </p:txBody>
      </p:sp>
      <p:sp>
        <p:nvSpPr>
          <p:cNvPr id="41" name="PyTest chip"/>
          <p:cNvSpPr/>
          <p:nvPr/>
        </p:nvSpPr>
        <p:spPr>
          <a:xfrm>
            <a:off x="7269480" y="5074920"/>
            <a:ext cx="896112" cy="384048"/>
          </a:xfrm>
          <a:prstGeom prst="roundRect">
            <a:avLst>
              <a:gd name="adj" fmla="val 47619"/>
            </a:avLst>
          </a:prstGeom>
          <a:solidFill>
            <a:schemeClr val="accent1"/>
          </a:solidFill>
          <a:ln/>
        </p:spPr>
      </p:sp>
      <p:sp>
        <p:nvSpPr>
          <p:cNvPr id="42" name="PyTest label"/>
          <p:cNvSpPr txBox="1"/>
          <p:nvPr/>
        </p:nvSpPr>
        <p:spPr>
          <a:xfrm>
            <a:off x="7269480" y="5074920"/>
            <a:ext cx="896112" cy="384048"/>
          </a:xfrm>
          <a:prstGeom prst="rect">
            <a:avLst/>
          </a:prstGeom>
          <a:noFill/>
          <a:ln/>
        </p:spPr>
        <p:txBody>
          <a:bodyPr wrap="square" lIns="0" tIns="0" rIns="0" bIns="0" rtlCol="0" anchor="ctr"/>
          <a:lstStyle/>
          <a:p>
            <a:pPr algn="ctr" indent="0" marL="0">
              <a:buNone/>
            </a:pPr>
            <a:r>
              <a:rPr lang="en-US" sz="1300" b="1" dirty="0">
                <a:solidFill>
                  <a:schemeClr val="bg1"/>
                </a:solidFill>
              </a:rPr>
              <a:t>PyTest</a:t>
            </a:r>
            <a:endParaRPr lang="en-US" sz="1300" dirty="0"/>
          </a:p>
        </p:txBody>
      </p:sp>
      <p:sp>
        <p:nvSpPr>
          <p:cNvPr id="43" name="pytest-html chip"/>
          <p:cNvSpPr/>
          <p:nvPr/>
        </p:nvSpPr>
        <p:spPr>
          <a:xfrm>
            <a:off x="8302752" y="5074920"/>
            <a:ext cx="1376172" cy="384048"/>
          </a:xfrm>
          <a:prstGeom prst="roundRect">
            <a:avLst>
              <a:gd name="adj" fmla="val 47619"/>
            </a:avLst>
          </a:prstGeom>
          <a:solidFill>
            <a:schemeClr val="accent1"/>
          </a:solidFill>
          <a:ln/>
        </p:spPr>
      </p:sp>
      <p:sp>
        <p:nvSpPr>
          <p:cNvPr id="44" name="pytest-html label"/>
          <p:cNvSpPr txBox="1"/>
          <p:nvPr/>
        </p:nvSpPr>
        <p:spPr>
          <a:xfrm>
            <a:off x="8302752" y="5074920"/>
            <a:ext cx="1376172" cy="384048"/>
          </a:xfrm>
          <a:prstGeom prst="rect">
            <a:avLst/>
          </a:prstGeom>
          <a:noFill/>
          <a:ln/>
        </p:spPr>
        <p:txBody>
          <a:bodyPr wrap="square" lIns="0" tIns="0" rIns="0" bIns="0" rtlCol="0" anchor="ctr"/>
          <a:lstStyle/>
          <a:p>
            <a:pPr algn="ctr" indent="0" marL="0">
              <a:buNone/>
            </a:pPr>
            <a:r>
              <a:rPr lang="en-US" sz="1300" b="1" dirty="0">
                <a:solidFill>
                  <a:schemeClr val="bg1"/>
                </a:solidFill>
              </a:rPr>
              <a:t>pytest-html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Selenium: The Testing Tool</a:t>
            </a:r>
            <a:endParaRPr lang="en-US" sz="3400" dirty="0"/>
          </a:p>
        </p:txBody>
      </p:sp>
      <p:sp>
        <p:nvSpPr>
          <p:cNvPr id="3" name="Selenium intro"/>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600" dirty="0">
                <a:solidFill>
                  <a:schemeClr val="tx1"/>
                </a:solidFill>
              </a:rPr>
              <a:t>Open-source tool that automates web browsers (Chrome, Firefox, Edge, Safari) to test web applications.</a:t>
            </a:r>
            <a:endParaRPr lang="en-US" sz="1600" dirty="0"/>
          </a:p>
        </p:txBody>
      </p:sp>
      <p:sp>
        <p:nvSpPr>
          <p:cNvPr id="4" name="Selenium WebDriver card"/>
          <p:cNvSpPr/>
          <p:nvPr/>
        </p:nvSpPr>
        <p:spPr>
          <a:xfrm>
            <a:off x="548640" y="1828800"/>
            <a:ext cx="3520440" cy="2103120"/>
          </a:xfrm>
          <a:prstGeom prst="roundRect">
            <a:avLst>
              <a:gd name="adj" fmla="val 4348"/>
            </a:avLst>
          </a:prstGeom>
          <a:solidFill>
            <a:schemeClr val="accent1"/>
          </a:solidFill>
          <a:ln/>
        </p:spPr>
      </p:sp>
      <p:sp>
        <p:nvSpPr>
          <p:cNvPr id="5" name="Selenium WebDriver icon circle"/>
          <p:cNvSpPr/>
          <p:nvPr/>
        </p:nvSpPr>
        <p:spPr>
          <a:xfrm>
            <a:off x="777240" y="2057400"/>
            <a:ext cx="685800" cy="685800"/>
          </a:xfrm>
          <a:prstGeom prst="ellipse">
            <a:avLst/>
          </a:prstGeom>
          <a:solidFill>
            <a:schemeClr val="tx2"/>
          </a:solidFill>
          <a:ln/>
        </p:spPr>
      </p:sp>
      <p:pic>
        <p:nvPicPr>
          <p:cNvPr id="6" name="Selenium WebDriver icon" descr="preencoded.png">    </p:cNvPr>
          <p:cNvPicPr>
            <a:picLocks noChangeAspect="1"/>
          </p:cNvPicPr>
          <p:nvPr/>
        </p:nvPicPr>
        <p:blipFill>
          <a:blip r:embed="rId1"/>
          <a:stretch>
            <a:fillRect/>
          </a:stretch>
        </p:blipFill>
        <p:spPr>
          <a:xfrm>
            <a:off x="948690" y="2228850"/>
            <a:ext cx="342900" cy="342900"/>
          </a:xfrm>
          <a:prstGeom prst="rect">
            <a:avLst/>
          </a:prstGeom>
        </p:spPr>
      </p:pic>
      <p:sp>
        <p:nvSpPr>
          <p:cNvPr id="7" name="Selenium WebDriver title"/>
          <p:cNvSpPr txBox="1"/>
          <p:nvPr/>
        </p:nvSpPr>
        <p:spPr>
          <a:xfrm>
            <a:off x="1600200" y="2057400"/>
            <a:ext cx="2377440" cy="685800"/>
          </a:xfrm>
          <a:prstGeom prst="rect">
            <a:avLst/>
          </a:prstGeom>
          <a:noFill/>
          <a:ln/>
        </p:spPr>
        <p:txBody>
          <a:bodyPr wrap="square" lIns="0" tIns="0" rIns="0" bIns="0" rtlCol="0" anchor="ctr"/>
          <a:lstStyle/>
          <a:p>
            <a:pPr indent="0" marL="0">
              <a:buNone/>
            </a:pPr>
            <a:r>
              <a:rPr lang="en-US" sz="1800" b="1" dirty="0">
                <a:solidFill>
                  <a:schemeClr val="bg1"/>
                </a:solidFill>
              </a:rPr>
              <a:t>Selenium WebDriver</a:t>
            </a:r>
            <a:endParaRPr lang="en-US" sz="1800" dirty="0"/>
          </a:p>
        </p:txBody>
      </p:sp>
      <p:sp>
        <p:nvSpPr>
          <p:cNvPr id="8" name="Selenium WebDriver description"/>
          <p:cNvSpPr txBox="1"/>
          <p:nvPr/>
        </p:nvSpPr>
        <p:spPr>
          <a:xfrm>
            <a:off x="777240" y="2834640"/>
            <a:ext cx="3108960" cy="960120"/>
          </a:xfrm>
          <a:prstGeom prst="rect">
            <a:avLst/>
          </a:prstGeom>
          <a:noFill/>
          <a:ln/>
        </p:spPr>
        <p:txBody>
          <a:bodyPr wrap="square" lIns="0" tIns="0" rIns="0" bIns="0" rtlCol="0" anchor="t"/>
          <a:lstStyle/>
          <a:p>
            <a:pPr indent="0" marL="0">
              <a:buNone/>
            </a:pPr>
            <a:r>
              <a:rPr lang="en-US" sz="1400" dirty="0">
                <a:solidFill>
                  <a:schemeClr val="bg1"/>
                </a:solidFill>
              </a:rPr>
              <a:t>Controls the browser from code: open pages, find elements, type text, click buttons, read results.</a:t>
            </a:r>
            <a:endParaRPr lang="en-US" sz="1400" dirty="0"/>
          </a:p>
        </p:txBody>
      </p:sp>
      <p:sp>
        <p:nvSpPr>
          <p:cNvPr id="9" name="Selenium IDE card"/>
          <p:cNvSpPr/>
          <p:nvPr/>
        </p:nvSpPr>
        <p:spPr>
          <a:xfrm>
            <a:off x="4297680" y="1828800"/>
            <a:ext cx="3520440" cy="2103120"/>
          </a:xfrm>
          <a:prstGeom prst="roundRect">
            <a:avLst>
              <a:gd name="adj" fmla="val 4348"/>
            </a:avLst>
          </a:prstGeom>
          <a:solidFill>
            <a:schemeClr val="bg2"/>
          </a:solidFill>
          <a:ln/>
        </p:spPr>
      </p:sp>
      <p:sp>
        <p:nvSpPr>
          <p:cNvPr id="10" name="Selenium IDE icon circle"/>
          <p:cNvSpPr/>
          <p:nvPr/>
        </p:nvSpPr>
        <p:spPr>
          <a:xfrm>
            <a:off x="4526280" y="2057400"/>
            <a:ext cx="685800" cy="685800"/>
          </a:xfrm>
          <a:prstGeom prst="ellipse">
            <a:avLst/>
          </a:prstGeom>
          <a:solidFill>
            <a:schemeClr val="accent1"/>
          </a:solidFill>
          <a:ln/>
        </p:spPr>
      </p:sp>
      <p:pic>
        <p:nvPicPr>
          <p:cNvPr id="11" name="Selenium IDE icon" descr="preencoded.png">    </p:cNvPr>
          <p:cNvPicPr>
            <a:picLocks noChangeAspect="1"/>
          </p:cNvPicPr>
          <p:nvPr/>
        </p:nvPicPr>
        <p:blipFill>
          <a:blip r:embed="rId2"/>
          <a:stretch>
            <a:fillRect/>
          </a:stretch>
        </p:blipFill>
        <p:spPr>
          <a:xfrm>
            <a:off x="4697730" y="2228850"/>
            <a:ext cx="342900" cy="342900"/>
          </a:xfrm>
          <a:prstGeom prst="rect">
            <a:avLst/>
          </a:prstGeom>
        </p:spPr>
      </p:pic>
      <p:sp>
        <p:nvSpPr>
          <p:cNvPr id="12" name="Selenium IDE title"/>
          <p:cNvSpPr txBox="1"/>
          <p:nvPr/>
        </p:nvSpPr>
        <p:spPr>
          <a:xfrm>
            <a:off x="5349240" y="2057400"/>
            <a:ext cx="2377440" cy="685800"/>
          </a:xfrm>
          <a:prstGeom prst="rect">
            <a:avLst/>
          </a:prstGeom>
          <a:noFill/>
          <a:ln/>
        </p:spPr>
        <p:txBody>
          <a:bodyPr wrap="square" lIns="0" tIns="0" rIns="0" bIns="0" rtlCol="0" anchor="ctr"/>
          <a:lstStyle/>
          <a:p>
            <a:pPr indent="0" marL="0">
              <a:buNone/>
            </a:pPr>
            <a:r>
              <a:rPr lang="en-US" sz="1800" b="1" dirty="0">
                <a:solidFill>
                  <a:schemeClr val="tx2"/>
                </a:solidFill>
              </a:rPr>
              <a:t>Selenium IDE</a:t>
            </a:r>
            <a:endParaRPr lang="en-US" sz="1800" dirty="0"/>
          </a:p>
        </p:txBody>
      </p:sp>
      <p:sp>
        <p:nvSpPr>
          <p:cNvPr id="13" name="Selenium IDE description"/>
          <p:cNvSpPr txBox="1"/>
          <p:nvPr/>
        </p:nvSpPr>
        <p:spPr>
          <a:xfrm>
            <a:off x="4526280" y="2834640"/>
            <a:ext cx="3108960" cy="960120"/>
          </a:xfrm>
          <a:prstGeom prst="rect">
            <a:avLst/>
          </a:prstGeom>
          <a:noFill/>
          <a:ln/>
        </p:spPr>
        <p:txBody>
          <a:bodyPr wrap="square" lIns="0" tIns="0" rIns="0" bIns="0" rtlCol="0" anchor="t"/>
          <a:lstStyle/>
          <a:p>
            <a:pPr indent="0" marL="0">
              <a:buNone/>
            </a:pPr>
            <a:r>
              <a:rPr lang="en-US" sz="1400" dirty="0">
                <a:solidFill>
                  <a:schemeClr val="tx1"/>
                </a:solidFill>
              </a:rPr>
              <a:t>Browser extension that records and replays user actions. Simple tests without much code.</a:t>
            </a:r>
            <a:endParaRPr lang="en-US" sz="1400" dirty="0"/>
          </a:p>
        </p:txBody>
      </p:sp>
      <p:sp>
        <p:nvSpPr>
          <p:cNvPr id="14" name="Selenium Grid card"/>
          <p:cNvSpPr/>
          <p:nvPr/>
        </p:nvSpPr>
        <p:spPr>
          <a:xfrm>
            <a:off x="8046720" y="1828800"/>
            <a:ext cx="3520440" cy="2103120"/>
          </a:xfrm>
          <a:prstGeom prst="roundRect">
            <a:avLst>
              <a:gd name="adj" fmla="val 4348"/>
            </a:avLst>
          </a:prstGeom>
          <a:solidFill>
            <a:schemeClr val="bg2"/>
          </a:solidFill>
          <a:ln/>
        </p:spPr>
      </p:sp>
      <p:sp>
        <p:nvSpPr>
          <p:cNvPr id="15" name="Selenium Grid icon circle"/>
          <p:cNvSpPr/>
          <p:nvPr/>
        </p:nvSpPr>
        <p:spPr>
          <a:xfrm>
            <a:off x="8275320" y="2057400"/>
            <a:ext cx="685800" cy="685800"/>
          </a:xfrm>
          <a:prstGeom prst="ellipse">
            <a:avLst/>
          </a:prstGeom>
          <a:solidFill>
            <a:schemeClr val="accent1"/>
          </a:solidFill>
          <a:ln/>
        </p:spPr>
      </p:sp>
      <p:pic>
        <p:nvPicPr>
          <p:cNvPr id="16" name="Selenium Grid icon" descr="preencoded.png">    </p:cNvPr>
          <p:cNvPicPr>
            <a:picLocks noChangeAspect="1"/>
          </p:cNvPicPr>
          <p:nvPr/>
        </p:nvPicPr>
        <p:blipFill>
          <a:blip r:embed="rId3"/>
          <a:stretch>
            <a:fillRect/>
          </a:stretch>
        </p:blipFill>
        <p:spPr>
          <a:xfrm>
            <a:off x="8446770" y="2228850"/>
            <a:ext cx="342900" cy="342900"/>
          </a:xfrm>
          <a:prstGeom prst="rect">
            <a:avLst/>
          </a:prstGeom>
        </p:spPr>
      </p:pic>
      <p:sp>
        <p:nvSpPr>
          <p:cNvPr id="17" name="Selenium Grid title"/>
          <p:cNvSpPr txBox="1"/>
          <p:nvPr/>
        </p:nvSpPr>
        <p:spPr>
          <a:xfrm>
            <a:off x="9098280" y="2057400"/>
            <a:ext cx="2377440" cy="685800"/>
          </a:xfrm>
          <a:prstGeom prst="rect">
            <a:avLst/>
          </a:prstGeom>
          <a:noFill/>
          <a:ln/>
        </p:spPr>
        <p:txBody>
          <a:bodyPr wrap="square" lIns="0" tIns="0" rIns="0" bIns="0" rtlCol="0" anchor="ctr"/>
          <a:lstStyle/>
          <a:p>
            <a:pPr indent="0" marL="0">
              <a:buNone/>
            </a:pPr>
            <a:r>
              <a:rPr lang="en-US" sz="1800" b="1" dirty="0">
                <a:solidFill>
                  <a:schemeClr val="tx2"/>
                </a:solidFill>
              </a:rPr>
              <a:t>Selenium Grid</a:t>
            </a:r>
            <a:endParaRPr lang="en-US" sz="1800" dirty="0"/>
          </a:p>
        </p:txBody>
      </p:sp>
      <p:sp>
        <p:nvSpPr>
          <p:cNvPr id="18" name="Selenium Grid description"/>
          <p:cNvSpPr txBox="1"/>
          <p:nvPr/>
        </p:nvSpPr>
        <p:spPr>
          <a:xfrm>
            <a:off x="8275320" y="2834640"/>
            <a:ext cx="3108960" cy="960120"/>
          </a:xfrm>
          <a:prstGeom prst="rect">
            <a:avLst/>
          </a:prstGeom>
          <a:noFill/>
          <a:ln/>
        </p:spPr>
        <p:txBody>
          <a:bodyPr wrap="square" lIns="0" tIns="0" rIns="0" bIns="0" rtlCol="0" anchor="t"/>
          <a:lstStyle/>
          <a:p>
            <a:pPr indent="0" marL="0">
              <a:buNone/>
            </a:pPr>
            <a:r>
              <a:rPr lang="en-US" sz="1400" dirty="0">
                <a:solidFill>
                  <a:schemeClr val="tx1"/>
                </a:solidFill>
              </a:rPr>
              <a:t>Runs the same tests on many browsers and machines in parallel.</a:t>
            </a:r>
            <a:endParaRPr lang="en-US" sz="1400" dirty="0"/>
          </a:p>
        </p:txBody>
      </p:sp>
      <p:sp>
        <p:nvSpPr>
          <p:cNvPr id="19" name="Used badge"/>
          <p:cNvSpPr txBox="1"/>
          <p:nvPr/>
        </p:nvSpPr>
        <p:spPr>
          <a:xfrm>
            <a:off x="777240" y="4005072"/>
            <a:ext cx="3108960" cy="274320"/>
          </a:xfrm>
          <a:prstGeom prst="rect">
            <a:avLst/>
          </a:prstGeom>
          <a:noFill/>
          <a:ln/>
        </p:spPr>
        <p:txBody>
          <a:bodyPr wrap="square" lIns="0" tIns="0" rIns="0" bIns="0" rtlCol="0" anchor="ctr"/>
          <a:lstStyle/>
          <a:p>
            <a:pPr indent="0" marL="0">
              <a:buNone/>
            </a:pPr>
            <a:r>
              <a:rPr lang="en-US" sz="1200" b="1" i="1" dirty="0">
                <a:solidFill>
                  <a:schemeClr val="accent1"/>
                </a:solidFill>
              </a:rPr>
              <a:t>Used in our project</a:t>
            </a:r>
            <a:endParaRPr lang="en-US" sz="1200" dirty="0"/>
          </a:p>
        </p:txBody>
      </p:sp>
      <p:sp>
        <p:nvSpPr>
          <p:cNvPr id="20" name="Workflow heading"/>
          <p:cNvSpPr txBox="1"/>
          <p:nvPr/>
        </p:nvSpPr>
        <p:spPr>
          <a:xfrm>
            <a:off x="548640" y="4389120"/>
            <a:ext cx="11064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Selenium workflow in our project</a:t>
            </a:r>
            <a:endParaRPr lang="en-US" sz="1800" dirty="0"/>
          </a:p>
        </p:txBody>
      </p:sp>
      <p:sp>
        <p:nvSpPr>
          <p:cNvPr id="21" name="Step 1"/>
          <p:cNvSpPr/>
          <p:nvPr/>
        </p:nvSpPr>
        <p:spPr>
          <a:xfrm>
            <a:off x="548640" y="4846320"/>
            <a:ext cx="1554480" cy="685800"/>
          </a:xfrm>
          <a:prstGeom prst="chevron">
            <a:avLst/>
          </a:prstGeom>
          <a:solidFill>
            <a:schemeClr val="accent1"/>
          </a:solidFill>
          <a:ln/>
        </p:spPr>
      </p:sp>
      <p:sp>
        <p:nvSpPr>
          <p:cNvPr id="22" name="Step 1 number"/>
          <p:cNvSpPr txBox="1"/>
          <p:nvPr/>
        </p:nvSpPr>
        <p:spPr>
          <a:xfrm>
            <a:off x="8686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3" name="Step 1 label"/>
          <p:cNvSpPr txBox="1"/>
          <p:nvPr/>
        </p:nvSpPr>
        <p:spPr>
          <a:xfrm>
            <a:off x="5943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Launch Browser</a:t>
            </a:r>
            <a:endParaRPr lang="en-US" sz="1300" dirty="0"/>
          </a:p>
        </p:txBody>
      </p:sp>
      <p:sp>
        <p:nvSpPr>
          <p:cNvPr id="24" name="Step 2"/>
          <p:cNvSpPr/>
          <p:nvPr/>
        </p:nvSpPr>
        <p:spPr>
          <a:xfrm>
            <a:off x="2148840" y="4846320"/>
            <a:ext cx="1554480" cy="685800"/>
          </a:xfrm>
          <a:prstGeom prst="chevron">
            <a:avLst/>
          </a:prstGeom>
          <a:solidFill>
            <a:schemeClr val="accent1"/>
          </a:solidFill>
          <a:ln/>
        </p:spPr>
      </p:sp>
      <p:sp>
        <p:nvSpPr>
          <p:cNvPr id="25" name="Step 2 number"/>
          <p:cNvSpPr txBox="1"/>
          <p:nvPr/>
        </p:nvSpPr>
        <p:spPr>
          <a:xfrm>
            <a:off x="24688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6" name="Step 2 label"/>
          <p:cNvSpPr txBox="1"/>
          <p:nvPr/>
        </p:nvSpPr>
        <p:spPr>
          <a:xfrm>
            <a:off x="21945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Open HMS</a:t>
            </a:r>
            <a:endParaRPr lang="en-US" sz="1300" dirty="0"/>
          </a:p>
        </p:txBody>
      </p:sp>
      <p:sp>
        <p:nvSpPr>
          <p:cNvPr id="27" name="Step 3"/>
          <p:cNvSpPr/>
          <p:nvPr/>
        </p:nvSpPr>
        <p:spPr>
          <a:xfrm>
            <a:off x="3749040" y="4846320"/>
            <a:ext cx="1554480" cy="685800"/>
          </a:xfrm>
          <a:prstGeom prst="chevron">
            <a:avLst/>
          </a:prstGeom>
          <a:solidFill>
            <a:schemeClr val="accent1"/>
          </a:solidFill>
          <a:ln/>
        </p:spPr>
      </p:sp>
      <p:sp>
        <p:nvSpPr>
          <p:cNvPr id="28" name="Step 3 number"/>
          <p:cNvSpPr txBox="1"/>
          <p:nvPr/>
        </p:nvSpPr>
        <p:spPr>
          <a:xfrm>
            <a:off x="40690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9" name="Step 3 label"/>
          <p:cNvSpPr txBox="1"/>
          <p:nvPr/>
        </p:nvSpPr>
        <p:spPr>
          <a:xfrm>
            <a:off x="37947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Locate Elements</a:t>
            </a:r>
            <a:endParaRPr lang="en-US" sz="1300" dirty="0"/>
          </a:p>
        </p:txBody>
      </p:sp>
      <p:sp>
        <p:nvSpPr>
          <p:cNvPr id="30" name="Step 4"/>
          <p:cNvSpPr/>
          <p:nvPr/>
        </p:nvSpPr>
        <p:spPr>
          <a:xfrm>
            <a:off x="5349240" y="4846320"/>
            <a:ext cx="1554480" cy="685800"/>
          </a:xfrm>
          <a:prstGeom prst="chevron">
            <a:avLst/>
          </a:prstGeom>
          <a:solidFill>
            <a:schemeClr val="accent1"/>
          </a:solidFill>
          <a:ln/>
        </p:spPr>
      </p:sp>
      <p:sp>
        <p:nvSpPr>
          <p:cNvPr id="31" name="Step 4 number"/>
          <p:cNvSpPr txBox="1"/>
          <p:nvPr/>
        </p:nvSpPr>
        <p:spPr>
          <a:xfrm>
            <a:off x="56692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32" name="Step 4 label"/>
          <p:cNvSpPr txBox="1"/>
          <p:nvPr/>
        </p:nvSpPr>
        <p:spPr>
          <a:xfrm>
            <a:off x="53949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Perform Actions</a:t>
            </a:r>
            <a:endParaRPr lang="en-US" sz="1300" dirty="0"/>
          </a:p>
        </p:txBody>
      </p:sp>
      <p:sp>
        <p:nvSpPr>
          <p:cNvPr id="33" name="Step 5"/>
          <p:cNvSpPr/>
          <p:nvPr/>
        </p:nvSpPr>
        <p:spPr>
          <a:xfrm>
            <a:off x="6949440" y="4846320"/>
            <a:ext cx="1554480" cy="685800"/>
          </a:xfrm>
          <a:prstGeom prst="chevron">
            <a:avLst/>
          </a:prstGeom>
          <a:solidFill>
            <a:schemeClr val="accent1"/>
          </a:solidFill>
          <a:ln/>
        </p:spPr>
      </p:sp>
      <p:sp>
        <p:nvSpPr>
          <p:cNvPr id="34" name="Step 5 number"/>
          <p:cNvSpPr txBox="1"/>
          <p:nvPr/>
        </p:nvSpPr>
        <p:spPr>
          <a:xfrm>
            <a:off x="72694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5" name="Step 5 label"/>
          <p:cNvSpPr txBox="1"/>
          <p:nvPr/>
        </p:nvSpPr>
        <p:spPr>
          <a:xfrm>
            <a:off x="69951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Submit Data</a:t>
            </a:r>
            <a:endParaRPr lang="en-US" sz="1300" dirty="0"/>
          </a:p>
        </p:txBody>
      </p:sp>
      <p:sp>
        <p:nvSpPr>
          <p:cNvPr id="36" name="Step 6"/>
          <p:cNvSpPr/>
          <p:nvPr/>
        </p:nvSpPr>
        <p:spPr>
          <a:xfrm>
            <a:off x="8549640" y="4846320"/>
            <a:ext cx="1554480" cy="685800"/>
          </a:xfrm>
          <a:prstGeom prst="chevron">
            <a:avLst/>
          </a:prstGeom>
          <a:solidFill>
            <a:schemeClr val="accent4"/>
          </a:solidFill>
          <a:ln/>
        </p:spPr>
      </p:sp>
      <p:sp>
        <p:nvSpPr>
          <p:cNvPr id="37" name="Step 6 number"/>
          <p:cNvSpPr txBox="1"/>
          <p:nvPr/>
        </p:nvSpPr>
        <p:spPr>
          <a:xfrm>
            <a:off x="88696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8" name="Step 6 label"/>
          <p:cNvSpPr txBox="1"/>
          <p:nvPr/>
        </p:nvSpPr>
        <p:spPr>
          <a:xfrm>
            <a:off x="85953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Verify Result</a:t>
            </a:r>
            <a:endParaRPr lang="en-US" sz="1300" dirty="0"/>
          </a:p>
        </p:txBody>
      </p:sp>
      <p:sp>
        <p:nvSpPr>
          <p:cNvPr id="39" name="Step 7"/>
          <p:cNvSpPr/>
          <p:nvPr/>
        </p:nvSpPr>
        <p:spPr>
          <a:xfrm>
            <a:off x="10149840" y="4846320"/>
            <a:ext cx="1554480" cy="685800"/>
          </a:xfrm>
          <a:prstGeom prst="chevron">
            <a:avLst/>
          </a:prstGeom>
          <a:solidFill>
            <a:schemeClr val="accent1"/>
          </a:solidFill>
          <a:ln/>
        </p:spPr>
      </p:sp>
      <p:sp>
        <p:nvSpPr>
          <p:cNvPr id="40" name="Step 7 number"/>
          <p:cNvSpPr txBox="1"/>
          <p:nvPr/>
        </p:nvSpPr>
        <p:spPr>
          <a:xfrm>
            <a:off x="10469880" y="4846320"/>
            <a:ext cx="914400" cy="68580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41" name="Step 7 label"/>
          <p:cNvSpPr txBox="1"/>
          <p:nvPr/>
        </p:nvSpPr>
        <p:spPr>
          <a:xfrm>
            <a:off x="10195560" y="5577840"/>
            <a:ext cx="1463040" cy="457200"/>
          </a:xfrm>
          <a:prstGeom prst="rect">
            <a:avLst/>
          </a:prstGeom>
          <a:noFill/>
          <a:ln/>
        </p:spPr>
        <p:txBody>
          <a:bodyPr wrap="square" lIns="0" tIns="0" rIns="0" bIns="0" rtlCol="0" anchor="t"/>
          <a:lstStyle/>
          <a:p>
            <a:pPr algn="ctr" indent="0" marL="0">
              <a:buNone/>
            </a:pPr>
            <a:r>
              <a:rPr lang="en-US" sz="1300" b="1" dirty="0">
                <a:solidFill>
                  <a:schemeClr val="tx2"/>
                </a:solidFill>
              </a:rPr>
              <a:t>Record Result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Selenium Test Cases</a:t>
            </a:r>
            <a:endParaRPr lang="en-US" sz="3400" dirty="0"/>
          </a:p>
        </p:txBody>
      </p:sp>
      <p:graphicFrame>
        <p:nvGraphicFramePr>
          <p:cNvPr id="7" name="Test case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914400"/>
                <a:gridCol w="3108960"/>
                <a:gridCol w="3108960"/>
                <a:gridCol w="2926080"/>
                <a:gridCol w="1005840"/>
              </a:tblGrid>
              <a:tr h="40233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0B4F5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Case</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0B4F5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0B4F5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 Result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0B4F5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Actual</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0B4F5C"/>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TC01</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Login with valid details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Correct username / password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Login successful</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TC02</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Login with invalid details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Wrong password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Error message displayed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TC03</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Add patient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Valid patient details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Patient added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TC04</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Empty patient form</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Empty fields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Validation message</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TC05</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Book appointment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Valid doctor / date</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Appointment booked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TC06</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Search patient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Patient ID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Patient details displayed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TC07</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Update patient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Modified details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Details updated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TC08</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Delete patient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Existing patient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Patient removed</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TC09</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Logout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Click Logout</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indent="0" marL="0">
                        <a:buNone/>
                      </a:pPr>
                      <a:r>
                        <a:rPr lang="en-US" sz="1400" dirty="0">
                          <a:solidFill>
                            <a:srgbClr val="1D2B33"/>
                          </a:solidFill>
                          <a:latin typeface="Calibri" pitchFamily="34" charset="0"/>
                          <a:ea typeface="Calibri" pitchFamily="34" charset="-122"/>
                          <a:cs typeface="Calibri" pitchFamily="34" charset="-120"/>
                        </a:rPr>
                        <a:t>User returned to login page</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c>
                  <a:txBody>
                    <a:bodyPr/>
                    <a:lstStyle/>
                    <a:p>
                      <a:pPr algn="ctr" indent="0" marL="0">
                        <a:buNone/>
                      </a:pPr>
                      <a:r>
                        <a:rPr lang="en-US" sz="1400" b="1" dirty="0">
                          <a:solidFill>
                            <a:srgbClr val="2E9E5B"/>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6350" cap="flat" cmpd="sng" algn="ctr">
                      <a:solidFill>
                        <a:srgbClr val="D5E3E6"/>
                      </a:solidFill>
                      <a:prstDash val="solid"/>
                      <a:round/>
                      <a:headEnd type="none" w="med" len="med"/>
                      <a:tailEnd type="none" w="med" len="med"/>
                    </a:lnL>
                    <a:lnR w="6350" cap="flat" cmpd="sng" algn="ctr">
                      <a:solidFill>
                        <a:srgbClr val="D5E3E6"/>
                      </a:solidFill>
                      <a:prstDash val="solid"/>
                      <a:round/>
                      <a:headEnd type="none" w="med" len="med"/>
                      <a:tailEnd type="none" w="med" len="med"/>
                    </a:lnR>
                    <a:lnT w="6350" cap="flat" cmpd="sng" algn="ctr">
                      <a:solidFill>
                        <a:srgbClr val="D5E3E6"/>
                      </a:solidFill>
                      <a:prstDash val="solid"/>
                      <a:round/>
                      <a:headEnd type="none" w="med" len="med"/>
                      <a:tailEnd type="none" w="med" len="med"/>
                    </a:lnT>
                    <a:lnB w="6350" cap="flat" cmpd="sng" algn="ctr">
                      <a:solidFill>
                        <a:srgbClr val="D5E3E6"/>
                      </a:solidFill>
                      <a:prstDash val="solid"/>
                      <a:round/>
                      <a:headEnd type="none" w="med" len="med"/>
                      <a:tailEnd type="none" w="med" len="med"/>
                    </a:lnB>
                    <a:solidFill>
                      <a:srgbClr val="EEF5F6"/>
                    </a:solidFill>
                  </a:tcPr>
                </a:tc>
              </a:tr>
            </a:tbl>
          </a:graphicData>
        </a:graphic>
      </p:graphicFrame>
      <p:sp>
        <p:nvSpPr>
          <p:cNvPr id="4" name="Extra tests box"/>
          <p:cNvSpPr/>
          <p:nvPr/>
        </p:nvSpPr>
        <p:spPr>
          <a:xfrm>
            <a:off x="548640" y="5440680"/>
            <a:ext cx="11064240" cy="685800"/>
          </a:xfrm>
          <a:prstGeom prst="roundRect">
            <a:avLst>
              <a:gd name="adj" fmla="val 10667"/>
            </a:avLst>
          </a:prstGeom>
          <a:solidFill>
            <a:schemeClr val="bg2"/>
          </a:solidFill>
          <a:ln/>
        </p:spPr>
      </p:sp>
      <p:sp>
        <p:nvSpPr>
          <p:cNvPr id="5" name="Extra tests icon circle"/>
          <p:cNvSpPr/>
          <p:nvPr/>
        </p:nvSpPr>
        <p:spPr>
          <a:xfrm>
            <a:off x="685800" y="5513832"/>
            <a:ext cx="548640" cy="548640"/>
          </a:xfrm>
          <a:prstGeom prst="ellipse">
            <a:avLst/>
          </a:prstGeom>
          <a:solidFill>
            <a:schemeClr val="accent3"/>
          </a:solidFill>
          <a:ln/>
        </p:spPr>
      </p:sp>
      <p:pic>
        <p:nvPicPr>
          <p:cNvPr id="6" name="Extra tests icon" descr="preencoded.png">    </p:cNvPr>
          <p:cNvPicPr>
            <a:picLocks noChangeAspect="1"/>
          </p:cNvPicPr>
          <p:nvPr/>
        </p:nvPicPr>
        <p:blipFill>
          <a:blip r:embed="rId1"/>
          <a:stretch>
            <a:fillRect/>
          </a:stretch>
        </p:blipFill>
        <p:spPr>
          <a:xfrm>
            <a:off x="822960" y="5650992"/>
            <a:ext cx="274320" cy="274320"/>
          </a:xfrm>
          <a:prstGeom prst="rect">
            <a:avLst/>
          </a:prstGeom>
        </p:spPr>
      </p:pic>
      <p:sp>
        <p:nvSpPr>
          <p:cNvPr id="7" name="Extra tests text"/>
          <p:cNvSpPr txBox="1"/>
          <p:nvPr/>
        </p:nvSpPr>
        <p:spPr>
          <a:xfrm>
            <a:off x="1417320" y="5440680"/>
            <a:ext cx="10058400" cy="685800"/>
          </a:xfrm>
          <a:prstGeom prst="rect">
            <a:avLst/>
          </a:prstGeom>
          <a:noFill/>
          <a:ln/>
        </p:spPr>
        <p:txBody>
          <a:bodyPr wrap="square" lIns="0" tIns="0" rIns="0" bIns="0" rtlCol="0" anchor="ctr"/>
          <a:lstStyle/>
          <a:p>
            <a:pPr indent="0" marL="0">
              <a:buNone/>
            </a:pPr>
            <a:r>
              <a:rPr lang="en-US" sz="1400" b="1" dirty="0">
                <a:solidFill>
                  <a:schemeClr val="tx2"/>
                </a:solidFill>
              </a:rPr>
              <a:t>+4 extra tests: </a:t>
            </a:r>
            <a:pPr indent="0" marL="0">
              <a:buNone/>
            </a:pPr>
            <a:r>
              <a:rPr lang="en-US" sz="1400" dirty="0">
                <a:solidFill>
                  <a:schemeClr val="tx1"/>
                </a:solidFill>
              </a:rPr>
              <a:t>TC10 doctor availability, TC11 no double booking, TC12 medical record, TC13 bill total = consultation + treatment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Example Selenium Test (Python)</a:t>
            </a:r>
            <a:endParaRPr lang="en-US" sz="3400" dirty="0"/>
          </a:p>
        </p:txBody>
      </p:sp>
      <p:sp>
        <p:nvSpPr>
          <p:cNvPr id="3" name="Code background"/>
          <p:cNvSpPr/>
          <p:nvPr/>
        </p:nvSpPr>
        <p:spPr>
          <a:xfrm>
            <a:off x="548640" y="1280160"/>
            <a:ext cx="6766560" cy="4754880"/>
          </a:xfrm>
          <a:prstGeom prst="roundRect">
            <a:avLst>
              <a:gd name="adj" fmla="val 1538"/>
            </a:avLst>
          </a:prstGeom>
          <a:solidFill>
            <a:srgbClr val="1E2A30"/>
          </a:solidFill>
          <a:ln/>
        </p:spPr>
      </p:sp>
      <p:sp>
        <p:nvSpPr>
          <p:cNvPr id="4" name="Code file name"/>
          <p:cNvSpPr txBox="1"/>
          <p:nvPr/>
        </p:nvSpPr>
        <p:spPr>
          <a:xfrm>
            <a:off x="822960" y="1417320"/>
            <a:ext cx="6217920" cy="320040"/>
          </a:xfrm>
          <a:prstGeom prst="rect">
            <a:avLst/>
          </a:prstGeom>
          <a:noFill/>
          <a:ln/>
        </p:spPr>
        <p:txBody>
          <a:bodyPr wrap="square" lIns="0" tIns="0" rIns="0" bIns="0" rtlCol="0" anchor="ctr"/>
          <a:lstStyle/>
          <a:p>
            <a:pPr indent="0" marL="0">
              <a:buNone/>
            </a:pPr>
            <a:r>
              <a:rPr lang="en-US" sz="1200" dirty="0">
                <a:solidFill>
                  <a:srgbClr val="8FB3BA"/>
                </a:solidFill>
                <a:latin typeface="Courier New" pitchFamily="34" charset="0"/>
                <a:ea typeface="Courier New" pitchFamily="34" charset="-122"/>
                <a:cs typeface="Courier New" pitchFamily="34" charset="-120"/>
              </a:rPr>
              <a:t>selenium_login_demo.py</a:t>
            </a:r>
            <a:endParaRPr lang="en-US" sz="1200" dirty="0"/>
          </a:p>
        </p:txBody>
      </p:sp>
      <p:sp>
        <p:nvSpPr>
          <p:cNvPr id="5" name="Code"/>
          <p:cNvSpPr txBox="1"/>
          <p:nvPr/>
        </p:nvSpPr>
        <p:spPr>
          <a:xfrm>
            <a:off x="822960" y="1828800"/>
            <a:ext cx="6400800" cy="3291840"/>
          </a:xfrm>
          <a:prstGeom prst="rect">
            <a:avLst/>
          </a:prstGeom>
          <a:noFill/>
          <a:ln/>
        </p:spPr>
        <p:txBody>
          <a:bodyPr wrap="square" lIns="0" tIns="0" rIns="0" bIns="0" rtlCol="0" anchor="t"/>
          <a:lstStyle/>
          <a:p>
            <a:pPr indent="0" marL="0">
              <a:buNone/>
            </a:pPr>
            <a:r>
              <a:rPr lang="en-US" sz="1300" dirty="0">
                <a:solidFill>
                  <a:srgbClr val="F4A261"/>
                </a:solidFill>
                <a:latin typeface="Courier New" pitchFamily="34" charset="0"/>
                <a:ea typeface="Courier New" pitchFamily="34" charset="-122"/>
                <a:cs typeface="Courier New" pitchFamily="34" charset="-120"/>
              </a:rPr>
              <a:t>import time</a:t>
            </a:r>
            <a:endParaRPr lang="en-US" sz="1300" dirty="0"/>
          </a:p>
          <a:p>
            <a:pPr indent="0" marL="0">
              <a:buNone/>
            </a:pPr>
            <a:r>
              <a:rPr lang="en-US" sz="1300" dirty="0">
                <a:solidFill>
                  <a:srgbClr val="F4A261"/>
                </a:solidFill>
                <a:latin typeface="Courier New" pitchFamily="34" charset="0"/>
                <a:ea typeface="Courier New" pitchFamily="34" charset="-122"/>
                <a:cs typeface="Courier New" pitchFamily="34" charset="-120"/>
              </a:rPr>
              <a:t>from selenium import webdriver</a:t>
            </a:r>
            <a:endParaRPr lang="en-US" sz="1300" dirty="0"/>
          </a:p>
          <a:p>
            <a:pPr indent="0" marL="0">
              <a:buNone/>
            </a:pPr>
            <a:r>
              <a:rPr lang="en-US" sz="1300" dirty="0">
                <a:solidFill>
                  <a:srgbClr val="F4A261"/>
                </a:solidFill>
                <a:latin typeface="Courier New" pitchFamily="34" charset="0"/>
                <a:ea typeface="Courier New" pitchFamily="34" charset="-122"/>
                <a:cs typeface="Courier New" pitchFamily="34" charset="-120"/>
              </a:rPr>
              <a:t>from selenium.webdriver.common.by import By</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 = webdriver.Chrome()</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driver.get("http://127.0.0.1:5000")</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driver.find_element(By.ID, "username").send_keys("admin")</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driver.find_element(By.ID, "password").send_keys("admin123")</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driver.find_element(By.ID, "login").click()</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time.sleep(2)</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7FD8A6"/>
                </a:solidFill>
                <a:latin typeface="Courier New" pitchFamily="34" charset="0"/>
                <a:ea typeface="Courier New" pitchFamily="34" charset="-122"/>
                <a:cs typeface="Courier New" pitchFamily="34" charset="-120"/>
              </a:rPr>
              <a:t>assert "/dashboard" in driver.current_url</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print("Login test PASSED - dashboard opened")</a:t>
            </a:r>
            <a:endParaRPr lang="en-US" sz="1300" dirty="0"/>
          </a:p>
          <a:p>
            <a:pPr indent="0" marL="0">
              <a:buNone/>
            </a:pPr>
            <a:r>
              <a:rPr lang="en-US" sz="1300" dirty="0">
                <a:solidFill>
                  <a:srgbClr val="E8F1F2"/>
                </a:solidFill>
                <a:latin typeface="Courier New" pitchFamily="34" charset="0"/>
                <a:ea typeface="Courier New" pitchFamily="34" charset="-122"/>
                <a:cs typeface="Courier New" pitchFamily="34" charset="-120"/>
              </a:rPr>
              <a:t>driver.quit()</a:t>
            </a:r>
            <a:endParaRPr lang="en-US" sz="1300" dirty="0"/>
          </a:p>
        </p:txBody>
      </p:sp>
      <p:sp>
        <p:nvSpPr>
          <p:cNvPr id="6" name="Terminal output box"/>
          <p:cNvSpPr/>
          <p:nvPr/>
        </p:nvSpPr>
        <p:spPr>
          <a:xfrm>
            <a:off x="822960" y="5257800"/>
            <a:ext cx="6217920" cy="594360"/>
          </a:xfrm>
          <a:prstGeom prst="roundRect">
            <a:avLst>
              <a:gd name="adj" fmla="val 9231"/>
            </a:avLst>
          </a:prstGeom>
          <a:solidFill>
            <a:srgbClr val="0F171B"/>
          </a:solidFill>
          <a:ln/>
        </p:spPr>
      </p:sp>
      <p:sp>
        <p:nvSpPr>
          <p:cNvPr id="7" name="Terminal output"/>
          <p:cNvSpPr txBox="1"/>
          <p:nvPr/>
        </p:nvSpPr>
        <p:spPr>
          <a:xfrm>
            <a:off x="960120" y="5257800"/>
            <a:ext cx="5943600" cy="594360"/>
          </a:xfrm>
          <a:prstGeom prst="rect">
            <a:avLst/>
          </a:prstGeom>
          <a:noFill/>
          <a:ln/>
        </p:spPr>
        <p:txBody>
          <a:bodyPr wrap="square" lIns="0" tIns="0" rIns="0" bIns="0" rtlCol="0" anchor="ctr"/>
          <a:lstStyle/>
          <a:p>
            <a:pPr indent="0" marL="0">
              <a:buNone/>
            </a:pPr>
            <a:r>
              <a:rPr lang="en-US" sz="1200" dirty="0">
                <a:solidFill>
                  <a:srgbClr val="8FB3BA"/>
                </a:solidFill>
                <a:latin typeface="Courier New" pitchFamily="34" charset="0"/>
                <a:ea typeface="Courier New" pitchFamily="34" charset="-122"/>
                <a:cs typeface="Courier New" pitchFamily="34" charset="-120"/>
              </a:rPr>
              <a:t>$ python selenium_login_demo.py</a:t>
            </a:r>
            <a:endParaRPr lang="en-US" sz="1200" dirty="0"/>
          </a:p>
          <a:p>
            <a:pPr indent="0" marL="0">
              <a:buNone/>
            </a:pPr>
            <a:r>
              <a:rPr lang="en-US" sz="1200" b="1" dirty="0">
                <a:solidFill>
                  <a:srgbClr val="7FD8A6"/>
                </a:solidFill>
                <a:latin typeface="Courier New" pitchFamily="34" charset="0"/>
                <a:ea typeface="Courier New" pitchFamily="34" charset="-122"/>
                <a:cs typeface="Courier New" pitchFamily="34" charset="-120"/>
              </a:rPr>
              <a:t>Login test PASSED - dashboard opened</a:t>
            </a:r>
            <a:endParaRPr lang="en-US" sz="1200" dirty="0"/>
          </a:p>
        </p:txBody>
      </p:sp>
      <p:sp>
        <p:nvSpPr>
          <p:cNvPr id="8" name="webdriver.Chrome() box"/>
          <p:cNvSpPr/>
          <p:nvPr/>
        </p:nvSpPr>
        <p:spPr>
          <a:xfrm>
            <a:off x="7589520" y="1280160"/>
            <a:ext cx="4023360" cy="566928"/>
          </a:xfrm>
          <a:prstGeom prst="roundRect">
            <a:avLst>
              <a:gd name="adj" fmla="val 12903"/>
            </a:avLst>
          </a:prstGeom>
          <a:solidFill>
            <a:schemeClr val="bg2"/>
          </a:solidFill>
          <a:ln/>
        </p:spPr>
      </p:sp>
      <p:sp>
        <p:nvSpPr>
          <p:cNvPr id="9" name="webdriver.Chrome() explanation"/>
          <p:cNvSpPr txBox="1"/>
          <p:nvPr/>
        </p:nvSpPr>
        <p:spPr>
          <a:xfrm>
            <a:off x="7726680" y="12801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webdriver.Chrome()</a:t>
            </a:r>
            <a:endParaRPr lang="en-US" sz="1300" dirty="0"/>
          </a:p>
          <a:p>
            <a:pPr indent="0" marL="0">
              <a:buNone/>
            </a:pPr>
            <a:r>
              <a:rPr lang="en-US" sz="1300" dirty="0">
                <a:solidFill>
                  <a:schemeClr val="tx1"/>
                </a:solidFill>
              </a:rPr>
              <a:t>opens Google Chrome</a:t>
            </a:r>
            <a:endParaRPr lang="en-US" sz="1300" dirty="0"/>
          </a:p>
        </p:txBody>
      </p:sp>
      <p:sp>
        <p:nvSpPr>
          <p:cNvPr id="10" name="get() box"/>
          <p:cNvSpPr/>
          <p:nvPr/>
        </p:nvSpPr>
        <p:spPr>
          <a:xfrm>
            <a:off x="7589520" y="1965960"/>
            <a:ext cx="4023360" cy="566928"/>
          </a:xfrm>
          <a:prstGeom prst="roundRect">
            <a:avLst>
              <a:gd name="adj" fmla="val 12903"/>
            </a:avLst>
          </a:prstGeom>
          <a:solidFill>
            <a:schemeClr val="bg2"/>
          </a:solidFill>
          <a:ln/>
        </p:spPr>
      </p:sp>
      <p:sp>
        <p:nvSpPr>
          <p:cNvPr id="11" name="get() explanation"/>
          <p:cNvSpPr txBox="1"/>
          <p:nvPr/>
        </p:nvSpPr>
        <p:spPr>
          <a:xfrm>
            <a:off x="7726680" y="19659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get()</a:t>
            </a:r>
            <a:endParaRPr lang="en-US" sz="1300" dirty="0"/>
          </a:p>
          <a:p>
            <a:pPr indent="0" marL="0">
              <a:buNone/>
            </a:pPr>
            <a:r>
              <a:rPr lang="en-US" sz="1300" dirty="0">
                <a:solidFill>
                  <a:schemeClr val="tx1"/>
                </a:solidFill>
              </a:rPr>
              <a:t>opens the HMS web page</a:t>
            </a:r>
            <a:endParaRPr lang="en-US" sz="1300" dirty="0"/>
          </a:p>
        </p:txBody>
      </p:sp>
      <p:sp>
        <p:nvSpPr>
          <p:cNvPr id="12" name="find_element(By.ID, ...) box"/>
          <p:cNvSpPr/>
          <p:nvPr/>
        </p:nvSpPr>
        <p:spPr>
          <a:xfrm>
            <a:off x="7589520" y="2651760"/>
            <a:ext cx="4023360" cy="566928"/>
          </a:xfrm>
          <a:prstGeom prst="roundRect">
            <a:avLst>
              <a:gd name="adj" fmla="val 12903"/>
            </a:avLst>
          </a:prstGeom>
          <a:solidFill>
            <a:schemeClr val="bg2"/>
          </a:solidFill>
          <a:ln/>
        </p:spPr>
      </p:sp>
      <p:sp>
        <p:nvSpPr>
          <p:cNvPr id="13" name="find_element(By.ID, ...) explanation"/>
          <p:cNvSpPr txBox="1"/>
          <p:nvPr/>
        </p:nvSpPr>
        <p:spPr>
          <a:xfrm>
            <a:off x="7726680" y="26517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find_element(By.ID, ...)</a:t>
            </a:r>
            <a:endParaRPr lang="en-US" sz="1300" dirty="0"/>
          </a:p>
          <a:p>
            <a:pPr indent="0" marL="0">
              <a:buNone/>
            </a:pPr>
            <a:r>
              <a:rPr lang="en-US" sz="1300" dirty="0">
                <a:solidFill>
                  <a:schemeClr val="tx1"/>
                </a:solidFill>
              </a:rPr>
              <a:t>finds an element by its id</a:t>
            </a:r>
            <a:endParaRPr lang="en-US" sz="1300" dirty="0"/>
          </a:p>
        </p:txBody>
      </p:sp>
      <p:sp>
        <p:nvSpPr>
          <p:cNvPr id="14" name="send_keys() box"/>
          <p:cNvSpPr/>
          <p:nvPr/>
        </p:nvSpPr>
        <p:spPr>
          <a:xfrm>
            <a:off x="7589520" y="3337560"/>
            <a:ext cx="4023360" cy="566928"/>
          </a:xfrm>
          <a:prstGeom prst="roundRect">
            <a:avLst>
              <a:gd name="adj" fmla="val 12903"/>
            </a:avLst>
          </a:prstGeom>
          <a:solidFill>
            <a:schemeClr val="bg2"/>
          </a:solidFill>
          <a:ln/>
        </p:spPr>
      </p:sp>
      <p:sp>
        <p:nvSpPr>
          <p:cNvPr id="15" name="send_keys() explanation"/>
          <p:cNvSpPr txBox="1"/>
          <p:nvPr/>
        </p:nvSpPr>
        <p:spPr>
          <a:xfrm>
            <a:off x="7726680" y="33375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send_keys()</a:t>
            </a:r>
            <a:endParaRPr lang="en-US" sz="1300" dirty="0"/>
          </a:p>
          <a:p>
            <a:pPr indent="0" marL="0">
              <a:buNone/>
            </a:pPr>
            <a:r>
              <a:rPr lang="en-US" sz="1300" dirty="0">
                <a:solidFill>
                  <a:schemeClr val="tx1"/>
                </a:solidFill>
              </a:rPr>
              <a:t>types text into a field</a:t>
            </a:r>
            <a:endParaRPr lang="en-US" sz="1300" dirty="0"/>
          </a:p>
        </p:txBody>
      </p:sp>
      <p:sp>
        <p:nvSpPr>
          <p:cNvPr id="16" name="click() box"/>
          <p:cNvSpPr/>
          <p:nvPr/>
        </p:nvSpPr>
        <p:spPr>
          <a:xfrm>
            <a:off x="7589520" y="4023360"/>
            <a:ext cx="4023360" cy="566928"/>
          </a:xfrm>
          <a:prstGeom prst="roundRect">
            <a:avLst>
              <a:gd name="adj" fmla="val 12903"/>
            </a:avLst>
          </a:prstGeom>
          <a:solidFill>
            <a:schemeClr val="bg2"/>
          </a:solidFill>
          <a:ln/>
        </p:spPr>
      </p:sp>
      <p:sp>
        <p:nvSpPr>
          <p:cNvPr id="17" name="click() explanation"/>
          <p:cNvSpPr txBox="1"/>
          <p:nvPr/>
        </p:nvSpPr>
        <p:spPr>
          <a:xfrm>
            <a:off x="7726680" y="40233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click()</a:t>
            </a:r>
            <a:endParaRPr lang="en-US" sz="1300" dirty="0"/>
          </a:p>
          <a:p>
            <a:pPr indent="0" marL="0">
              <a:buNone/>
            </a:pPr>
            <a:r>
              <a:rPr lang="en-US" sz="1300" dirty="0">
                <a:solidFill>
                  <a:schemeClr val="tx1"/>
                </a:solidFill>
              </a:rPr>
              <a:t>clicks a button</a:t>
            </a:r>
            <a:endParaRPr lang="en-US" sz="1300" dirty="0"/>
          </a:p>
        </p:txBody>
      </p:sp>
      <p:sp>
        <p:nvSpPr>
          <p:cNvPr id="18" name="assert box"/>
          <p:cNvSpPr/>
          <p:nvPr/>
        </p:nvSpPr>
        <p:spPr>
          <a:xfrm>
            <a:off x="7589520" y="4709160"/>
            <a:ext cx="4023360" cy="566928"/>
          </a:xfrm>
          <a:prstGeom prst="roundRect">
            <a:avLst>
              <a:gd name="adj" fmla="val 12903"/>
            </a:avLst>
          </a:prstGeom>
          <a:solidFill>
            <a:srgbClr val="E3F4EA"/>
          </a:solidFill>
          <a:ln/>
        </p:spPr>
      </p:sp>
      <p:sp>
        <p:nvSpPr>
          <p:cNvPr id="19" name="assert explanation"/>
          <p:cNvSpPr txBox="1"/>
          <p:nvPr/>
        </p:nvSpPr>
        <p:spPr>
          <a:xfrm>
            <a:off x="7726680" y="47091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assert</a:t>
            </a:r>
            <a:endParaRPr lang="en-US" sz="1300" dirty="0"/>
          </a:p>
          <a:p>
            <a:pPr indent="0" marL="0">
              <a:buNone/>
            </a:pPr>
            <a:r>
              <a:rPr lang="en-US" sz="1300" dirty="0">
                <a:solidFill>
                  <a:schemeClr val="tx1"/>
                </a:solidFill>
              </a:rPr>
              <a:t>checks the expected result: PASS / FAIL</a:t>
            </a:r>
            <a:endParaRPr lang="en-US" sz="1300" dirty="0"/>
          </a:p>
        </p:txBody>
      </p:sp>
      <p:sp>
        <p:nvSpPr>
          <p:cNvPr id="20" name="quit() box"/>
          <p:cNvSpPr/>
          <p:nvPr/>
        </p:nvSpPr>
        <p:spPr>
          <a:xfrm>
            <a:off x="7589520" y="5394960"/>
            <a:ext cx="4023360" cy="566928"/>
          </a:xfrm>
          <a:prstGeom prst="roundRect">
            <a:avLst>
              <a:gd name="adj" fmla="val 12903"/>
            </a:avLst>
          </a:prstGeom>
          <a:solidFill>
            <a:schemeClr val="bg2"/>
          </a:solidFill>
          <a:ln/>
        </p:spPr>
      </p:sp>
      <p:sp>
        <p:nvSpPr>
          <p:cNvPr id="21" name="quit() explanation"/>
          <p:cNvSpPr txBox="1"/>
          <p:nvPr/>
        </p:nvSpPr>
        <p:spPr>
          <a:xfrm>
            <a:off x="7726680" y="5394960"/>
            <a:ext cx="3794760" cy="56692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quit()</a:t>
            </a:r>
            <a:endParaRPr lang="en-US" sz="1300" dirty="0"/>
          </a:p>
          <a:p>
            <a:pPr indent="0" marL="0">
              <a:buNone/>
            </a:pPr>
            <a:r>
              <a:rPr lang="en-US" sz="1300" dirty="0">
                <a:solidFill>
                  <a:schemeClr val="tx1"/>
                </a:solidFill>
              </a:rPr>
              <a:t>closes the browser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Test Results</a:t>
            </a:r>
            <a:endParaRPr lang="en-US" sz="3400" dirty="0"/>
          </a:p>
        </p:txBody>
      </p:sp>
      <p:sp>
        <p:nvSpPr>
          <p:cNvPr id="3" name="Selenium UI tests card"/>
          <p:cNvSpPr/>
          <p:nvPr/>
        </p:nvSpPr>
        <p:spPr>
          <a:xfrm>
            <a:off x="548640" y="1280160"/>
            <a:ext cx="2194560" cy="1508760"/>
          </a:xfrm>
          <a:prstGeom prst="roundRect">
            <a:avLst>
              <a:gd name="adj" fmla="val 4848"/>
            </a:avLst>
          </a:prstGeom>
          <a:solidFill>
            <a:schemeClr val="bg2"/>
          </a:solidFill>
          <a:ln/>
        </p:spPr>
      </p:sp>
      <p:sp>
        <p:nvSpPr>
          <p:cNvPr id="4" name="Selenium UI tests number"/>
          <p:cNvSpPr txBox="1"/>
          <p:nvPr/>
        </p:nvSpPr>
        <p:spPr>
          <a:xfrm>
            <a:off x="548640" y="1389888"/>
            <a:ext cx="2194560" cy="777240"/>
          </a:xfrm>
          <a:prstGeom prst="rect">
            <a:avLst/>
          </a:prstGeom>
          <a:noFill/>
          <a:ln/>
        </p:spPr>
        <p:txBody>
          <a:bodyPr wrap="square" lIns="0" tIns="0" rIns="0" bIns="0" rtlCol="0" anchor="ctr"/>
          <a:lstStyle/>
          <a:p>
            <a:pPr algn="ctr" indent="0" marL="0">
              <a:buNone/>
            </a:pPr>
            <a:r>
              <a:rPr lang="en-US" sz="4000" b="1" dirty="0">
                <a:solidFill>
                  <a:schemeClr val="accent1"/>
                </a:solidFill>
              </a:rPr>
              <a:t>13</a:t>
            </a:r>
            <a:endParaRPr lang="en-US" sz="4000" dirty="0"/>
          </a:p>
        </p:txBody>
      </p:sp>
      <p:sp>
        <p:nvSpPr>
          <p:cNvPr id="5" name="Selenium UI tests label"/>
          <p:cNvSpPr txBox="1"/>
          <p:nvPr/>
        </p:nvSpPr>
        <p:spPr>
          <a:xfrm>
            <a:off x="685800" y="2148840"/>
            <a:ext cx="1920240" cy="548640"/>
          </a:xfrm>
          <a:prstGeom prst="rect">
            <a:avLst/>
          </a:prstGeom>
          <a:noFill/>
          <a:ln/>
        </p:spPr>
        <p:txBody>
          <a:bodyPr wrap="square" lIns="0" tIns="0" rIns="0" bIns="0" rtlCol="0" anchor="t"/>
          <a:lstStyle/>
          <a:p>
            <a:pPr algn="ctr" indent="0" marL="0">
              <a:buNone/>
            </a:pPr>
            <a:r>
              <a:rPr lang="en-US" sz="1200" dirty="0">
                <a:solidFill>
                  <a:schemeClr val="tx1"/>
                </a:solidFill>
              </a:rPr>
              <a:t>Selenium UI tests</a:t>
            </a:r>
            <a:endParaRPr lang="en-US" sz="1200" dirty="0"/>
          </a:p>
        </p:txBody>
      </p:sp>
      <p:sp>
        <p:nvSpPr>
          <p:cNvPr id="6" name="Pass rate (0 failed) card"/>
          <p:cNvSpPr/>
          <p:nvPr/>
        </p:nvSpPr>
        <p:spPr>
          <a:xfrm>
            <a:off x="2880360" y="1280160"/>
            <a:ext cx="2194560" cy="1508760"/>
          </a:xfrm>
          <a:prstGeom prst="roundRect">
            <a:avLst>
              <a:gd name="adj" fmla="val 4848"/>
            </a:avLst>
          </a:prstGeom>
          <a:solidFill>
            <a:schemeClr val="bg2"/>
          </a:solidFill>
          <a:ln/>
        </p:spPr>
      </p:sp>
      <p:sp>
        <p:nvSpPr>
          <p:cNvPr id="7" name="Pass rate (0 failed) number"/>
          <p:cNvSpPr txBox="1"/>
          <p:nvPr/>
        </p:nvSpPr>
        <p:spPr>
          <a:xfrm>
            <a:off x="2880360" y="1389888"/>
            <a:ext cx="2194560" cy="777240"/>
          </a:xfrm>
          <a:prstGeom prst="rect">
            <a:avLst/>
          </a:prstGeom>
          <a:noFill/>
          <a:ln/>
        </p:spPr>
        <p:txBody>
          <a:bodyPr wrap="square" lIns="0" tIns="0" rIns="0" bIns="0" rtlCol="0" anchor="ctr"/>
          <a:lstStyle/>
          <a:p>
            <a:pPr algn="ctr" indent="0" marL="0">
              <a:buNone/>
            </a:pPr>
            <a:r>
              <a:rPr lang="en-US" sz="4000" b="1" dirty="0">
                <a:solidFill>
                  <a:schemeClr val="accent4"/>
                </a:solidFill>
              </a:rPr>
              <a:t>100%</a:t>
            </a:r>
            <a:endParaRPr lang="en-US" sz="4000" dirty="0"/>
          </a:p>
        </p:txBody>
      </p:sp>
      <p:sp>
        <p:nvSpPr>
          <p:cNvPr id="8" name="Pass rate (0 failed) label"/>
          <p:cNvSpPr txBox="1"/>
          <p:nvPr/>
        </p:nvSpPr>
        <p:spPr>
          <a:xfrm>
            <a:off x="3017520" y="2148840"/>
            <a:ext cx="1920240" cy="548640"/>
          </a:xfrm>
          <a:prstGeom prst="rect">
            <a:avLst/>
          </a:prstGeom>
          <a:noFill/>
          <a:ln/>
        </p:spPr>
        <p:txBody>
          <a:bodyPr wrap="square" lIns="0" tIns="0" rIns="0" bIns="0" rtlCol="0" anchor="t"/>
          <a:lstStyle/>
          <a:p>
            <a:pPr algn="ctr" indent="0" marL="0">
              <a:buNone/>
            </a:pPr>
            <a:r>
              <a:rPr lang="en-US" sz="1200" dirty="0">
                <a:solidFill>
                  <a:schemeClr val="tx1"/>
                </a:solidFill>
              </a:rPr>
              <a:t>Pass rate (0 failed)</a:t>
            </a:r>
            <a:endParaRPr lang="en-US" sz="1200" dirty="0"/>
          </a:p>
        </p:txBody>
      </p:sp>
      <p:sp>
        <p:nvSpPr>
          <p:cNvPr id="9" name="Extra PyTest unit and integration tests card"/>
          <p:cNvSpPr/>
          <p:nvPr/>
        </p:nvSpPr>
        <p:spPr>
          <a:xfrm>
            <a:off x="548640" y="2971800"/>
            <a:ext cx="2194560" cy="1508760"/>
          </a:xfrm>
          <a:prstGeom prst="roundRect">
            <a:avLst>
              <a:gd name="adj" fmla="val 4848"/>
            </a:avLst>
          </a:prstGeom>
          <a:solidFill>
            <a:schemeClr val="bg2"/>
          </a:solidFill>
          <a:ln/>
        </p:spPr>
      </p:sp>
      <p:sp>
        <p:nvSpPr>
          <p:cNvPr id="10" name="Extra PyTest unit and integration tests number"/>
          <p:cNvSpPr txBox="1"/>
          <p:nvPr/>
        </p:nvSpPr>
        <p:spPr>
          <a:xfrm>
            <a:off x="548640" y="3081528"/>
            <a:ext cx="2194560" cy="777240"/>
          </a:xfrm>
          <a:prstGeom prst="rect">
            <a:avLst/>
          </a:prstGeom>
          <a:noFill/>
          <a:ln/>
        </p:spPr>
        <p:txBody>
          <a:bodyPr wrap="square" lIns="0" tIns="0" rIns="0" bIns="0" rtlCol="0" anchor="ctr"/>
          <a:lstStyle/>
          <a:p>
            <a:pPr algn="ctr" indent="0" marL="0">
              <a:buNone/>
            </a:pPr>
            <a:r>
              <a:rPr lang="en-US" sz="4000" b="1" dirty="0">
                <a:solidFill>
                  <a:schemeClr val="accent1"/>
                </a:solidFill>
              </a:rPr>
              <a:t>85</a:t>
            </a:r>
            <a:endParaRPr lang="en-US" sz="4000" dirty="0"/>
          </a:p>
        </p:txBody>
      </p:sp>
      <p:sp>
        <p:nvSpPr>
          <p:cNvPr id="11" name="Extra PyTest unit and integration tests label"/>
          <p:cNvSpPr txBox="1"/>
          <p:nvPr/>
        </p:nvSpPr>
        <p:spPr>
          <a:xfrm>
            <a:off x="685800" y="3840480"/>
            <a:ext cx="1920240" cy="548640"/>
          </a:xfrm>
          <a:prstGeom prst="rect">
            <a:avLst/>
          </a:prstGeom>
          <a:noFill/>
          <a:ln/>
        </p:spPr>
        <p:txBody>
          <a:bodyPr wrap="square" lIns="0" tIns="0" rIns="0" bIns="0" rtlCol="0" anchor="t"/>
          <a:lstStyle/>
          <a:p>
            <a:pPr algn="ctr" indent="0" marL="0">
              <a:buNone/>
            </a:pPr>
            <a:r>
              <a:rPr lang="en-US" sz="1200" dirty="0">
                <a:solidFill>
                  <a:schemeClr val="tx1"/>
                </a:solidFill>
              </a:rPr>
              <a:t>Extra PyTest unit and integration tests</a:t>
            </a:r>
            <a:endParaRPr lang="en-US" sz="1200" dirty="0"/>
          </a:p>
        </p:txBody>
      </p:sp>
      <p:sp>
        <p:nvSpPr>
          <p:cNvPr id="12" name="To run all 98 tests card"/>
          <p:cNvSpPr/>
          <p:nvPr/>
        </p:nvSpPr>
        <p:spPr>
          <a:xfrm>
            <a:off x="2880360" y="2971800"/>
            <a:ext cx="2194560" cy="1508760"/>
          </a:xfrm>
          <a:prstGeom prst="roundRect">
            <a:avLst>
              <a:gd name="adj" fmla="val 4848"/>
            </a:avLst>
          </a:prstGeom>
          <a:solidFill>
            <a:schemeClr val="bg2"/>
          </a:solidFill>
          <a:ln/>
        </p:spPr>
      </p:sp>
      <p:sp>
        <p:nvSpPr>
          <p:cNvPr id="13" name="To run all 98 tests number"/>
          <p:cNvSpPr txBox="1"/>
          <p:nvPr/>
        </p:nvSpPr>
        <p:spPr>
          <a:xfrm>
            <a:off x="2880360" y="3081528"/>
            <a:ext cx="2194560" cy="777240"/>
          </a:xfrm>
          <a:prstGeom prst="rect">
            <a:avLst/>
          </a:prstGeom>
          <a:noFill/>
          <a:ln/>
        </p:spPr>
        <p:txBody>
          <a:bodyPr wrap="square" lIns="0" tIns="0" rIns="0" bIns="0" rtlCol="0" anchor="ctr"/>
          <a:lstStyle/>
          <a:p>
            <a:pPr algn="ctr" indent="0" marL="0">
              <a:buNone/>
            </a:pPr>
            <a:r>
              <a:rPr lang="en-US" sz="4000" b="1" dirty="0">
                <a:solidFill>
                  <a:schemeClr val="accent1"/>
                </a:solidFill>
              </a:rPr>
              <a:t>~25 s</a:t>
            </a:r>
            <a:endParaRPr lang="en-US" sz="4000" dirty="0"/>
          </a:p>
        </p:txBody>
      </p:sp>
      <p:sp>
        <p:nvSpPr>
          <p:cNvPr id="14" name="To run all 98 tests label"/>
          <p:cNvSpPr txBox="1"/>
          <p:nvPr/>
        </p:nvSpPr>
        <p:spPr>
          <a:xfrm>
            <a:off x="3017520" y="3840480"/>
            <a:ext cx="1920240" cy="548640"/>
          </a:xfrm>
          <a:prstGeom prst="rect">
            <a:avLst/>
          </a:prstGeom>
          <a:noFill/>
          <a:ln/>
        </p:spPr>
        <p:txBody>
          <a:bodyPr wrap="square" lIns="0" tIns="0" rIns="0" bIns="0" rtlCol="0" anchor="t"/>
          <a:lstStyle/>
          <a:p>
            <a:pPr algn="ctr" indent="0" marL="0">
              <a:buNone/>
            </a:pPr>
            <a:r>
              <a:rPr lang="en-US" sz="1200" dirty="0">
                <a:solidFill>
                  <a:schemeClr val="tx1"/>
                </a:solidFill>
              </a:rPr>
              <a:t>To run all 98 tests</a:t>
            </a:r>
            <a:endParaRPr lang="en-US" sz="1200" dirty="0"/>
          </a:p>
        </p:txBody>
      </p:sp>
      <p:sp>
        <p:nvSpPr>
          <p:cNvPr id="15" name="Defects box"/>
          <p:cNvSpPr/>
          <p:nvPr/>
        </p:nvSpPr>
        <p:spPr>
          <a:xfrm>
            <a:off x="548640" y="4754880"/>
            <a:ext cx="4526280" cy="1371600"/>
          </a:xfrm>
          <a:prstGeom prst="roundRect">
            <a:avLst>
              <a:gd name="adj" fmla="val 5333"/>
            </a:avLst>
          </a:prstGeom>
          <a:solidFill>
            <a:srgbClr val="FDECE7"/>
          </a:solidFill>
          <a:ln/>
        </p:spPr>
      </p:sp>
      <p:sp>
        <p:nvSpPr>
          <p:cNvPr id="16" name="Defects icon circle"/>
          <p:cNvSpPr/>
          <p:nvPr/>
        </p:nvSpPr>
        <p:spPr>
          <a:xfrm>
            <a:off x="685800" y="4892040"/>
            <a:ext cx="502920" cy="502920"/>
          </a:xfrm>
          <a:prstGeom prst="ellipse">
            <a:avLst/>
          </a:prstGeom>
          <a:solidFill>
            <a:schemeClr val="accent3"/>
          </a:solidFill>
          <a:ln/>
        </p:spPr>
      </p:sp>
      <p:pic>
        <p:nvPicPr>
          <p:cNvPr id="17" name="Defects icon" descr="preencoded.png">    </p:cNvPr>
          <p:cNvPicPr>
            <a:picLocks noChangeAspect="1"/>
          </p:cNvPicPr>
          <p:nvPr/>
        </p:nvPicPr>
        <p:blipFill>
          <a:blip r:embed="rId1"/>
          <a:stretch>
            <a:fillRect/>
          </a:stretch>
        </p:blipFill>
        <p:spPr>
          <a:xfrm>
            <a:off x="811530" y="5017770"/>
            <a:ext cx="251460" cy="251460"/>
          </a:xfrm>
          <a:prstGeom prst="rect">
            <a:avLst/>
          </a:prstGeom>
        </p:spPr>
      </p:pic>
      <p:sp>
        <p:nvSpPr>
          <p:cNvPr id="18" name="Defects text"/>
          <p:cNvSpPr txBox="1"/>
          <p:nvPr/>
        </p:nvSpPr>
        <p:spPr>
          <a:xfrm>
            <a:off x="1325880" y="4800600"/>
            <a:ext cx="3657600" cy="1280160"/>
          </a:xfrm>
          <a:prstGeom prst="rect">
            <a:avLst/>
          </a:prstGeom>
          <a:noFill/>
          <a:ln/>
        </p:spPr>
        <p:txBody>
          <a:bodyPr wrap="square" lIns="0" tIns="0" rIns="0" bIns="0" rtlCol="0" anchor="ctr"/>
          <a:lstStyle/>
          <a:p>
            <a:pPr indent="0" marL="0">
              <a:buNone/>
            </a:pPr>
            <a:r>
              <a:rPr lang="en-US" sz="1300" b="1" dirty="0">
                <a:solidFill>
                  <a:schemeClr val="tx2"/>
                </a:solidFill>
              </a:rPr>
              <a:t>9 defects found and fixed: </a:t>
            </a:r>
            <a:pPr indent="0" marL="0">
              <a:buNone/>
            </a:pPr>
            <a:r>
              <a:rPr lang="en-US" sz="1300" dirty="0">
                <a:solidFill>
                  <a:schemeClr val="tx1"/>
                </a:solidFill>
              </a:rPr>
              <a:t>e.g. typing 'nan' as a fee crashed the server, a patient could be double-booked, and flaky Selenium waits. Each now has a regression test.</a:t>
            </a:r>
            <a:endParaRPr lang="en-US" sz="1300" dirty="0"/>
          </a:p>
        </p:txBody>
      </p:sp>
      <p:pic>
        <p:nvPicPr>
          <p:cNvPr id="19" name="Report screenshot" descr="report_crop.png">    </p:cNvPr>
          <p:cNvPicPr>
            <a:picLocks noChangeAspect="1"/>
          </p:cNvPicPr>
          <p:nvPr/>
        </p:nvPicPr>
        <p:blipFill>
          <a:blip r:embed="rId2"/>
          <a:stretch>
            <a:fillRect/>
          </a:stretch>
        </p:blipFill>
        <p:spPr>
          <a:xfrm>
            <a:off x="5349240" y="1280160"/>
            <a:ext cx="6263640" cy="2459736"/>
          </a:xfrm>
          <a:prstGeom prst="rect">
            <a:avLst/>
          </a:prstGeom>
        </p:spPr>
      </p:pic>
      <p:sp>
        <p:nvSpPr>
          <p:cNvPr id="20" name="Report frame"/>
          <p:cNvSpPr/>
          <p:nvPr/>
        </p:nvSpPr>
        <p:spPr>
          <a:xfrm>
            <a:off x="5349240" y="1280160"/>
            <a:ext cx="6263640" cy="2459736"/>
          </a:xfrm>
          <a:prstGeom prst="rect">
            <a:avLst/>
          </a:prstGeom>
          <a:ln w="12700">
            <a:solidFill>
              <a:srgbClr val="C9D7DB"/>
            </a:solidFill>
            <a:prstDash val="solid"/>
          </a:ln>
        </p:spPr>
      </p:sp>
      <p:sp>
        <p:nvSpPr>
          <p:cNvPr id="21" name="Report caption"/>
          <p:cNvSpPr txBox="1"/>
          <p:nvPr/>
        </p:nvSpPr>
        <p:spPr>
          <a:xfrm>
            <a:off x="5349240" y="3794760"/>
            <a:ext cx="6263640" cy="274320"/>
          </a:xfrm>
          <a:prstGeom prst="rect">
            <a:avLst/>
          </a:prstGeom>
          <a:noFill/>
          <a:ln/>
        </p:spPr>
        <p:txBody>
          <a:bodyPr wrap="square" lIns="0" tIns="0" rIns="0" bIns="0" rtlCol="0" anchor="ctr"/>
          <a:lstStyle/>
          <a:p>
            <a:pPr indent="0" marL="0">
              <a:buNone/>
            </a:pPr>
            <a:r>
              <a:rPr lang="en-US" sz="1100" i="1" dirty="0">
                <a:solidFill>
                  <a:schemeClr val="accent6"/>
                </a:solidFill>
              </a:rPr>
              <a:t>HTML test report generated by pytest-html (docs/test-report.html)</a:t>
            </a:r>
            <a:endParaRPr lang="en-US" sz="1100" dirty="0"/>
          </a:p>
        </p:txBody>
      </p:sp>
      <p:sp>
        <p:nvSpPr>
          <p:cNvPr id="22" name="Rules box"/>
          <p:cNvSpPr/>
          <p:nvPr/>
        </p:nvSpPr>
        <p:spPr>
          <a:xfrm>
            <a:off x="5349240" y="4754880"/>
            <a:ext cx="6263640" cy="1371600"/>
          </a:xfrm>
          <a:prstGeom prst="roundRect">
            <a:avLst>
              <a:gd name="adj" fmla="val 5333"/>
            </a:avLst>
          </a:prstGeom>
          <a:solidFill>
            <a:srgbClr val="E3F4EA"/>
          </a:solidFill>
          <a:ln/>
        </p:spPr>
      </p:sp>
      <p:sp>
        <p:nvSpPr>
          <p:cNvPr id="23" name="Rules icon circle"/>
          <p:cNvSpPr/>
          <p:nvPr/>
        </p:nvSpPr>
        <p:spPr>
          <a:xfrm>
            <a:off x="5486400" y="4892040"/>
            <a:ext cx="502920" cy="502920"/>
          </a:xfrm>
          <a:prstGeom prst="ellipse">
            <a:avLst/>
          </a:prstGeom>
          <a:solidFill>
            <a:schemeClr val="accent4"/>
          </a:solidFill>
          <a:ln/>
        </p:spPr>
      </p:sp>
      <p:pic>
        <p:nvPicPr>
          <p:cNvPr id="24" name="Rules icon" descr="preencoded.png">    </p:cNvPr>
          <p:cNvPicPr>
            <a:picLocks noChangeAspect="1"/>
          </p:cNvPicPr>
          <p:nvPr/>
        </p:nvPicPr>
        <p:blipFill>
          <a:blip r:embed="rId3"/>
          <a:stretch>
            <a:fillRect/>
          </a:stretch>
        </p:blipFill>
        <p:spPr>
          <a:xfrm>
            <a:off x="5612130" y="5017770"/>
            <a:ext cx="251460" cy="251460"/>
          </a:xfrm>
          <a:prstGeom prst="rect">
            <a:avLst/>
          </a:prstGeom>
        </p:spPr>
      </p:pic>
      <p:sp>
        <p:nvSpPr>
          <p:cNvPr id="25" name="Business rules text"/>
          <p:cNvSpPr txBox="1"/>
          <p:nvPr/>
        </p:nvSpPr>
        <p:spPr>
          <a:xfrm>
            <a:off x="6126480" y="4800600"/>
            <a:ext cx="5349240" cy="1280160"/>
          </a:xfrm>
          <a:prstGeom prst="rect">
            <a:avLst/>
          </a:prstGeom>
          <a:noFill/>
          <a:ln/>
        </p:spPr>
        <p:txBody>
          <a:bodyPr wrap="square" lIns="0" tIns="0" rIns="0" bIns="0" rtlCol="0" anchor="ctr"/>
          <a:lstStyle/>
          <a:p>
            <a:pPr indent="0" marL="0">
              <a:buNone/>
            </a:pPr>
            <a:r>
              <a:rPr lang="en-US" sz="1300" b="1" dirty="0">
                <a:solidFill>
                  <a:schemeClr val="tx2"/>
                </a:solidFill>
              </a:rPr>
              <a:t>Business rules verified: </a:t>
            </a:r>
            <a:pPr indent="0" marL="0">
              <a:buNone/>
            </a:pPr>
            <a:r>
              <a:rPr lang="en-US" sz="1300" dirty="0">
                <a:solidFill>
                  <a:schemeClr val="tx1"/>
                </a:solidFill>
              </a:rPr>
              <a:t>invalid phone / age rejected, doctor cannot be double-booked, unavailable doctor cannot be booked, bill total calculated correctly.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Conclusion and Future Scope</a:t>
            </a:r>
            <a:endParaRPr lang="en-US" sz="3400" dirty="0"/>
          </a:p>
        </p:txBody>
      </p:sp>
      <p:sp>
        <p:nvSpPr>
          <p:cNvPr id="3" name="Conclusion points"/>
          <p:cNvSpPr txBox="1"/>
          <p:nvPr/>
        </p:nvSpPr>
        <p:spPr>
          <a:xfrm>
            <a:off x="548640" y="1325880"/>
            <a:ext cx="5120640" cy="32918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bg1"/>
                </a:solidFill>
              </a:rPr>
              <a:t>We built a working HMS with 6 modules: login, patients, doctors, appointments, medical records and billing</a:t>
            </a:r>
            <a:endParaRPr lang="en-US" sz="1600" dirty="0"/>
          </a:p>
          <a:p>
            <a:pPr marL="342900" indent="-342900">
              <a:spcAft>
                <a:spcPts val="1400"/>
              </a:spcAft>
              <a:buSzPct val="100000"/>
              <a:buChar char="•"/>
            </a:pPr>
            <a:r>
              <a:rPr lang="en-US" sz="1600" dirty="0">
                <a:solidFill>
                  <a:schemeClr val="bg1"/>
                </a:solidFill>
              </a:rPr>
              <a:t>Selenium WebDriver automated every test case from our document, for valid and invalid inputs</a:t>
            </a:r>
            <a:endParaRPr lang="en-US" sz="1600" dirty="0"/>
          </a:p>
          <a:p>
            <a:pPr marL="342900" indent="-342900">
              <a:spcAft>
                <a:spcPts val="1400"/>
              </a:spcAft>
              <a:buSzPct val="100000"/>
              <a:buChar char="•"/>
            </a:pPr>
            <a:r>
              <a:rPr lang="en-US" sz="1600" dirty="0">
                <a:solidFill>
                  <a:schemeClr val="bg1"/>
                </a:solidFill>
              </a:rPr>
              <a:t>Automated tests run again in seconds after every change, giving fast and consistent regression testing</a:t>
            </a:r>
            <a:endParaRPr lang="en-US" sz="1600" dirty="0"/>
          </a:p>
        </p:txBody>
      </p:sp>
      <p:sp>
        <p:nvSpPr>
          <p:cNvPr id="4" name="Future scope heading"/>
          <p:cNvSpPr txBox="1"/>
          <p:nvPr/>
        </p:nvSpPr>
        <p:spPr>
          <a:xfrm>
            <a:off x="6217920" y="1280160"/>
            <a:ext cx="539496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Future Scope</a:t>
            </a:r>
            <a:endParaRPr lang="en-US" sz="2000" dirty="0"/>
          </a:p>
        </p:txBody>
      </p:sp>
      <p:sp>
        <p:nvSpPr>
          <p:cNvPr id="5" name="AI-based test case generation icon circle"/>
          <p:cNvSpPr/>
          <p:nvPr/>
        </p:nvSpPr>
        <p:spPr>
          <a:xfrm>
            <a:off x="6217920" y="1874520"/>
            <a:ext cx="548640" cy="548640"/>
          </a:xfrm>
          <a:prstGeom prst="ellipse">
            <a:avLst/>
          </a:prstGeom>
          <a:solidFill>
            <a:schemeClr val="accent1"/>
          </a:solidFill>
          <a:ln/>
        </p:spPr>
      </p:sp>
      <p:pic>
        <p:nvPicPr>
          <p:cNvPr id="6" name="AI-based test case generation icon" descr="preencoded.png">    </p:cNvPr>
          <p:cNvPicPr>
            <a:picLocks noChangeAspect="1"/>
          </p:cNvPicPr>
          <p:nvPr/>
        </p:nvPicPr>
        <p:blipFill>
          <a:blip r:embed="rId1"/>
          <a:stretch>
            <a:fillRect/>
          </a:stretch>
        </p:blipFill>
        <p:spPr>
          <a:xfrm>
            <a:off x="6355080" y="2011680"/>
            <a:ext cx="274320" cy="274320"/>
          </a:xfrm>
          <a:prstGeom prst="rect">
            <a:avLst/>
          </a:prstGeom>
        </p:spPr>
      </p:pic>
      <p:sp>
        <p:nvSpPr>
          <p:cNvPr id="7" name="AI-based test case generation"/>
          <p:cNvSpPr txBox="1"/>
          <p:nvPr/>
        </p:nvSpPr>
        <p:spPr>
          <a:xfrm>
            <a:off x="6903720" y="1874520"/>
            <a:ext cx="1965960" cy="548640"/>
          </a:xfrm>
          <a:prstGeom prst="rect">
            <a:avLst/>
          </a:prstGeom>
          <a:noFill/>
          <a:ln/>
        </p:spPr>
        <p:txBody>
          <a:bodyPr wrap="square" lIns="0" tIns="0" rIns="0" bIns="0" rtlCol="0" anchor="ctr"/>
          <a:lstStyle/>
          <a:p>
            <a:pPr indent="0" marL="0">
              <a:buNone/>
            </a:pPr>
            <a:r>
              <a:rPr lang="en-US" sz="1300" dirty="0">
                <a:solidFill>
                  <a:schemeClr val="bg1"/>
                </a:solidFill>
              </a:rPr>
              <a:t>AI-based test case generation</a:t>
            </a:r>
            <a:endParaRPr lang="en-US" sz="1300" dirty="0"/>
          </a:p>
        </p:txBody>
      </p:sp>
      <p:sp>
        <p:nvSpPr>
          <p:cNvPr id="8" name="Cross-browser testing with Selenium Grid icon circle"/>
          <p:cNvSpPr/>
          <p:nvPr/>
        </p:nvSpPr>
        <p:spPr>
          <a:xfrm>
            <a:off x="8961120" y="1874520"/>
            <a:ext cx="548640" cy="548640"/>
          </a:xfrm>
          <a:prstGeom prst="ellipse">
            <a:avLst/>
          </a:prstGeom>
          <a:solidFill>
            <a:schemeClr val="accent1"/>
          </a:solidFill>
          <a:ln/>
        </p:spPr>
      </p:sp>
      <p:pic>
        <p:nvPicPr>
          <p:cNvPr id="9" name="Cross-browser testing with Selenium Grid icon" descr="preencoded.png">    </p:cNvPr>
          <p:cNvPicPr>
            <a:picLocks noChangeAspect="1"/>
          </p:cNvPicPr>
          <p:nvPr/>
        </p:nvPicPr>
        <p:blipFill>
          <a:blip r:embed="rId2"/>
          <a:stretch>
            <a:fillRect/>
          </a:stretch>
        </p:blipFill>
        <p:spPr>
          <a:xfrm>
            <a:off x="9098280" y="2011680"/>
            <a:ext cx="274320" cy="274320"/>
          </a:xfrm>
          <a:prstGeom prst="rect">
            <a:avLst/>
          </a:prstGeom>
        </p:spPr>
      </p:pic>
      <p:sp>
        <p:nvSpPr>
          <p:cNvPr id="10" name="Cross-browser testing with Selenium Grid"/>
          <p:cNvSpPr txBox="1"/>
          <p:nvPr/>
        </p:nvSpPr>
        <p:spPr>
          <a:xfrm>
            <a:off x="9646920" y="1874520"/>
            <a:ext cx="1965960" cy="548640"/>
          </a:xfrm>
          <a:prstGeom prst="rect">
            <a:avLst/>
          </a:prstGeom>
          <a:noFill/>
          <a:ln/>
        </p:spPr>
        <p:txBody>
          <a:bodyPr wrap="square" lIns="0" tIns="0" rIns="0" bIns="0" rtlCol="0" anchor="ctr"/>
          <a:lstStyle/>
          <a:p>
            <a:pPr indent="0" marL="0">
              <a:buNone/>
            </a:pPr>
            <a:r>
              <a:rPr lang="en-US" sz="1300" dirty="0">
                <a:solidFill>
                  <a:schemeClr val="bg1"/>
                </a:solidFill>
              </a:rPr>
              <a:t>Cross-browser testing with Selenium Grid</a:t>
            </a:r>
            <a:endParaRPr lang="en-US" sz="1300" dirty="0"/>
          </a:p>
        </p:txBody>
      </p:sp>
      <p:sp>
        <p:nvSpPr>
          <p:cNvPr id="11" name="CI pipeline: tests run on every code change icon circle"/>
          <p:cNvSpPr/>
          <p:nvPr/>
        </p:nvSpPr>
        <p:spPr>
          <a:xfrm>
            <a:off x="6217920" y="2788920"/>
            <a:ext cx="548640" cy="548640"/>
          </a:xfrm>
          <a:prstGeom prst="ellipse">
            <a:avLst/>
          </a:prstGeom>
          <a:solidFill>
            <a:schemeClr val="accent1"/>
          </a:solidFill>
          <a:ln/>
        </p:spPr>
      </p:sp>
      <p:pic>
        <p:nvPicPr>
          <p:cNvPr id="12" name="CI pipeline: tests run on every code change icon" descr="preencoded.png">    </p:cNvPr>
          <p:cNvPicPr>
            <a:picLocks noChangeAspect="1"/>
          </p:cNvPicPr>
          <p:nvPr/>
        </p:nvPicPr>
        <p:blipFill>
          <a:blip r:embed="rId3"/>
          <a:stretch>
            <a:fillRect/>
          </a:stretch>
        </p:blipFill>
        <p:spPr>
          <a:xfrm>
            <a:off x="6355080" y="2926080"/>
            <a:ext cx="274320" cy="274320"/>
          </a:xfrm>
          <a:prstGeom prst="rect">
            <a:avLst/>
          </a:prstGeom>
        </p:spPr>
      </p:pic>
      <p:sp>
        <p:nvSpPr>
          <p:cNvPr id="13" name="CI pipeline: tests run on every code change"/>
          <p:cNvSpPr txBox="1"/>
          <p:nvPr/>
        </p:nvSpPr>
        <p:spPr>
          <a:xfrm>
            <a:off x="6903720" y="2788920"/>
            <a:ext cx="1965960" cy="548640"/>
          </a:xfrm>
          <a:prstGeom prst="rect">
            <a:avLst/>
          </a:prstGeom>
          <a:noFill/>
          <a:ln/>
        </p:spPr>
        <p:txBody>
          <a:bodyPr wrap="square" lIns="0" tIns="0" rIns="0" bIns="0" rtlCol="0" anchor="ctr"/>
          <a:lstStyle/>
          <a:p>
            <a:pPr indent="0" marL="0">
              <a:buNone/>
            </a:pPr>
            <a:r>
              <a:rPr lang="en-US" sz="1300" dirty="0">
                <a:solidFill>
                  <a:schemeClr val="bg1"/>
                </a:solidFill>
              </a:rPr>
              <a:t>CI pipeline: tests run on every code change</a:t>
            </a:r>
            <a:endParaRPr lang="en-US" sz="1300" dirty="0"/>
          </a:p>
        </p:txBody>
      </p:sp>
      <p:sp>
        <p:nvSpPr>
          <p:cNvPr id="14" name="Performance and load testing icon circle"/>
          <p:cNvSpPr/>
          <p:nvPr/>
        </p:nvSpPr>
        <p:spPr>
          <a:xfrm>
            <a:off x="8961120" y="2788920"/>
            <a:ext cx="548640" cy="548640"/>
          </a:xfrm>
          <a:prstGeom prst="ellipse">
            <a:avLst/>
          </a:prstGeom>
          <a:solidFill>
            <a:schemeClr val="accent1"/>
          </a:solidFill>
          <a:ln/>
        </p:spPr>
      </p:sp>
      <p:pic>
        <p:nvPicPr>
          <p:cNvPr id="15" name="Performance and load testing icon" descr="preencoded.png">    </p:cNvPr>
          <p:cNvPicPr>
            <a:picLocks noChangeAspect="1"/>
          </p:cNvPicPr>
          <p:nvPr/>
        </p:nvPicPr>
        <p:blipFill>
          <a:blip r:embed="rId4"/>
          <a:stretch>
            <a:fillRect/>
          </a:stretch>
        </p:blipFill>
        <p:spPr>
          <a:xfrm>
            <a:off x="9098280" y="2926080"/>
            <a:ext cx="274320" cy="274320"/>
          </a:xfrm>
          <a:prstGeom prst="rect">
            <a:avLst/>
          </a:prstGeom>
        </p:spPr>
      </p:pic>
      <p:sp>
        <p:nvSpPr>
          <p:cNvPr id="16" name="Performance and load testing"/>
          <p:cNvSpPr txBox="1"/>
          <p:nvPr/>
        </p:nvSpPr>
        <p:spPr>
          <a:xfrm>
            <a:off x="9646920" y="2788920"/>
            <a:ext cx="1965960" cy="548640"/>
          </a:xfrm>
          <a:prstGeom prst="rect">
            <a:avLst/>
          </a:prstGeom>
          <a:noFill/>
          <a:ln/>
        </p:spPr>
        <p:txBody>
          <a:bodyPr wrap="square" lIns="0" tIns="0" rIns="0" bIns="0" rtlCol="0" anchor="ctr"/>
          <a:lstStyle/>
          <a:p>
            <a:pPr indent="0" marL="0">
              <a:buNone/>
            </a:pPr>
            <a:r>
              <a:rPr lang="en-US" sz="1300" dirty="0">
                <a:solidFill>
                  <a:schemeClr val="bg1"/>
                </a:solidFill>
              </a:rPr>
              <a:t>Performance and load testing</a:t>
            </a:r>
            <a:endParaRPr lang="en-US" sz="1300" dirty="0"/>
          </a:p>
        </p:txBody>
      </p:sp>
      <p:sp>
        <p:nvSpPr>
          <p:cNvPr id="17" name="Mobile app testing with Appium icon circle"/>
          <p:cNvSpPr/>
          <p:nvPr/>
        </p:nvSpPr>
        <p:spPr>
          <a:xfrm>
            <a:off x="6217920" y="3703320"/>
            <a:ext cx="548640" cy="548640"/>
          </a:xfrm>
          <a:prstGeom prst="ellipse">
            <a:avLst/>
          </a:prstGeom>
          <a:solidFill>
            <a:schemeClr val="accent1"/>
          </a:solidFill>
          <a:ln/>
        </p:spPr>
      </p:sp>
      <p:pic>
        <p:nvPicPr>
          <p:cNvPr id="18" name="Mobile app testing with Appium icon" descr="preencoded.png">    </p:cNvPr>
          <p:cNvPicPr>
            <a:picLocks noChangeAspect="1"/>
          </p:cNvPicPr>
          <p:nvPr/>
        </p:nvPicPr>
        <p:blipFill>
          <a:blip r:embed="rId5"/>
          <a:stretch>
            <a:fillRect/>
          </a:stretch>
        </p:blipFill>
        <p:spPr>
          <a:xfrm>
            <a:off x="6355080" y="3840480"/>
            <a:ext cx="274320" cy="274320"/>
          </a:xfrm>
          <a:prstGeom prst="rect">
            <a:avLst/>
          </a:prstGeom>
        </p:spPr>
      </p:pic>
      <p:sp>
        <p:nvSpPr>
          <p:cNvPr id="19" name="Mobile app testing with Appium"/>
          <p:cNvSpPr txBox="1"/>
          <p:nvPr/>
        </p:nvSpPr>
        <p:spPr>
          <a:xfrm>
            <a:off x="6903720" y="3703320"/>
            <a:ext cx="1965960" cy="548640"/>
          </a:xfrm>
          <a:prstGeom prst="rect">
            <a:avLst/>
          </a:prstGeom>
          <a:noFill/>
          <a:ln/>
        </p:spPr>
        <p:txBody>
          <a:bodyPr wrap="square" lIns="0" tIns="0" rIns="0" bIns="0" rtlCol="0" anchor="ctr"/>
          <a:lstStyle/>
          <a:p>
            <a:pPr indent="0" marL="0">
              <a:buNone/>
            </a:pPr>
            <a:r>
              <a:rPr lang="en-US" sz="1300" dirty="0">
                <a:solidFill>
                  <a:schemeClr val="bg1"/>
                </a:solidFill>
              </a:rPr>
              <a:t>Mobile app testing with Appium</a:t>
            </a:r>
            <a:endParaRPr lang="en-US" sz="1300" dirty="0"/>
          </a:p>
        </p:txBody>
      </p:sp>
      <p:sp>
        <p:nvSpPr>
          <p:cNvPr id="20" name="Security testing of login and data icon circle"/>
          <p:cNvSpPr/>
          <p:nvPr/>
        </p:nvSpPr>
        <p:spPr>
          <a:xfrm>
            <a:off x="8961120" y="3703320"/>
            <a:ext cx="548640" cy="548640"/>
          </a:xfrm>
          <a:prstGeom prst="ellipse">
            <a:avLst/>
          </a:prstGeom>
          <a:solidFill>
            <a:schemeClr val="accent1"/>
          </a:solidFill>
          <a:ln/>
        </p:spPr>
      </p:sp>
      <p:pic>
        <p:nvPicPr>
          <p:cNvPr id="21" name="Security testing of login and data icon" descr="preencoded.png">    </p:cNvPr>
          <p:cNvPicPr>
            <a:picLocks noChangeAspect="1"/>
          </p:cNvPicPr>
          <p:nvPr/>
        </p:nvPicPr>
        <p:blipFill>
          <a:blip r:embed="rId6"/>
          <a:stretch>
            <a:fillRect/>
          </a:stretch>
        </p:blipFill>
        <p:spPr>
          <a:xfrm>
            <a:off x="9098280" y="3840480"/>
            <a:ext cx="274320" cy="274320"/>
          </a:xfrm>
          <a:prstGeom prst="rect">
            <a:avLst/>
          </a:prstGeom>
        </p:spPr>
      </p:pic>
      <p:sp>
        <p:nvSpPr>
          <p:cNvPr id="22" name="Security testing of login and data"/>
          <p:cNvSpPr txBox="1"/>
          <p:nvPr/>
        </p:nvSpPr>
        <p:spPr>
          <a:xfrm>
            <a:off x="9646920" y="3703320"/>
            <a:ext cx="1965960" cy="548640"/>
          </a:xfrm>
          <a:prstGeom prst="rect">
            <a:avLst/>
          </a:prstGeom>
          <a:noFill/>
          <a:ln/>
        </p:spPr>
        <p:txBody>
          <a:bodyPr wrap="square" lIns="0" tIns="0" rIns="0" bIns="0" rtlCol="0" anchor="ctr"/>
          <a:lstStyle/>
          <a:p>
            <a:pPr indent="0" marL="0">
              <a:buNone/>
            </a:pPr>
            <a:r>
              <a:rPr lang="en-US" sz="1300" dirty="0">
                <a:solidFill>
                  <a:schemeClr val="bg1"/>
                </a:solidFill>
              </a:rPr>
              <a:t>Security testing of login and data</a:t>
            </a:r>
            <a:endParaRPr lang="en-US" sz="1300" dirty="0"/>
          </a:p>
        </p:txBody>
      </p:sp>
      <p:sp>
        <p:nvSpPr>
          <p:cNvPr id="23" name="Thank you box"/>
          <p:cNvSpPr/>
          <p:nvPr/>
        </p:nvSpPr>
        <p:spPr>
          <a:xfrm>
            <a:off x="548640" y="4983480"/>
            <a:ext cx="11064240" cy="1188720"/>
          </a:xfrm>
          <a:prstGeom prst="roundRect">
            <a:avLst>
              <a:gd name="adj" fmla="val 7692"/>
            </a:avLst>
          </a:prstGeom>
          <a:solidFill>
            <a:schemeClr val="accent1"/>
          </a:solidFill>
          <a:ln/>
        </p:spPr>
      </p:sp>
      <p:sp>
        <p:nvSpPr>
          <p:cNvPr id="24" name="Thank you text"/>
          <p:cNvSpPr txBox="1"/>
          <p:nvPr/>
        </p:nvSpPr>
        <p:spPr>
          <a:xfrm>
            <a:off x="548640" y="4983480"/>
            <a:ext cx="11064240" cy="118872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Thank You</a:t>
            </a:r>
            <a:endParaRPr lang="en-US" sz="3000" dirty="0"/>
          </a:p>
          <a:p>
            <a:pPr algn="ctr" indent="0" marL="0">
              <a:buNone/>
            </a:pPr>
            <a:r>
              <a:rPr lang="en-US" sz="1500" dirty="0">
                <a:solidFill>
                  <a:schemeClr val="bg1"/>
                </a:solidFill>
              </a:rPr>
              <a:t>Questions?  |  Arun C (23MIS0445)  |  Sai Chandan K S (23MIS0115)</a:t>
            </a:r>
            <a:endParaRPr lang="en-US" sz="3000" dirty="0"/>
          </a:p>
        </p:txBody>
      </p:sp>
    </p:spTree>
  </p:cSld>
  <p:clrMapOvr>
    <a:masterClrMapping/>
  </p:clrMapOvr>
</p:sld>
</file>

<file path=ppt/theme/theme1.xml><?xml version="1.0" encoding="utf-8"?>
<a:theme xmlns:a="http://schemas.openxmlformats.org/drawingml/2006/main" name="HMS Teal">
  <a:themeElements>
    <a:clrScheme name="HMS Teal">
      <a:dk1>
        <a:srgbClr val="1D2B33"/>
      </a:dk1>
      <a:lt1>
        <a:srgbClr val="FFFFFF"/>
      </a:lt1>
      <a:dk2>
        <a:srgbClr val="0B4F5C"/>
      </a:dk2>
      <a:lt2>
        <a:srgbClr val="EEF5F6"/>
      </a:lt2>
      <a:accent1>
        <a:srgbClr val="0E7C86"/>
      </a:accent1>
      <a:accent2>
        <a:srgbClr val="2EC4B6"/>
      </a:accent2>
      <a:accent3>
        <a:srgbClr val="E76F51"/>
      </a:accent3>
      <a:accent4>
        <a:srgbClr val="2E9E5B"/>
      </a:accent4>
      <a:accent5>
        <a:srgbClr val="F4A261"/>
      </a:accent5>
      <a:accent6>
        <a:srgbClr val="5C6F7A"/>
      </a:accent6>
      <a:hlink>
        <a:srgbClr val="0E7C86"/>
      </a:hlink>
      <a:folHlink>
        <a:srgbClr val="0B4F5C"/>
      </a:folHlink>
    </a:clrScheme>
    <a:fontScheme name="HM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 - Software Testing using Selenium WebDriver</dc:title>
  <dc:subject>PptxGenJS Presentation</dc:subject>
  <dc:creator>Arun C, Sai Chandan K S</dc:creator>
  <cp:lastModifiedBy>Arun C, Sai Chandan K S</cp:lastModifiedBy>
  <cp:revision>1</cp:revision>
  <dcterms:created xsi:type="dcterms:W3CDTF">2026-10-04T13:48:52Z</dcterms:created>
  <dcterms:modified xsi:type="dcterms:W3CDTF">2026-10-04T13:48:52Z</dcterms:modified>
</cp:coreProperties>
</file>